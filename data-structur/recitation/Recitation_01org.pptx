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485" r:id="rId3"/>
    <p:sldId id="488" r:id="rId4"/>
    <p:sldId id="486" r:id="rId5"/>
    <p:sldId id="477" r:id="rId6"/>
    <p:sldId id="479" r:id="rId7"/>
    <p:sldId id="482" r:id="rId8"/>
    <p:sldId id="483" r:id="rId9"/>
    <p:sldId id="500" r:id="rId10"/>
    <p:sldId id="495" r:id="rId11"/>
    <p:sldId id="501" r:id="rId12"/>
    <p:sldId id="489" r:id="rId13"/>
    <p:sldId id="490" r:id="rId14"/>
    <p:sldId id="502" r:id="rId15"/>
    <p:sldId id="491" r:id="rId16"/>
    <p:sldId id="503" r:id="rId17"/>
    <p:sldId id="492" r:id="rId18"/>
    <p:sldId id="493" r:id="rId19"/>
    <p:sldId id="504" r:id="rId20"/>
    <p:sldId id="494" r:id="rId21"/>
    <p:sldId id="496" r:id="rId22"/>
    <p:sldId id="505" r:id="rId23"/>
    <p:sldId id="506" r:id="rId24"/>
    <p:sldId id="507" r:id="rId25"/>
    <p:sldId id="439" r:id="rId26"/>
    <p:sldId id="497" r:id="rId27"/>
    <p:sldId id="508" r:id="rId28"/>
    <p:sldId id="447" r:id="rId29"/>
    <p:sldId id="509" r:id="rId30"/>
    <p:sldId id="441" r:id="rId31"/>
    <p:sldId id="498" r:id="rId32"/>
    <p:sldId id="499" r:id="rId33"/>
    <p:sldId id="510" r:id="rId34"/>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806" autoAdjust="0"/>
    <p:restoredTop sz="94660"/>
  </p:normalViewPr>
  <p:slideViewPr>
    <p:cSldViewPr snapToGrid="0">
      <p:cViewPr varScale="1">
        <p:scale>
          <a:sx n="127" d="100"/>
          <a:sy n="127" d="100"/>
        </p:scale>
        <p:origin x="103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mon Aviram" userId="c45d43c50d42fff4" providerId="LiveId" clId="{66B005D2-3701-40F3-AD0C-1B4E13D5BFBB}"/>
    <pc:docChg chg="undo custSel modSld">
      <pc:chgData name="Shimon Aviram" userId="c45d43c50d42fff4" providerId="LiveId" clId="{66B005D2-3701-40F3-AD0C-1B4E13D5BFBB}" dt="2022-03-02T17:51:54.691" v="25" actId="20577"/>
      <pc:docMkLst>
        <pc:docMk/>
      </pc:docMkLst>
      <pc:sldChg chg="modSp mod">
        <pc:chgData name="Shimon Aviram" userId="c45d43c50d42fff4" providerId="LiveId" clId="{66B005D2-3701-40F3-AD0C-1B4E13D5BFBB}" dt="2022-03-02T17:51:54.691" v="25" actId="20577"/>
        <pc:sldMkLst>
          <pc:docMk/>
          <pc:sldMk cId="422447886" sldId="485"/>
        </pc:sldMkLst>
        <pc:spChg chg="mod">
          <ac:chgData name="Shimon Aviram" userId="c45d43c50d42fff4" providerId="LiveId" clId="{66B005D2-3701-40F3-AD0C-1B4E13D5BFBB}" dt="2022-03-02T17:51:54.691" v="25" actId="20577"/>
          <ac:spMkLst>
            <pc:docMk/>
            <pc:sldMk cId="422447886" sldId="485"/>
            <ac:spMk id="10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7CE331-FB99-4862-B968-6AB7455FC50B}" type="datetimeFigureOut">
              <a:rPr lang="en-IL" smtClean="0"/>
              <a:t>11/03/2026</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1B7666-1DCC-409E-B9AB-67024B746E23}" type="slidenum">
              <a:rPr lang="en-IL" smtClean="0"/>
              <a:t>‹#›</a:t>
            </a:fld>
            <a:endParaRPr lang="en-IL"/>
          </a:p>
        </p:txBody>
      </p:sp>
    </p:spTree>
    <p:extLst>
      <p:ext uri="{BB962C8B-B14F-4D97-AF65-F5344CB8AC3E}">
        <p14:creationId xmlns:p14="http://schemas.microsoft.com/office/powerpoint/2010/main" val="618299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sldNum" idx="12"/>
          </p:nvPr>
        </p:nvSpPr>
        <p:spPr>
          <a:xfrm>
            <a:off x="3851275" y="9429750"/>
            <a:ext cx="2946400" cy="496888"/>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2</a:t>
            </a:fld>
            <a:endParaRPr sz="1200" b="0" i="0" u="none" strike="noStrike" cap="none">
              <a:solidFill>
                <a:schemeClr val="dk1"/>
              </a:solidFill>
              <a:latin typeface="Tahoma"/>
              <a:ea typeface="Tahoma"/>
              <a:cs typeface="Tahoma"/>
              <a:sym typeface="Tahoma"/>
            </a:endParaRPr>
          </a:p>
        </p:txBody>
      </p:sp>
      <p:sp>
        <p:nvSpPr>
          <p:cNvPr id="98" name="Google Shape;98;p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9" name="Google Shape;99;p2:notes"/>
          <p:cNvSpPr txBox="1">
            <a:spLocks noGrp="1"/>
          </p:cNvSpPr>
          <p:nvPr>
            <p:ph type="body" idx="1"/>
          </p:nvPr>
        </p:nvSpPr>
        <p:spPr>
          <a:xfrm>
            <a:off x="906463" y="4714875"/>
            <a:ext cx="4984750"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228916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sldNum" idx="12"/>
          </p:nvPr>
        </p:nvSpPr>
        <p:spPr>
          <a:xfrm>
            <a:off x="3851275" y="9429750"/>
            <a:ext cx="2946400" cy="496888"/>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3</a:t>
            </a:fld>
            <a:endParaRPr sz="1200" b="0" i="0" u="none" strike="noStrike" cap="none">
              <a:solidFill>
                <a:schemeClr val="dk1"/>
              </a:solidFill>
              <a:latin typeface="Tahoma"/>
              <a:ea typeface="Tahoma"/>
              <a:cs typeface="Tahoma"/>
              <a:sym typeface="Tahoma"/>
            </a:endParaRPr>
          </a:p>
        </p:txBody>
      </p:sp>
      <p:sp>
        <p:nvSpPr>
          <p:cNvPr id="98" name="Google Shape;98;p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9" name="Google Shape;99;p2:notes"/>
          <p:cNvSpPr txBox="1">
            <a:spLocks noGrp="1"/>
          </p:cNvSpPr>
          <p:nvPr>
            <p:ph type="body" idx="1"/>
          </p:nvPr>
        </p:nvSpPr>
        <p:spPr>
          <a:xfrm>
            <a:off x="906463" y="4714875"/>
            <a:ext cx="4984750"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12574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sldNum" idx="12"/>
          </p:nvPr>
        </p:nvSpPr>
        <p:spPr>
          <a:xfrm>
            <a:off x="3851275" y="9429750"/>
            <a:ext cx="2946400" cy="496888"/>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4</a:t>
            </a:fld>
            <a:endParaRPr sz="1200" b="0" i="0" u="none" strike="noStrike" cap="none">
              <a:solidFill>
                <a:schemeClr val="dk1"/>
              </a:solidFill>
              <a:latin typeface="Tahoma"/>
              <a:ea typeface="Tahoma"/>
              <a:cs typeface="Tahoma"/>
              <a:sym typeface="Tahoma"/>
            </a:endParaRPr>
          </a:p>
        </p:txBody>
      </p:sp>
      <p:sp>
        <p:nvSpPr>
          <p:cNvPr id="98" name="Google Shape;98;p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9" name="Google Shape;99;p2:notes"/>
          <p:cNvSpPr txBox="1">
            <a:spLocks noGrp="1"/>
          </p:cNvSpPr>
          <p:nvPr>
            <p:ph type="body" idx="1"/>
          </p:nvPr>
        </p:nvSpPr>
        <p:spPr>
          <a:xfrm>
            <a:off x="906463" y="4714875"/>
            <a:ext cx="4984750"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20771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fld id="{A38C5136-4B40-4A33-969C-4905DDCB2C03}" type="slidenum">
              <a:rPr lang="he-IL" altLang="en-US" smtClean="0">
                <a:latin typeface="Tahoma" panose="020B0604030504040204" pitchFamily="34" charset="0"/>
              </a:rPr>
              <a:pPr/>
              <a:t>5</a:t>
            </a:fld>
            <a:endParaRPr lang="en-US" altLang="en-US">
              <a:latin typeface="Tahoma" panose="020B0604030504040204" pitchFamily="34" charset="0"/>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aseline="0" dirty="0">
              <a:cs typeface="Arial" panose="020B0604020202020204" pitchFamily="34" charset="0"/>
            </a:endParaRPr>
          </a:p>
        </p:txBody>
      </p:sp>
    </p:spTree>
    <p:extLst>
      <p:ext uri="{BB962C8B-B14F-4D97-AF65-F5344CB8AC3E}">
        <p14:creationId xmlns:p14="http://schemas.microsoft.com/office/powerpoint/2010/main" val="2740782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fld id="{E9F60F10-21FB-41D8-B223-85E322F40BC0}" type="slidenum">
              <a:rPr lang="he-IL" altLang="en-US" smtClean="0">
                <a:latin typeface="Tahoma" panose="020B0604030504040204" pitchFamily="34" charset="0"/>
              </a:rPr>
              <a:pPr/>
              <a:t>6</a:t>
            </a:fld>
            <a:endParaRPr lang="en-US" altLang="en-US">
              <a:latin typeface="Tahoma" panose="020B0604030504040204" pitchFamily="34"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cs typeface="Arial" panose="020B0604020202020204" pitchFamily="34" charset="0"/>
            </a:endParaRPr>
          </a:p>
        </p:txBody>
      </p:sp>
    </p:spTree>
    <p:extLst>
      <p:ext uri="{BB962C8B-B14F-4D97-AF65-F5344CB8AC3E}">
        <p14:creationId xmlns:p14="http://schemas.microsoft.com/office/powerpoint/2010/main" val="6428529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fld id="{704F289A-A0BE-48EB-B079-8941C7E26E17}" type="slidenum">
              <a:rPr lang="he-IL" altLang="en-US" smtClean="0">
                <a:latin typeface="Tahoma" panose="020B0604030504040204" pitchFamily="34" charset="0"/>
              </a:rPr>
              <a:pPr/>
              <a:t>7</a:t>
            </a:fld>
            <a:endParaRPr lang="en-US" altLang="en-US">
              <a:latin typeface="Tahoma" panose="020B0604030504040204" pitchFamily="34" charset="0"/>
            </a:endParaRPr>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cs typeface="Arial" panose="020B0604020202020204" pitchFamily="34" charset="0"/>
            </a:endParaRPr>
          </a:p>
        </p:txBody>
      </p:sp>
    </p:spTree>
    <p:extLst>
      <p:ext uri="{BB962C8B-B14F-4D97-AF65-F5344CB8AC3E}">
        <p14:creationId xmlns:p14="http://schemas.microsoft.com/office/powerpoint/2010/main" val="3748358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fld id="{DC46E2CD-E4E2-438D-9218-FFD2A9AD9E43}" type="slidenum">
              <a:rPr lang="he-IL" altLang="en-US" smtClean="0">
                <a:latin typeface="Tahoma" panose="020B0604030504040204" pitchFamily="34" charset="0"/>
              </a:rPr>
              <a:pPr/>
              <a:t>8</a:t>
            </a:fld>
            <a:endParaRPr lang="en-US" altLang="en-US">
              <a:latin typeface="Tahoma" panose="020B0604030504040204" pitchFamily="34"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cs typeface="Arial" panose="020B0604020202020204" pitchFamily="34" charset="0"/>
            </a:endParaRPr>
          </a:p>
        </p:txBody>
      </p:sp>
    </p:spTree>
    <p:extLst>
      <p:ext uri="{BB962C8B-B14F-4D97-AF65-F5344CB8AC3E}">
        <p14:creationId xmlns:p14="http://schemas.microsoft.com/office/powerpoint/2010/main" val="9891296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sldNum" idx="12"/>
          </p:nvPr>
        </p:nvSpPr>
        <p:spPr>
          <a:xfrm>
            <a:off x="3851275" y="9429750"/>
            <a:ext cx="2946400" cy="496888"/>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9</a:t>
            </a:fld>
            <a:endParaRPr sz="1200" b="0" i="0" u="none" strike="noStrike" cap="none">
              <a:solidFill>
                <a:schemeClr val="dk1"/>
              </a:solidFill>
              <a:latin typeface="Tahoma"/>
              <a:ea typeface="Tahoma"/>
              <a:cs typeface="Tahoma"/>
              <a:sym typeface="Tahoma"/>
            </a:endParaRPr>
          </a:p>
        </p:txBody>
      </p:sp>
      <p:sp>
        <p:nvSpPr>
          <p:cNvPr id="98" name="Google Shape;98;p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9" name="Google Shape;99;p2:notes"/>
          <p:cNvSpPr txBox="1">
            <a:spLocks noGrp="1"/>
          </p:cNvSpPr>
          <p:nvPr>
            <p:ph type="body" idx="1"/>
          </p:nvPr>
        </p:nvSpPr>
        <p:spPr>
          <a:xfrm>
            <a:off x="906463" y="4714875"/>
            <a:ext cx="4984750"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950898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sldNum" idx="12"/>
          </p:nvPr>
        </p:nvSpPr>
        <p:spPr>
          <a:xfrm>
            <a:off x="3851275" y="9429750"/>
            <a:ext cx="2946400" cy="496888"/>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11</a:t>
            </a:fld>
            <a:endParaRPr sz="1200" b="0" i="0" u="none" strike="noStrike" cap="none">
              <a:solidFill>
                <a:schemeClr val="dk1"/>
              </a:solidFill>
              <a:latin typeface="Tahoma"/>
              <a:ea typeface="Tahoma"/>
              <a:cs typeface="Tahoma"/>
              <a:sym typeface="Tahoma"/>
            </a:endParaRPr>
          </a:p>
        </p:txBody>
      </p:sp>
      <p:sp>
        <p:nvSpPr>
          <p:cNvPr id="98" name="Google Shape;98;p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9" name="Google Shape;99;p2:notes"/>
          <p:cNvSpPr txBox="1">
            <a:spLocks noGrp="1"/>
          </p:cNvSpPr>
          <p:nvPr>
            <p:ph type="body" idx="1"/>
          </p:nvPr>
        </p:nvSpPr>
        <p:spPr>
          <a:xfrm>
            <a:off x="906463" y="4714875"/>
            <a:ext cx="4984750" cy="44672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592800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fld id="{09DF7D2B-BCF0-4EA8-A718-3A6892B559F0}" type="slidenum">
              <a:rPr lang="he-IL" altLang="en-US" smtClean="0">
                <a:latin typeface="Tahoma" panose="020B0604030504040204" pitchFamily="34" charset="0"/>
              </a:rPr>
              <a:pPr/>
              <a:t>14</a:t>
            </a:fld>
            <a:endParaRPr lang="en-US" altLang="en-US">
              <a:latin typeface="Tahoma" panose="020B0604030504040204" pitchFamily="34" charset="0"/>
            </a:endParaRPr>
          </a:p>
        </p:txBody>
      </p:sp>
      <p:sp>
        <p:nvSpPr>
          <p:cNvPr id="181251" name="Rectangle 2"/>
          <p:cNvSpPr>
            <a:spLocks noGrp="1" noRot="1" noChangeAspect="1" noChangeArrowheads="1" noTextEdit="1"/>
          </p:cNvSpPr>
          <p:nvPr>
            <p:ph type="sldImg"/>
          </p:nvPr>
        </p:nvSpPr>
        <p:spPr>
          <a:ln/>
        </p:spPr>
      </p:sp>
      <p:sp>
        <p:nvSpPr>
          <p:cNvPr id="181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cs typeface="Arial" panose="020B0604020202020204" pitchFamily="34" charset="0"/>
              </a:rPr>
              <a:t>Best to demonstrate on console</a:t>
            </a:r>
          </a:p>
          <a:p>
            <a:pPr eaLnBrk="1" hangingPunct="1"/>
            <a:r>
              <a:rPr lang="en-US" altLang="en-US" dirty="0">
                <a:cs typeface="Arial" panose="020B0604020202020204" pitchFamily="34" charset="0"/>
              </a:rPr>
              <a:t>Mention combination of absolute and relative paths</a:t>
            </a:r>
          </a:p>
        </p:txBody>
      </p:sp>
    </p:spTree>
    <p:extLst>
      <p:ext uri="{BB962C8B-B14F-4D97-AF65-F5344CB8AC3E}">
        <p14:creationId xmlns:p14="http://schemas.microsoft.com/office/powerpoint/2010/main" val="13688017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fld id="{78AFD41B-636E-40AB-88F2-819B9862B301}" type="slidenum">
              <a:rPr lang="he-IL" altLang="en-US" smtClean="0">
                <a:latin typeface="Tahoma" panose="020B0604030504040204" pitchFamily="34" charset="0"/>
              </a:rPr>
              <a:pPr/>
              <a:t>16</a:t>
            </a:fld>
            <a:endParaRPr lang="en-US" altLang="en-US">
              <a:latin typeface="Tahoma" panose="020B0604030504040204" pitchFamily="34" charset="0"/>
            </a:endParaRPr>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cs typeface="Arial" panose="020B0604020202020204" pitchFamily="34" charset="0"/>
              </a:rPr>
              <a:t>Go over the two modes and d</a:t>
            </a:r>
            <a:r>
              <a:rPr lang="en-US" altLang="en-US" baseline="0" dirty="0">
                <a:cs typeface="Arial" panose="020B0604020202020204" pitchFamily="34" charset="0"/>
              </a:rPr>
              <a:t>emonstrate on console.</a:t>
            </a:r>
          </a:p>
          <a:p>
            <a:pPr eaLnBrk="1" hangingPunct="1"/>
            <a:r>
              <a:rPr lang="en-US" altLang="en-US" baseline="0" dirty="0">
                <a:cs typeface="Arial" panose="020B0604020202020204" pitchFamily="34" charset="0"/>
              </a:rPr>
              <a:t>cp file1 file2 </a:t>
            </a:r>
            <a:r>
              <a:rPr lang="en-US" altLang="en-US" baseline="0" dirty="0" err="1">
                <a:cs typeface="Arial" panose="020B0604020202020204" pitchFamily="34" charset="0"/>
              </a:rPr>
              <a:t>newDir</a:t>
            </a:r>
            <a:r>
              <a:rPr lang="en-US" altLang="en-US" baseline="0" dirty="0">
                <a:cs typeface="Arial" panose="020B0604020202020204" pitchFamily="34" charset="0"/>
              </a:rPr>
              <a:t>    # mode 1 (</a:t>
            </a:r>
            <a:r>
              <a:rPr lang="en-US" altLang="en-US" baseline="0" dirty="0" err="1">
                <a:cs typeface="Arial" panose="020B0604020202020204" pitchFamily="34" charset="0"/>
              </a:rPr>
              <a:t>dest_path</a:t>
            </a:r>
            <a:r>
              <a:rPr lang="en-US" altLang="en-US" baseline="0" dirty="0">
                <a:cs typeface="Arial" panose="020B0604020202020204" pitchFamily="34" charset="0"/>
              </a:rPr>
              <a:t> is a directory)</a:t>
            </a:r>
          </a:p>
          <a:p>
            <a:pPr eaLnBrk="1" hangingPunct="1"/>
            <a:r>
              <a:rPr lang="en-US" altLang="en-US" baseline="0" dirty="0">
                <a:cs typeface="Arial" panose="020B0604020202020204" pitchFamily="34" charset="0"/>
              </a:rPr>
              <a:t>cp file1 file3                # mode 2 (</a:t>
            </a:r>
            <a:r>
              <a:rPr lang="en-US" altLang="en-US" baseline="0" dirty="0" err="1">
                <a:cs typeface="Arial" panose="020B0604020202020204" pitchFamily="34" charset="0"/>
              </a:rPr>
              <a:t>dest_path</a:t>
            </a:r>
            <a:r>
              <a:rPr lang="en-US" altLang="en-US" baseline="0" dirty="0">
                <a:cs typeface="Arial" panose="020B0604020202020204" pitchFamily="34" charset="0"/>
              </a:rPr>
              <a:t> does not exist)</a:t>
            </a:r>
          </a:p>
          <a:p>
            <a:pPr eaLnBrk="1" hangingPunct="1"/>
            <a:r>
              <a:rPr lang="en-US" altLang="en-US" baseline="0" dirty="0">
                <a:cs typeface="Arial" panose="020B0604020202020204" pitchFamily="34" charset="0"/>
              </a:rPr>
              <a:t>cp file1 newDir3/file3 # doesn’t work because </a:t>
            </a:r>
            <a:r>
              <a:rPr lang="en-US" altLang="en-US" baseline="0" dirty="0" err="1">
                <a:cs typeface="Arial" panose="020B0604020202020204" pitchFamily="34" charset="0"/>
              </a:rPr>
              <a:t>newDir</a:t>
            </a:r>
            <a:r>
              <a:rPr lang="en-US" altLang="en-US" baseline="0" dirty="0">
                <a:cs typeface="Arial" panose="020B0604020202020204" pitchFamily="34" charset="0"/>
              </a:rPr>
              <a:t> is not an existing directory (parent </a:t>
            </a:r>
            <a:r>
              <a:rPr lang="en-US" altLang="en-US" baseline="0" dirty="0" err="1">
                <a:cs typeface="Arial" panose="020B0604020202020204" pitchFamily="34" charset="0"/>
              </a:rPr>
              <a:t>dir</a:t>
            </a:r>
            <a:r>
              <a:rPr lang="en-US" altLang="en-US" baseline="0" dirty="0">
                <a:cs typeface="Arial" panose="020B0604020202020204" pitchFamily="34" charset="0"/>
              </a:rPr>
              <a:t>)</a:t>
            </a:r>
          </a:p>
          <a:p>
            <a:pPr eaLnBrk="1" hangingPunct="1"/>
            <a:r>
              <a:rPr lang="en-US" altLang="en-US" baseline="0" dirty="0">
                <a:cs typeface="Arial" panose="020B0604020202020204" pitchFamily="34" charset="0"/>
              </a:rPr>
              <a:t>cp file1 newDir3         # mode 2 (will create file named newDir3)</a:t>
            </a:r>
          </a:p>
          <a:p>
            <a:pPr eaLnBrk="1" hangingPunct="1"/>
            <a:endParaRPr lang="en-US" altLang="en-US" baseline="0" dirty="0">
              <a:cs typeface="Arial" panose="020B0604020202020204" pitchFamily="34" charset="0"/>
            </a:endParaRPr>
          </a:p>
          <a:p>
            <a:pPr eaLnBrk="1" hangingPunct="1"/>
            <a:r>
              <a:rPr lang="en-US" altLang="en-US" baseline="0" dirty="0">
                <a:cs typeface="Arial" panose="020B0604020202020204" pitchFamily="34" charset="0"/>
              </a:rPr>
              <a:t>Can also explain “algorithm”:</a:t>
            </a:r>
          </a:p>
          <a:p>
            <a:pPr marL="228600" indent="-228600" eaLnBrk="1" hangingPunct="1">
              <a:buAutoNum type="arabicPeriod"/>
            </a:pPr>
            <a:r>
              <a:rPr lang="en-US" altLang="en-US" baseline="0" dirty="0">
                <a:cs typeface="Arial" panose="020B0604020202020204" pitchFamily="34" charset="0"/>
              </a:rPr>
              <a:t>Determine </a:t>
            </a:r>
            <a:r>
              <a:rPr lang="en-US" altLang="en-US" baseline="0" dirty="0" err="1">
                <a:cs typeface="Arial" panose="020B0604020202020204" pitchFamily="34" charset="0"/>
              </a:rPr>
              <a:t>parent_path</a:t>
            </a:r>
            <a:r>
              <a:rPr lang="en-US" altLang="en-US" baseline="0" dirty="0">
                <a:cs typeface="Arial" panose="020B0604020202020204" pitchFamily="34" charset="0"/>
              </a:rPr>
              <a:t> of </a:t>
            </a:r>
            <a:r>
              <a:rPr lang="en-US" altLang="en-US" baseline="0" dirty="0" err="1">
                <a:cs typeface="Arial" panose="020B0604020202020204" pitchFamily="34" charset="0"/>
              </a:rPr>
              <a:t>dest_path</a:t>
            </a:r>
            <a:r>
              <a:rPr lang="en-US" altLang="en-US" baseline="0" dirty="0">
                <a:cs typeface="Arial" panose="020B0604020202020204" pitchFamily="34" charset="0"/>
              </a:rPr>
              <a:t> (remove the string after last slash in </a:t>
            </a:r>
            <a:r>
              <a:rPr lang="en-US" altLang="en-US" baseline="0" dirty="0" err="1">
                <a:cs typeface="Arial" panose="020B0604020202020204" pitchFamily="34" charset="0"/>
              </a:rPr>
              <a:t>dest_path</a:t>
            </a:r>
            <a:r>
              <a:rPr lang="en-US" altLang="en-US" baseline="0" dirty="0">
                <a:cs typeface="Arial" panose="020B0604020202020204" pitchFamily="34" charset="0"/>
              </a:rPr>
              <a:t>)</a:t>
            </a:r>
          </a:p>
          <a:p>
            <a:pPr marL="228600" indent="-228600" eaLnBrk="1" hangingPunct="1">
              <a:buAutoNum type="arabicPeriod"/>
            </a:pPr>
            <a:r>
              <a:rPr lang="en-US" altLang="en-US" baseline="0" dirty="0">
                <a:cs typeface="Arial" panose="020B0604020202020204" pitchFamily="34" charset="0"/>
              </a:rPr>
              <a:t>If parent path does not exist, then operation fails</a:t>
            </a:r>
          </a:p>
          <a:p>
            <a:pPr marL="228600" indent="-228600" eaLnBrk="1" hangingPunct="1">
              <a:buAutoNum type="arabicPeriod"/>
            </a:pPr>
            <a:r>
              <a:rPr lang="en-US" altLang="en-US" baseline="0" dirty="0">
                <a:cs typeface="Arial" panose="020B0604020202020204" pitchFamily="34" charset="0"/>
              </a:rPr>
              <a:t>If </a:t>
            </a:r>
            <a:r>
              <a:rPr lang="en-US" altLang="en-US" baseline="0" dirty="0" err="1">
                <a:cs typeface="Arial" panose="020B0604020202020204" pitchFamily="34" charset="0"/>
              </a:rPr>
              <a:t>dest_path</a:t>
            </a:r>
            <a:r>
              <a:rPr lang="en-US" altLang="en-US" baseline="0" dirty="0">
                <a:cs typeface="Arial" panose="020B0604020202020204" pitchFamily="34" charset="0"/>
              </a:rPr>
              <a:t> exists and is a directory (not file!), then copy/move all items in </a:t>
            </a:r>
            <a:r>
              <a:rPr lang="en-US" altLang="en-US" baseline="0" dirty="0" err="1">
                <a:cs typeface="Arial" panose="020B0604020202020204" pitchFamily="34" charset="0"/>
              </a:rPr>
              <a:t>source_path</a:t>
            </a:r>
            <a:r>
              <a:rPr lang="en-US" altLang="en-US" baseline="0" dirty="0">
                <a:cs typeface="Arial" panose="020B0604020202020204" pitchFamily="34" charset="0"/>
              </a:rPr>
              <a:t> into that directory with their original name</a:t>
            </a:r>
          </a:p>
          <a:p>
            <a:pPr marL="228600" indent="-228600" eaLnBrk="1" hangingPunct="1">
              <a:buAutoNum type="arabicPeriod"/>
            </a:pPr>
            <a:r>
              <a:rPr lang="en-US" altLang="en-US" baseline="0" dirty="0">
                <a:cs typeface="Arial" panose="020B0604020202020204" pitchFamily="34" charset="0"/>
              </a:rPr>
              <a:t>If </a:t>
            </a:r>
            <a:r>
              <a:rPr lang="en-US" altLang="en-US" baseline="0" dirty="0" err="1">
                <a:cs typeface="Arial" panose="020B0604020202020204" pitchFamily="34" charset="0"/>
              </a:rPr>
              <a:t>dest_path</a:t>
            </a:r>
            <a:r>
              <a:rPr lang="en-US" altLang="en-US" baseline="0" dirty="0">
                <a:cs typeface="Arial" panose="020B0604020202020204" pitchFamily="34" charset="0"/>
              </a:rPr>
              <a:t> does not exist and </a:t>
            </a:r>
            <a:r>
              <a:rPr lang="en-US" altLang="en-US" baseline="0" dirty="0" err="1">
                <a:cs typeface="Arial" panose="020B0604020202020204" pitchFamily="34" charset="0"/>
              </a:rPr>
              <a:t>source_path</a:t>
            </a:r>
            <a:r>
              <a:rPr lang="en-US" altLang="en-US" baseline="0" dirty="0">
                <a:cs typeface="Arial" panose="020B0604020202020204" pitchFamily="34" charset="0"/>
              </a:rPr>
              <a:t> is a single item, then copy it into parent </a:t>
            </a:r>
            <a:r>
              <a:rPr lang="en-US" altLang="en-US" baseline="0" dirty="0" err="1">
                <a:cs typeface="Arial" panose="020B0604020202020204" pitchFamily="34" charset="0"/>
              </a:rPr>
              <a:t>dir</a:t>
            </a:r>
            <a:r>
              <a:rPr lang="en-US" altLang="en-US" baseline="0" dirty="0">
                <a:cs typeface="Arial" panose="020B0604020202020204" pitchFamily="34" charset="0"/>
              </a:rPr>
              <a:t> with </a:t>
            </a:r>
            <a:r>
              <a:rPr lang="en-US" altLang="en-US" baseline="0" dirty="0" err="1">
                <a:cs typeface="Arial" panose="020B0604020202020204" pitchFamily="34" charset="0"/>
              </a:rPr>
              <a:t>dest_path’s</a:t>
            </a:r>
            <a:r>
              <a:rPr lang="en-US" altLang="en-US" baseline="0" dirty="0">
                <a:cs typeface="Arial" panose="020B0604020202020204" pitchFamily="34" charset="0"/>
              </a:rPr>
              <a:t> name</a:t>
            </a:r>
          </a:p>
          <a:p>
            <a:pPr marL="228600" indent="-228600" eaLnBrk="1" hangingPunct="1">
              <a:buAutoNum type="arabicPeriod"/>
            </a:pPr>
            <a:r>
              <a:rPr lang="en-US" altLang="en-US" baseline="0" dirty="0">
                <a:cs typeface="Arial" panose="020B0604020202020204" pitchFamily="34" charset="0"/>
              </a:rPr>
              <a:t>If </a:t>
            </a:r>
            <a:r>
              <a:rPr lang="en-US" altLang="en-US" baseline="0" dirty="0" err="1">
                <a:cs typeface="Arial" panose="020B0604020202020204" pitchFamily="34" charset="0"/>
              </a:rPr>
              <a:t>dest_path</a:t>
            </a:r>
            <a:r>
              <a:rPr lang="en-US" altLang="en-US" baseline="0" dirty="0">
                <a:cs typeface="Arial" panose="020B0604020202020204" pitchFamily="34" charset="0"/>
              </a:rPr>
              <a:t> does not exist and </a:t>
            </a:r>
            <a:r>
              <a:rPr lang="en-US" altLang="en-US" baseline="0" dirty="0" err="1">
                <a:cs typeface="Arial" panose="020B0604020202020204" pitchFamily="34" charset="0"/>
              </a:rPr>
              <a:t>source_path</a:t>
            </a:r>
            <a:r>
              <a:rPr lang="en-US" altLang="en-US" baseline="0" dirty="0">
                <a:cs typeface="Arial" panose="020B0604020202020204" pitchFamily="34" charset="0"/>
              </a:rPr>
              <a:t> contains multiple items, then operation fails</a:t>
            </a:r>
          </a:p>
          <a:p>
            <a:pPr marL="228600" indent="-228600" eaLnBrk="1" hangingPunct="1">
              <a:buAutoNum type="arabicPeriod"/>
            </a:pPr>
            <a:r>
              <a:rPr lang="en-US" altLang="en-US" baseline="0" dirty="0">
                <a:cs typeface="Arial" panose="020B0604020202020204" pitchFamily="34" charset="0"/>
              </a:rPr>
              <a:t>Subtle point: If </a:t>
            </a:r>
            <a:r>
              <a:rPr lang="en-US" altLang="en-US" baseline="0" dirty="0" err="1">
                <a:cs typeface="Arial" panose="020B0604020202020204" pitchFamily="34" charset="0"/>
              </a:rPr>
              <a:t>dest_path</a:t>
            </a:r>
            <a:r>
              <a:rPr lang="en-US" altLang="en-US" baseline="0" dirty="0">
                <a:cs typeface="Arial" panose="020B0604020202020204" pitchFamily="34" charset="0"/>
              </a:rPr>
              <a:t> exists and is a file (not directory), then operation is successful only if </a:t>
            </a:r>
            <a:r>
              <a:rPr lang="en-US" altLang="en-US" baseline="0" dirty="0" err="1">
                <a:cs typeface="Arial" panose="020B0604020202020204" pitchFamily="34" charset="0"/>
              </a:rPr>
              <a:t>source_path</a:t>
            </a:r>
            <a:r>
              <a:rPr lang="en-US" altLang="en-US" baseline="0" dirty="0">
                <a:cs typeface="Arial" panose="020B0604020202020204" pitchFamily="34" charset="0"/>
              </a:rPr>
              <a:t> is a single file (not directory).</a:t>
            </a:r>
            <a:endParaRPr lang="en-US" altLang="en-US" dirty="0">
              <a:cs typeface="Arial" panose="020B0604020202020204" pitchFamily="34" charset="0"/>
            </a:endParaRPr>
          </a:p>
        </p:txBody>
      </p:sp>
    </p:spTree>
    <p:extLst>
      <p:ext uri="{BB962C8B-B14F-4D97-AF65-F5344CB8AC3E}">
        <p14:creationId xmlns:p14="http://schemas.microsoft.com/office/powerpoint/2010/main" val="18855918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fld id="{09DF7D2B-BCF0-4EA8-A718-3A6892B559F0}" type="slidenum">
              <a:rPr lang="he-IL" altLang="en-US" smtClean="0">
                <a:latin typeface="Tahoma" panose="020B0604030504040204" pitchFamily="34" charset="0"/>
              </a:rPr>
              <a:pPr/>
              <a:t>19</a:t>
            </a:fld>
            <a:endParaRPr lang="en-US" altLang="en-US">
              <a:latin typeface="Tahoma" panose="020B0604030504040204" pitchFamily="34" charset="0"/>
            </a:endParaRPr>
          </a:p>
        </p:txBody>
      </p:sp>
      <p:sp>
        <p:nvSpPr>
          <p:cNvPr id="181251" name="Rectangle 2"/>
          <p:cNvSpPr>
            <a:spLocks noGrp="1" noRot="1" noChangeAspect="1" noChangeArrowheads="1" noTextEdit="1"/>
          </p:cNvSpPr>
          <p:nvPr>
            <p:ph type="sldImg"/>
          </p:nvPr>
        </p:nvSpPr>
        <p:spPr>
          <a:ln/>
        </p:spPr>
      </p:sp>
      <p:sp>
        <p:nvSpPr>
          <p:cNvPr id="181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cs typeface="Arial" panose="020B0604020202020204" pitchFamily="34" charset="0"/>
              </a:rPr>
              <a:t>Best to demonstrate on console</a:t>
            </a:r>
          </a:p>
          <a:p>
            <a:pPr eaLnBrk="1" hangingPunct="1"/>
            <a:r>
              <a:rPr lang="en-US" altLang="en-US" dirty="0">
                <a:cs typeface="Arial" panose="020B0604020202020204" pitchFamily="34" charset="0"/>
              </a:rPr>
              <a:t>Mention combination of absolute and relative paths</a:t>
            </a:r>
          </a:p>
        </p:txBody>
      </p:sp>
    </p:spTree>
    <p:extLst>
      <p:ext uri="{BB962C8B-B14F-4D97-AF65-F5344CB8AC3E}">
        <p14:creationId xmlns:p14="http://schemas.microsoft.com/office/powerpoint/2010/main" val="35182427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fld id="{39B608FB-1D00-48B7-AC46-E9A1A889F555}" type="slidenum">
              <a:rPr lang="he-IL" altLang="en-US" smtClean="0">
                <a:latin typeface="Tahoma" panose="020B0604030504040204" pitchFamily="34" charset="0"/>
              </a:rPr>
              <a:pPr/>
              <a:t>22</a:t>
            </a:fld>
            <a:endParaRPr lang="en-US" altLang="en-US">
              <a:latin typeface="Tahoma" panose="020B0604030504040204" pitchFamily="34" charset="0"/>
            </a:endParaRP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cs typeface="Arial" panose="020B0604020202020204" pitchFamily="34" charset="0"/>
              </a:rPr>
              <a:t>2</a:t>
            </a:r>
            <a:r>
              <a:rPr lang="en-US" altLang="en-US" baseline="30000" dirty="0">
                <a:cs typeface="Arial" panose="020B0604020202020204" pitchFamily="34" charset="0"/>
              </a:rPr>
              <a:t>nd</a:t>
            </a:r>
            <a:r>
              <a:rPr lang="en-US" altLang="en-US" dirty="0">
                <a:cs typeface="Arial" panose="020B0604020202020204" pitchFamily="34" charset="0"/>
              </a:rPr>
              <a:t> column (after permissions) is the number of “links”. The meaning varies with system and it’s not important. They may ignore this column.</a:t>
            </a:r>
          </a:p>
          <a:p>
            <a:pPr eaLnBrk="1" hangingPunct="1"/>
            <a:r>
              <a:rPr lang="en-US" altLang="en-US" dirty="0">
                <a:cs typeface="Arial" panose="020B0604020202020204" pitchFamily="34" charset="0"/>
              </a:rPr>
              <a:t>Date also varies. If it is this year (2019), then format will be month-day-time, and if it is from a previous year it will be month-day-year.</a:t>
            </a:r>
          </a:p>
          <a:p>
            <a:pPr eaLnBrk="1" hangingPunct="1"/>
            <a:r>
              <a:rPr lang="en-US" altLang="en-US" dirty="0">
                <a:cs typeface="Arial" panose="020B0604020202020204" pitchFamily="34" charset="0"/>
              </a:rPr>
              <a:t>You can demonstrate on console with old directories – Sara: ls –l ../../spring2018/classes/class04</a:t>
            </a:r>
          </a:p>
        </p:txBody>
      </p:sp>
    </p:spTree>
    <p:extLst>
      <p:ext uri="{BB962C8B-B14F-4D97-AF65-F5344CB8AC3E}">
        <p14:creationId xmlns:p14="http://schemas.microsoft.com/office/powerpoint/2010/main" val="33490636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fld id="{CDC9BF71-196D-4360-ADA6-3F6097482862}" type="slidenum">
              <a:rPr lang="he-IL" altLang="en-US" smtClean="0">
                <a:latin typeface="Tahoma" panose="020B0604030504040204" pitchFamily="34" charset="0"/>
              </a:rPr>
              <a:pPr/>
              <a:t>23</a:t>
            </a:fld>
            <a:endParaRPr lang="en-US" altLang="en-US">
              <a:latin typeface="Tahoma" panose="020B0604030504040204" pitchFamily="34" charset="0"/>
            </a:endParaRPr>
          </a:p>
        </p:txBody>
      </p:sp>
      <p:sp>
        <p:nvSpPr>
          <p:cNvPr id="168963" name="Rectangle 2"/>
          <p:cNvSpPr>
            <a:spLocks noGrp="1" noRot="1" noChangeAspect="1" noChangeArrowheads="1" noTextEdit="1"/>
          </p:cNvSpPr>
          <p:nvPr>
            <p:ph type="sldImg"/>
          </p:nvPr>
        </p:nvSpPr>
        <p:spPr>
          <a:ln/>
        </p:spPr>
      </p:sp>
      <p:sp>
        <p:nvSpPr>
          <p:cNvPr id="168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cs typeface="Arial" panose="020B0604020202020204" pitchFamily="34" charset="0"/>
              </a:rPr>
              <a:t>Dir permissions: </a:t>
            </a:r>
          </a:p>
          <a:p>
            <a:pPr eaLnBrk="1" hangingPunct="1"/>
            <a:r>
              <a:rPr lang="en-US" altLang="en-US" dirty="0">
                <a:cs typeface="Arial" panose="020B0604020202020204" pitchFamily="34" charset="0"/>
              </a:rPr>
              <a:t>Meaning of permissions for directories:</a:t>
            </a:r>
          </a:p>
          <a:p>
            <a:pPr eaLnBrk="1" hangingPunct="1"/>
            <a:r>
              <a:rPr lang="en-US" altLang="en-US" dirty="0">
                <a:cs typeface="Arial" panose="020B0604020202020204" pitchFamily="34" charset="0"/>
              </a:rPr>
              <a:t>r - listing contents</a:t>
            </a:r>
          </a:p>
          <a:p>
            <a:pPr eaLnBrk="1" hangingPunct="1"/>
            <a:r>
              <a:rPr lang="en-US" altLang="en-US" dirty="0">
                <a:cs typeface="Arial" panose="020B0604020202020204" pitchFamily="34" charset="0"/>
              </a:rPr>
              <a:t>w - creating and removing files</a:t>
            </a:r>
          </a:p>
          <a:p>
            <a:pPr eaLnBrk="1" hangingPunct="1"/>
            <a:r>
              <a:rPr lang="en-US" altLang="en-US" dirty="0">
                <a:cs typeface="Arial" panose="020B0604020202020204" pitchFamily="34" charset="0"/>
              </a:rPr>
              <a:t>x - accessing contents; cd-</a:t>
            </a:r>
            <a:r>
              <a:rPr lang="en-US" altLang="en-US" dirty="0" err="1">
                <a:cs typeface="Arial" panose="020B0604020202020204" pitchFamily="34" charset="0"/>
              </a:rPr>
              <a:t>ing</a:t>
            </a:r>
            <a:r>
              <a:rPr lang="en-US" altLang="en-US" dirty="0">
                <a:cs typeface="Arial" panose="020B0604020202020204" pitchFamily="34" charset="0"/>
              </a:rPr>
              <a:t> into the directory and subdirectories</a:t>
            </a:r>
          </a:p>
          <a:p>
            <a:pPr eaLnBrk="1" hangingPunct="1"/>
            <a:endParaRPr lang="en-US" altLang="en-US" dirty="0">
              <a:cs typeface="Arial" panose="020B0604020202020204" pitchFamily="34" charset="0"/>
            </a:endParaRPr>
          </a:p>
        </p:txBody>
      </p:sp>
    </p:spTree>
    <p:extLst>
      <p:ext uri="{BB962C8B-B14F-4D97-AF65-F5344CB8AC3E}">
        <p14:creationId xmlns:p14="http://schemas.microsoft.com/office/powerpoint/2010/main" val="36294546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fld id="{39B608FB-1D00-48B7-AC46-E9A1A889F555}" type="slidenum">
              <a:rPr lang="he-IL" altLang="en-US" smtClean="0">
                <a:latin typeface="Tahoma" panose="020B0604030504040204" pitchFamily="34" charset="0"/>
              </a:rPr>
              <a:pPr/>
              <a:t>24</a:t>
            </a:fld>
            <a:endParaRPr lang="en-US" altLang="en-US">
              <a:latin typeface="Tahoma" panose="020B0604030504040204" pitchFamily="34" charset="0"/>
            </a:endParaRP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cs typeface="Arial" panose="020B0604020202020204" pitchFamily="34" charset="0"/>
              </a:rPr>
              <a:t>Go over a few examples here. #1, #5, #6</a:t>
            </a:r>
          </a:p>
          <a:p>
            <a:pPr eaLnBrk="1" hangingPunct="1"/>
            <a:endParaRPr lang="en-US" altLang="en-US" dirty="0">
              <a:cs typeface="Arial" panose="020B0604020202020204" pitchFamily="34" charset="0"/>
            </a:endParaRPr>
          </a:p>
        </p:txBody>
      </p:sp>
    </p:spTree>
    <p:extLst>
      <p:ext uri="{BB962C8B-B14F-4D97-AF65-F5344CB8AC3E}">
        <p14:creationId xmlns:p14="http://schemas.microsoft.com/office/powerpoint/2010/main" val="4723035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fld id="{1E082B76-7A90-49BD-8D66-D75916547C0F}" type="slidenum">
              <a:rPr lang="he-IL" altLang="en-US" smtClean="0">
                <a:latin typeface="Tahoma" panose="020B0604030504040204" pitchFamily="34" charset="0"/>
              </a:rPr>
              <a:pPr/>
              <a:t>25</a:t>
            </a:fld>
            <a:endParaRPr lang="en-US" altLang="en-US">
              <a:latin typeface="Tahoma" panose="020B0604030504040204" pitchFamily="34" charset="0"/>
            </a:endParaRPr>
          </a:p>
        </p:txBody>
      </p:sp>
      <p:sp>
        <p:nvSpPr>
          <p:cNvPr id="177155" name="Rectangle 2"/>
          <p:cNvSpPr>
            <a:spLocks noGrp="1" noRot="1" noChangeAspect="1" noChangeArrowheads="1" noTextEdit="1"/>
          </p:cNvSpPr>
          <p:nvPr>
            <p:ph type="sldImg"/>
          </p:nvPr>
        </p:nvSpPr>
        <p:spPr>
          <a:ln/>
        </p:spPr>
      </p:sp>
      <p:sp>
        <p:nvSpPr>
          <p:cNvPr id="177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cs typeface="Arial" panose="020B0604020202020204" pitchFamily="34" charset="0"/>
              </a:rPr>
              <a:t>Online: ~ 30 minutes before class ends. Give 5 minute break now.</a:t>
            </a:r>
            <a:endParaRPr lang="en-US" altLang="en-US" dirty="0">
              <a:cs typeface="Arial" panose="020B0604020202020204" pitchFamily="34" charset="0"/>
            </a:endParaRPr>
          </a:p>
        </p:txBody>
      </p:sp>
    </p:spTree>
    <p:extLst>
      <p:ext uri="{BB962C8B-B14F-4D97-AF65-F5344CB8AC3E}">
        <p14:creationId xmlns:p14="http://schemas.microsoft.com/office/powerpoint/2010/main" val="33686526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fld id="{09DF7D2B-BCF0-4EA8-A718-3A6892B559F0}" type="slidenum">
              <a:rPr lang="he-IL" altLang="en-US" smtClean="0">
                <a:latin typeface="Tahoma" panose="020B0604030504040204" pitchFamily="34" charset="0"/>
              </a:rPr>
              <a:pPr/>
              <a:t>28</a:t>
            </a:fld>
            <a:endParaRPr lang="en-US" altLang="en-US">
              <a:latin typeface="Tahoma" panose="020B0604030504040204" pitchFamily="34" charset="0"/>
            </a:endParaRPr>
          </a:p>
        </p:txBody>
      </p:sp>
      <p:sp>
        <p:nvSpPr>
          <p:cNvPr id="181251" name="Rectangle 2"/>
          <p:cNvSpPr>
            <a:spLocks noGrp="1" noRot="1" noChangeAspect="1" noChangeArrowheads="1" noTextEdit="1"/>
          </p:cNvSpPr>
          <p:nvPr>
            <p:ph type="sldImg"/>
          </p:nvPr>
        </p:nvSpPr>
        <p:spPr>
          <a:ln/>
        </p:spPr>
      </p:sp>
      <p:sp>
        <p:nvSpPr>
          <p:cNvPr id="181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cs typeface="Arial" panose="020B0604020202020204" pitchFamily="34" charset="0"/>
              </a:rPr>
              <a:t>New slide to better explain the idea of octal mode for setting permissions</a:t>
            </a:r>
            <a:endParaRPr lang="en-US" dirty="0"/>
          </a:p>
        </p:txBody>
      </p:sp>
    </p:spTree>
    <p:extLst>
      <p:ext uri="{BB962C8B-B14F-4D97-AF65-F5344CB8AC3E}">
        <p14:creationId xmlns:p14="http://schemas.microsoft.com/office/powerpoint/2010/main" val="19012233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fld id="{39B608FB-1D00-48B7-AC46-E9A1A889F555}" type="slidenum">
              <a:rPr lang="he-IL" altLang="en-US" smtClean="0">
                <a:latin typeface="Tahoma" panose="020B0604030504040204" pitchFamily="34" charset="0"/>
              </a:rPr>
              <a:pPr/>
              <a:t>29</a:t>
            </a:fld>
            <a:endParaRPr lang="en-US" altLang="en-US">
              <a:latin typeface="Tahoma" panose="020B0604030504040204" pitchFamily="34" charset="0"/>
            </a:endParaRP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cs typeface="Arial" panose="020B0604020202020204" pitchFamily="34" charset="0"/>
              </a:rPr>
              <a:t>Added examples to illustrate conversion to binary and to octal</a:t>
            </a:r>
          </a:p>
        </p:txBody>
      </p:sp>
    </p:spTree>
    <p:extLst>
      <p:ext uri="{BB962C8B-B14F-4D97-AF65-F5344CB8AC3E}">
        <p14:creationId xmlns:p14="http://schemas.microsoft.com/office/powerpoint/2010/main" val="32725693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fld id="{09DF7D2B-BCF0-4EA8-A718-3A6892B559F0}" type="slidenum">
              <a:rPr lang="he-IL" altLang="en-US" smtClean="0">
                <a:latin typeface="Tahoma" panose="020B0604030504040204" pitchFamily="34" charset="0"/>
              </a:rPr>
              <a:pPr/>
              <a:t>30</a:t>
            </a:fld>
            <a:endParaRPr lang="en-US" altLang="en-US">
              <a:latin typeface="Tahoma" panose="020B0604030504040204" pitchFamily="34" charset="0"/>
            </a:endParaRPr>
          </a:p>
        </p:txBody>
      </p:sp>
      <p:sp>
        <p:nvSpPr>
          <p:cNvPr id="181251" name="Rectangle 2"/>
          <p:cNvSpPr>
            <a:spLocks noGrp="1" noRot="1" noChangeAspect="1" noChangeArrowheads="1" noTextEdit="1"/>
          </p:cNvSpPr>
          <p:nvPr>
            <p:ph type="sldImg"/>
          </p:nvPr>
        </p:nvSpPr>
        <p:spPr>
          <a:ln/>
        </p:spPr>
      </p:sp>
      <p:sp>
        <p:nvSpPr>
          <p:cNvPr id="181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cs typeface="Arial" panose="020B0604020202020204" pitchFamily="34" charset="0"/>
            </a:endParaRPr>
          </a:p>
        </p:txBody>
      </p:sp>
    </p:spTree>
    <p:extLst>
      <p:ext uri="{BB962C8B-B14F-4D97-AF65-F5344CB8AC3E}">
        <p14:creationId xmlns:p14="http://schemas.microsoft.com/office/powerpoint/2010/main" val="3980040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51769-ADD5-423D-8B60-D12A4E5E14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23A437A5-5091-4921-9B7B-6F957AF61A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1A4FFA2D-3766-4922-A61A-2256610D1D1B}"/>
              </a:ext>
            </a:extLst>
          </p:cNvPr>
          <p:cNvSpPr>
            <a:spLocks noGrp="1"/>
          </p:cNvSpPr>
          <p:nvPr>
            <p:ph type="dt" sz="half" idx="10"/>
          </p:nvPr>
        </p:nvSpPr>
        <p:spPr/>
        <p:txBody>
          <a:bodyPr/>
          <a:lstStyle/>
          <a:p>
            <a:fld id="{DB31A009-BB20-480A-B00E-625CDA6CEBDC}" type="datetimeFigureOut">
              <a:rPr lang="en-IL" smtClean="0"/>
              <a:t>11/03/2026</a:t>
            </a:fld>
            <a:endParaRPr lang="en-IL"/>
          </a:p>
        </p:txBody>
      </p:sp>
      <p:sp>
        <p:nvSpPr>
          <p:cNvPr id="5" name="Footer Placeholder 4">
            <a:extLst>
              <a:ext uri="{FF2B5EF4-FFF2-40B4-BE49-F238E27FC236}">
                <a16:creationId xmlns:a16="http://schemas.microsoft.com/office/drawing/2014/main" id="{F8644338-B436-4A34-AC68-EE4D566AB6A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8836A80-AB5E-4A34-9D95-D33B86D1EBB0}"/>
              </a:ext>
            </a:extLst>
          </p:cNvPr>
          <p:cNvSpPr>
            <a:spLocks noGrp="1"/>
          </p:cNvSpPr>
          <p:nvPr>
            <p:ph type="sldNum" sz="quarter" idx="12"/>
          </p:nvPr>
        </p:nvSpPr>
        <p:spPr/>
        <p:txBody>
          <a:bodyPr/>
          <a:lstStyle/>
          <a:p>
            <a:fld id="{D3FE4C5C-010C-4C1E-ABF7-027319084F91}" type="slidenum">
              <a:rPr lang="en-IL" smtClean="0"/>
              <a:t>‹#›</a:t>
            </a:fld>
            <a:endParaRPr lang="en-IL"/>
          </a:p>
        </p:txBody>
      </p:sp>
    </p:spTree>
    <p:extLst>
      <p:ext uri="{BB962C8B-B14F-4D97-AF65-F5344CB8AC3E}">
        <p14:creationId xmlns:p14="http://schemas.microsoft.com/office/powerpoint/2010/main" val="2952348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4D6DF-9FE5-4D47-9E00-C3021B8ED46F}"/>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156834D-5632-4D18-AF7C-D098D89315D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CE476B72-5531-48F6-AF63-F38B5978637B}"/>
              </a:ext>
            </a:extLst>
          </p:cNvPr>
          <p:cNvSpPr>
            <a:spLocks noGrp="1"/>
          </p:cNvSpPr>
          <p:nvPr>
            <p:ph type="dt" sz="half" idx="10"/>
          </p:nvPr>
        </p:nvSpPr>
        <p:spPr/>
        <p:txBody>
          <a:bodyPr/>
          <a:lstStyle/>
          <a:p>
            <a:fld id="{DB31A009-BB20-480A-B00E-625CDA6CEBDC}" type="datetimeFigureOut">
              <a:rPr lang="en-IL" smtClean="0"/>
              <a:t>11/03/2026</a:t>
            </a:fld>
            <a:endParaRPr lang="en-IL"/>
          </a:p>
        </p:txBody>
      </p:sp>
      <p:sp>
        <p:nvSpPr>
          <p:cNvPr id="5" name="Footer Placeholder 4">
            <a:extLst>
              <a:ext uri="{FF2B5EF4-FFF2-40B4-BE49-F238E27FC236}">
                <a16:creationId xmlns:a16="http://schemas.microsoft.com/office/drawing/2014/main" id="{44562041-4DA1-48FC-8974-1A0515FF8FF3}"/>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EA6D7D7A-193F-4D5A-BF52-4067D837AC9C}"/>
              </a:ext>
            </a:extLst>
          </p:cNvPr>
          <p:cNvSpPr>
            <a:spLocks noGrp="1"/>
          </p:cNvSpPr>
          <p:nvPr>
            <p:ph type="sldNum" sz="quarter" idx="12"/>
          </p:nvPr>
        </p:nvSpPr>
        <p:spPr/>
        <p:txBody>
          <a:bodyPr/>
          <a:lstStyle/>
          <a:p>
            <a:fld id="{D3FE4C5C-010C-4C1E-ABF7-027319084F91}" type="slidenum">
              <a:rPr lang="en-IL" smtClean="0"/>
              <a:t>‹#›</a:t>
            </a:fld>
            <a:endParaRPr lang="en-IL"/>
          </a:p>
        </p:txBody>
      </p:sp>
    </p:spTree>
    <p:extLst>
      <p:ext uri="{BB962C8B-B14F-4D97-AF65-F5344CB8AC3E}">
        <p14:creationId xmlns:p14="http://schemas.microsoft.com/office/powerpoint/2010/main" val="252887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9ABBC-FCDF-4526-BE13-B0B3A3936F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3B9A91A9-C647-4B31-9D08-FBAA539E55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21BF11-147A-4493-AD7F-52F36BC94A5B}"/>
              </a:ext>
            </a:extLst>
          </p:cNvPr>
          <p:cNvSpPr>
            <a:spLocks noGrp="1"/>
          </p:cNvSpPr>
          <p:nvPr>
            <p:ph type="dt" sz="half" idx="10"/>
          </p:nvPr>
        </p:nvSpPr>
        <p:spPr/>
        <p:txBody>
          <a:bodyPr/>
          <a:lstStyle/>
          <a:p>
            <a:fld id="{DB31A009-BB20-480A-B00E-625CDA6CEBDC}" type="datetimeFigureOut">
              <a:rPr lang="en-IL" smtClean="0"/>
              <a:t>11/03/2026</a:t>
            </a:fld>
            <a:endParaRPr lang="en-IL"/>
          </a:p>
        </p:txBody>
      </p:sp>
      <p:sp>
        <p:nvSpPr>
          <p:cNvPr id="5" name="Footer Placeholder 4">
            <a:extLst>
              <a:ext uri="{FF2B5EF4-FFF2-40B4-BE49-F238E27FC236}">
                <a16:creationId xmlns:a16="http://schemas.microsoft.com/office/drawing/2014/main" id="{BE5AA812-A5BE-466D-9C2D-B6AE73350C5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DE193763-C70C-4DFE-A5D2-A47EAD204862}"/>
              </a:ext>
            </a:extLst>
          </p:cNvPr>
          <p:cNvSpPr>
            <a:spLocks noGrp="1"/>
          </p:cNvSpPr>
          <p:nvPr>
            <p:ph type="sldNum" sz="quarter" idx="12"/>
          </p:nvPr>
        </p:nvSpPr>
        <p:spPr/>
        <p:txBody>
          <a:bodyPr/>
          <a:lstStyle/>
          <a:p>
            <a:fld id="{D3FE4C5C-010C-4C1E-ABF7-027319084F91}" type="slidenum">
              <a:rPr lang="en-IL" smtClean="0"/>
              <a:t>‹#›</a:t>
            </a:fld>
            <a:endParaRPr lang="en-IL"/>
          </a:p>
        </p:txBody>
      </p:sp>
    </p:spTree>
    <p:extLst>
      <p:ext uri="{BB962C8B-B14F-4D97-AF65-F5344CB8AC3E}">
        <p14:creationId xmlns:p14="http://schemas.microsoft.com/office/powerpoint/2010/main" val="1731420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8C013-26F6-48BB-BB9F-53FF2D2E462C}"/>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335E2F8F-CD82-4798-95C7-5169C88959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A86D365A-F2D8-46B8-9319-49EF44A6D0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21F85D4A-3707-40D3-9AA0-1BC28952E1AC}"/>
              </a:ext>
            </a:extLst>
          </p:cNvPr>
          <p:cNvSpPr>
            <a:spLocks noGrp="1"/>
          </p:cNvSpPr>
          <p:nvPr>
            <p:ph type="dt" sz="half" idx="10"/>
          </p:nvPr>
        </p:nvSpPr>
        <p:spPr/>
        <p:txBody>
          <a:bodyPr/>
          <a:lstStyle/>
          <a:p>
            <a:fld id="{DB31A009-BB20-480A-B00E-625CDA6CEBDC}" type="datetimeFigureOut">
              <a:rPr lang="en-IL" smtClean="0"/>
              <a:t>11/03/2026</a:t>
            </a:fld>
            <a:endParaRPr lang="en-IL"/>
          </a:p>
        </p:txBody>
      </p:sp>
      <p:sp>
        <p:nvSpPr>
          <p:cNvPr id="6" name="Footer Placeholder 5">
            <a:extLst>
              <a:ext uri="{FF2B5EF4-FFF2-40B4-BE49-F238E27FC236}">
                <a16:creationId xmlns:a16="http://schemas.microsoft.com/office/drawing/2014/main" id="{D42716DC-62C4-4F3E-B759-2E432B079FFC}"/>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ECE0D1A-26F5-45F1-8183-C5A53437A36C}"/>
              </a:ext>
            </a:extLst>
          </p:cNvPr>
          <p:cNvSpPr>
            <a:spLocks noGrp="1"/>
          </p:cNvSpPr>
          <p:nvPr>
            <p:ph type="sldNum" sz="quarter" idx="12"/>
          </p:nvPr>
        </p:nvSpPr>
        <p:spPr/>
        <p:txBody>
          <a:bodyPr/>
          <a:lstStyle/>
          <a:p>
            <a:fld id="{D3FE4C5C-010C-4C1E-ABF7-027319084F91}" type="slidenum">
              <a:rPr lang="en-IL" smtClean="0"/>
              <a:t>‹#›</a:t>
            </a:fld>
            <a:endParaRPr lang="en-IL"/>
          </a:p>
        </p:txBody>
      </p:sp>
    </p:spTree>
    <p:extLst>
      <p:ext uri="{BB962C8B-B14F-4D97-AF65-F5344CB8AC3E}">
        <p14:creationId xmlns:p14="http://schemas.microsoft.com/office/powerpoint/2010/main" val="1773577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C6824-E95A-43A3-A443-A9E9DAA4D085}"/>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E0F73BE-A6B6-47F3-A6E5-173BAAAB99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B231A1-F893-4136-9DBB-DDA7ED2E17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FA4A8F07-A009-4937-AC03-05BFAFE296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118884-A837-4D39-B99C-356A605903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545A19E2-290C-4803-8239-7EF6F928F7C0}"/>
              </a:ext>
            </a:extLst>
          </p:cNvPr>
          <p:cNvSpPr>
            <a:spLocks noGrp="1"/>
          </p:cNvSpPr>
          <p:nvPr>
            <p:ph type="dt" sz="half" idx="10"/>
          </p:nvPr>
        </p:nvSpPr>
        <p:spPr/>
        <p:txBody>
          <a:bodyPr/>
          <a:lstStyle/>
          <a:p>
            <a:fld id="{DB31A009-BB20-480A-B00E-625CDA6CEBDC}" type="datetimeFigureOut">
              <a:rPr lang="en-IL" smtClean="0"/>
              <a:t>11/03/2026</a:t>
            </a:fld>
            <a:endParaRPr lang="en-IL"/>
          </a:p>
        </p:txBody>
      </p:sp>
      <p:sp>
        <p:nvSpPr>
          <p:cNvPr id="8" name="Footer Placeholder 7">
            <a:extLst>
              <a:ext uri="{FF2B5EF4-FFF2-40B4-BE49-F238E27FC236}">
                <a16:creationId xmlns:a16="http://schemas.microsoft.com/office/drawing/2014/main" id="{DCAA527D-7F8D-4A02-A47F-F08182449FA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CE25CC42-DADD-4EF9-B3E7-2DD616F590C7}"/>
              </a:ext>
            </a:extLst>
          </p:cNvPr>
          <p:cNvSpPr>
            <a:spLocks noGrp="1"/>
          </p:cNvSpPr>
          <p:nvPr>
            <p:ph type="sldNum" sz="quarter" idx="12"/>
          </p:nvPr>
        </p:nvSpPr>
        <p:spPr/>
        <p:txBody>
          <a:bodyPr/>
          <a:lstStyle/>
          <a:p>
            <a:fld id="{D3FE4C5C-010C-4C1E-ABF7-027319084F91}" type="slidenum">
              <a:rPr lang="en-IL" smtClean="0"/>
              <a:t>‹#›</a:t>
            </a:fld>
            <a:endParaRPr lang="en-IL"/>
          </a:p>
        </p:txBody>
      </p:sp>
    </p:spTree>
    <p:extLst>
      <p:ext uri="{BB962C8B-B14F-4D97-AF65-F5344CB8AC3E}">
        <p14:creationId xmlns:p14="http://schemas.microsoft.com/office/powerpoint/2010/main" val="302455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98F63-4970-4E31-A99B-02C35B3CAE75}"/>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8C0E19BC-3B8B-4E6D-8CC6-7075469F1AC6}"/>
              </a:ext>
            </a:extLst>
          </p:cNvPr>
          <p:cNvSpPr>
            <a:spLocks noGrp="1"/>
          </p:cNvSpPr>
          <p:nvPr>
            <p:ph type="dt" sz="half" idx="10"/>
          </p:nvPr>
        </p:nvSpPr>
        <p:spPr/>
        <p:txBody>
          <a:bodyPr/>
          <a:lstStyle/>
          <a:p>
            <a:fld id="{DB31A009-BB20-480A-B00E-625CDA6CEBDC}" type="datetimeFigureOut">
              <a:rPr lang="en-IL" smtClean="0"/>
              <a:t>11/03/2026</a:t>
            </a:fld>
            <a:endParaRPr lang="en-IL"/>
          </a:p>
        </p:txBody>
      </p:sp>
      <p:sp>
        <p:nvSpPr>
          <p:cNvPr id="4" name="Footer Placeholder 3">
            <a:extLst>
              <a:ext uri="{FF2B5EF4-FFF2-40B4-BE49-F238E27FC236}">
                <a16:creationId xmlns:a16="http://schemas.microsoft.com/office/drawing/2014/main" id="{D4C5DDC3-1A02-48ED-8877-AB0F63C26956}"/>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1913DDC2-4534-4E55-9756-99FCC037FB9A}"/>
              </a:ext>
            </a:extLst>
          </p:cNvPr>
          <p:cNvSpPr>
            <a:spLocks noGrp="1"/>
          </p:cNvSpPr>
          <p:nvPr>
            <p:ph type="sldNum" sz="quarter" idx="12"/>
          </p:nvPr>
        </p:nvSpPr>
        <p:spPr/>
        <p:txBody>
          <a:bodyPr/>
          <a:lstStyle/>
          <a:p>
            <a:fld id="{D3FE4C5C-010C-4C1E-ABF7-027319084F91}" type="slidenum">
              <a:rPr lang="en-IL" smtClean="0"/>
              <a:t>‹#›</a:t>
            </a:fld>
            <a:endParaRPr lang="en-IL"/>
          </a:p>
        </p:txBody>
      </p:sp>
    </p:spTree>
    <p:extLst>
      <p:ext uri="{BB962C8B-B14F-4D97-AF65-F5344CB8AC3E}">
        <p14:creationId xmlns:p14="http://schemas.microsoft.com/office/powerpoint/2010/main" val="3407960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63E4CA-3625-4B25-8BD4-25110465D6DF}"/>
              </a:ext>
            </a:extLst>
          </p:cNvPr>
          <p:cNvSpPr>
            <a:spLocks noGrp="1"/>
          </p:cNvSpPr>
          <p:nvPr>
            <p:ph type="dt" sz="half" idx="10"/>
          </p:nvPr>
        </p:nvSpPr>
        <p:spPr/>
        <p:txBody>
          <a:bodyPr/>
          <a:lstStyle/>
          <a:p>
            <a:fld id="{DB31A009-BB20-480A-B00E-625CDA6CEBDC}" type="datetimeFigureOut">
              <a:rPr lang="en-IL" smtClean="0"/>
              <a:t>11/03/2026</a:t>
            </a:fld>
            <a:endParaRPr lang="en-IL"/>
          </a:p>
        </p:txBody>
      </p:sp>
      <p:sp>
        <p:nvSpPr>
          <p:cNvPr id="3" name="Footer Placeholder 2">
            <a:extLst>
              <a:ext uri="{FF2B5EF4-FFF2-40B4-BE49-F238E27FC236}">
                <a16:creationId xmlns:a16="http://schemas.microsoft.com/office/drawing/2014/main" id="{BE334901-1670-4999-BD40-EBEC70012AE0}"/>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E6F31EA7-6EE4-4E7F-8C29-FDEFD3E68FC2}"/>
              </a:ext>
            </a:extLst>
          </p:cNvPr>
          <p:cNvSpPr>
            <a:spLocks noGrp="1"/>
          </p:cNvSpPr>
          <p:nvPr>
            <p:ph type="sldNum" sz="quarter" idx="12"/>
          </p:nvPr>
        </p:nvSpPr>
        <p:spPr/>
        <p:txBody>
          <a:bodyPr/>
          <a:lstStyle/>
          <a:p>
            <a:fld id="{D3FE4C5C-010C-4C1E-ABF7-027319084F91}" type="slidenum">
              <a:rPr lang="en-IL" smtClean="0"/>
              <a:t>‹#›</a:t>
            </a:fld>
            <a:endParaRPr lang="en-IL"/>
          </a:p>
        </p:txBody>
      </p:sp>
    </p:spTree>
    <p:extLst>
      <p:ext uri="{BB962C8B-B14F-4D97-AF65-F5344CB8AC3E}">
        <p14:creationId xmlns:p14="http://schemas.microsoft.com/office/powerpoint/2010/main" val="4205300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07F25-9FCC-467C-8DA5-71E6859BD1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F615C28F-9A9F-4AC8-A635-DAF69FD6AC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8E3ADF6E-D516-4A9C-BF20-4093F8CFD3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FDF5A4-0307-4873-B5B8-92077910A6EE}"/>
              </a:ext>
            </a:extLst>
          </p:cNvPr>
          <p:cNvSpPr>
            <a:spLocks noGrp="1"/>
          </p:cNvSpPr>
          <p:nvPr>
            <p:ph type="dt" sz="half" idx="10"/>
          </p:nvPr>
        </p:nvSpPr>
        <p:spPr/>
        <p:txBody>
          <a:bodyPr/>
          <a:lstStyle/>
          <a:p>
            <a:fld id="{DB31A009-BB20-480A-B00E-625CDA6CEBDC}" type="datetimeFigureOut">
              <a:rPr lang="en-IL" smtClean="0"/>
              <a:t>11/03/2026</a:t>
            </a:fld>
            <a:endParaRPr lang="en-IL"/>
          </a:p>
        </p:txBody>
      </p:sp>
      <p:sp>
        <p:nvSpPr>
          <p:cNvPr id="6" name="Footer Placeholder 5">
            <a:extLst>
              <a:ext uri="{FF2B5EF4-FFF2-40B4-BE49-F238E27FC236}">
                <a16:creationId xmlns:a16="http://schemas.microsoft.com/office/drawing/2014/main" id="{958FB61D-BB78-4505-9A35-F55CE95DE96D}"/>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33E24D3A-339B-497D-AE4B-DED37BCC067E}"/>
              </a:ext>
            </a:extLst>
          </p:cNvPr>
          <p:cNvSpPr>
            <a:spLocks noGrp="1"/>
          </p:cNvSpPr>
          <p:nvPr>
            <p:ph type="sldNum" sz="quarter" idx="12"/>
          </p:nvPr>
        </p:nvSpPr>
        <p:spPr/>
        <p:txBody>
          <a:bodyPr/>
          <a:lstStyle/>
          <a:p>
            <a:fld id="{D3FE4C5C-010C-4C1E-ABF7-027319084F91}" type="slidenum">
              <a:rPr lang="en-IL" smtClean="0"/>
              <a:t>‹#›</a:t>
            </a:fld>
            <a:endParaRPr lang="en-IL"/>
          </a:p>
        </p:txBody>
      </p:sp>
    </p:spTree>
    <p:extLst>
      <p:ext uri="{BB962C8B-B14F-4D97-AF65-F5344CB8AC3E}">
        <p14:creationId xmlns:p14="http://schemas.microsoft.com/office/powerpoint/2010/main" val="3025317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814AD-33C0-4A3D-AC41-631EA4CB65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27842986-2028-45EC-B7C7-1CE8FEC9E4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B0D78E68-52E6-4628-BFA9-C52378634D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1BC04F-045A-49A9-B5D8-950893DDF967}"/>
              </a:ext>
            </a:extLst>
          </p:cNvPr>
          <p:cNvSpPr>
            <a:spLocks noGrp="1"/>
          </p:cNvSpPr>
          <p:nvPr>
            <p:ph type="dt" sz="half" idx="10"/>
          </p:nvPr>
        </p:nvSpPr>
        <p:spPr/>
        <p:txBody>
          <a:bodyPr/>
          <a:lstStyle/>
          <a:p>
            <a:fld id="{DB31A009-BB20-480A-B00E-625CDA6CEBDC}" type="datetimeFigureOut">
              <a:rPr lang="en-IL" smtClean="0"/>
              <a:t>11/03/2026</a:t>
            </a:fld>
            <a:endParaRPr lang="en-IL"/>
          </a:p>
        </p:txBody>
      </p:sp>
      <p:sp>
        <p:nvSpPr>
          <p:cNvPr id="6" name="Footer Placeholder 5">
            <a:extLst>
              <a:ext uri="{FF2B5EF4-FFF2-40B4-BE49-F238E27FC236}">
                <a16:creationId xmlns:a16="http://schemas.microsoft.com/office/drawing/2014/main" id="{6C229481-904F-4352-9DCE-F74D68D345C1}"/>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9E970B9F-2EB7-40FE-95DF-57FD9258D27E}"/>
              </a:ext>
            </a:extLst>
          </p:cNvPr>
          <p:cNvSpPr>
            <a:spLocks noGrp="1"/>
          </p:cNvSpPr>
          <p:nvPr>
            <p:ph type="sldNum" sz="quarter" idx="12"/>
          </p:nvPr>
        </p:nvSpPr>
        <p:spPr/>
        <p:txBody>
          <a:bodyPr/>
          <a:lstStyle/>
          <a:p>
            <a:fld id="{D3FE4C5C-010C-4C1E-ABF7-027319084F91}" type="slidenum">
              <a:rPr lang="en-IL" smtClean="0"/>
              <a:t>‹#›</a:t>
            </a:fld>
            <a:endParaRPr lang="en-IL"/>
          </a:p>
        </p:txBody>
      </p:sp>
    </p:spTree>
    <p:extLst>
      <p:ext uri="{BB962C8B-B14F-4D97-AF65-F5344CB8AC3E}">
        <p14:creationId xmlns:p14="http://schemas.microsoft.com/office/powerpoint/2010/main" val="2292150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8100D-298A-4EBB-A3B7-909271AEBAD0}"/>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CBBA69B0-BEBE-49D5-84C0-47F138AED0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7AF2FF9-071B-4BB4-A54B-A4C1A2659C4E}"/>
              </a:ext>
            </a:extLst>
          </p:cNvPr>
          <p:cNvSpPr>
            <a:spLocks noGrp="1"/>
          </p:cNvSpPr>
          <p:nvPr>
            <p:ph type="dt" sz="half" idx="10"/>
          </p:nvPr>
        </p:nvSpPr>
        <p:spPr/>
        <p:txBody>
          <a:bodyPr/>
          <a:lstStyle/>
          <a:p>
            <a:fld id="{DB31A009-BB20-480A-B00E-625CDA6CEBDC}" type="datetimeFigureOut">
              <a:rPr lang="en-IL" smtClean="0"/>
              <a:t>11/03/2026</a:t>
            </a:fld>
            <a:endParaRPr lang="en-IL"/>
          </a:p>
        </p:txBody>
      </p:sp>
      <p:sp>
        <p:nvSpPr>
          <p:cNvPr id="5" name="Footer Placeholder 4">
            <a:extLst>
              <a:ext uri="{FF2B5EF4-FFF2-40B4-BE49-F238E27FC236}">
                <a16:creationId xmlns:a16="http://schemas.microsoft.com/office/drawing/2014/main" id="{978DCF1B-5714-4AEE-85FE-52841EFFC4A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15110755-DF4E-44E9-85EC-6F2F83D73B82}"/>
              </a:ext>
            </a:extLst>
          </p:cNvPr>
          <p:cNvSpPr>
            <a:spLocks noGrp="1"/>
          </p:cNvSpPr>
          <p:nvPr>
            <p:ph type="sldNum" sz="quarter" idx="12"/>
          </p:nvPr>
        </p:nvSpPr>
        <p:spPr/>
        <p:txBody>
          <a:bodyPr/>
          <a:lstStyle/>
          <a:p>
            <a:fld id="{D3FE4C5C-010C-4C1E-ABF7-027319084F91}" type="slidenum">
              <a:rPr lang="en-IL" smtClean="0"/>
              <a:t>‹#›</a:t>
            </a:fld>
            <a:endParaRPr lang="en-IL"/>
          </a:p>
        </p:txBody>
      </p:sp>
    </p:spTree>
    <p:extLst>
      <p:ext uri="{BB962C8B-B14F-4D97-AF65-F5344CB8AC3E}">
        <p14:creationId xmlns:p14="http://schemas.microsoft.com/office/powerpoint/2010/main" val="17217815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E9BD31-116D-44DF-87F9-50426410AC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EA8CBE77-3E17-4A47-90F9-0E21177A15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1D242A2A-EC14-4E39-B4E7-87DFDAE6803F}"/>
              </a:ext>
            </a:extLst>
          </p:cNvPr>
          <p:cNvSpPr>
            <a:spLocks noGrp="1"/>
          </p:cNvSpPr>
          <p:nvPr>
            <p:ph type="dt" sz="half" idx="10"/>
          </p:nvPr>
        </p:nvSpPr>
        <p:spPr/>
        <p:txBody>
          <a:bodyPr/>
          <a:lstStyle/>
          <a:p>
            <a:fld id="{DB31A009-BB20-480A-B00E-625CDA6CEBDC}" type="datetimeFigureOut">
              <a:rPr lang="en-IL" smtClean="0"/>
              <a:t>11/03/2026</a:t>
            </a:fld>
            <a:endParaRPr lang="en-IL"/>
          </a:p>
        </p:txBody>
      </p:sp>
      <p:sp>
        <p:nvSpPr>
          <p:cNvPr id="5" name="Footer Placeholder 4">
            <a:extLst>
              <a:ext uri="{FF2B5EF4-FFF2-40B4-BE49-F238E27FC236}">
                <a16:creationId xmlns:a16="http://schemas.microsoft.com/office/drawing/2014/main" id="{5BFA7901-E03E-440A-B2F7-8D214070F8D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9290E83-D3F0-4A3E-AD4B-07A6ADE4B8DC}"/>
              </a:ext>
            </a:extLst>
          </p:cNvPr>
          <p:cNvSpPr>
            <a:spLocks noGrp="1"/>
          </p:cNvSpPr>
          <p:nvPr>
            <p:ph type="sldNum" sz="quarter" idx="12"/>
          </p:nvPr>
        </p:nvSpPr>
        <p:spPr/>
        <p:txBody>
          <a:bodyPr/>
          <a:lstStyle/>
          <a:p>
            <a:fld id="{D3FE4C5C-010C-4C1E-ABF7-027319084F91}" type="slidenum">
              <a:rPr lang="en-IL" smtClean="0"/>
              <a:t>‹#›</a:t>
            </a:fld>
            <a:endParaRPr lang="en-IL"/>
          </a:p>
        </p:txBody>
      </p:sp>
    </p:spTree>
    <p:extLst>
      <p:ext uri="{BB962C8B-B14F-4D97-AF65-F5344CB8AC3E}">
        <p14:creationId xmlns:p14="http://schemas.microsoft.com/office/powerpoint/2010/main" val="3587369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EFDDCD"/>
            </a:gs>
            <a:gs pos="74000">
              <a:srgbClr val="B3D1EC"/>
            </a:gs>
            <a:gs pos="83000">
              <a:srgbClr val="B3D1EC"/>
            </a:gs>
            <a:gs pos="100000">
              <a:srgbClr val="CCE0F2"/>
            </a:gs>
          </a:gsLst>
          <a:lin ang="5400000" scaled="0"/>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6BCA12-23F8-4C9C-BC2C-6F0147ADB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80F1C6B1-4336-40EF-81CE-70CE60BDFB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412C8A2-4BEF-46AF-AF4D-84743EA84F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31A009-BB20-480A-B00E-625CDA6CEBDC}" type="datetimeFigureOut">
              <a:rPr lang="en-IL" smtClean="0"/>
              <a:t>11/03/2026</a:t>
            </a:fld>
            <a:endParaRPr lang="en-IL"/>
          </a:p>
        </p:txBody>
      </p:sp>
      <p:sp>
        <p:nvSpPr>
          <p:cNvPr id="5" name="Footer Placeholder 4">
            <a:extLst>
              <a:ext uri="{FF2B5EF4-FFF2-40B4-BE49-F238E27FC236}">
                <a16:creationId xmlns:a16="http://schemas.microsoft.com/office/drawing/2014/main" id="{1DD0314F-D5EF-4A43-9518-B1BE55E70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L"/>
          </a:p>
        </p:txBody>
      </p:sp>
      <p:sp>
        <p:nvSpPr>
          <p:cNvPr id="6" name="Slide Number Placeholder 5">
            <a:extLst>
              <a:ext uri="{FF2B5EF4-FFF2-40B4-BE49-F238E27FC236}">
                <a16:creationId xmlns:a16="http://schemas.microsoft.com/office/drawing/2014/main" id="{695D09D5-23E5-4EF8-A872-9FF921F487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FE4C5C-010C-4C1E-ABF7-027319084F91}" type="slidenum">
              <a:rPr lang="en-IL" smtClean="0"/>
              <a:t>‹#›</a:t>
            </a:fld>
            <a:endParaRPr lang="en-IL"/>
          </a:p>
        </p:txBody>
      </p:sp>
    </p:spTree>
    <p:extLst>
      <p:ext uri="{BB962C8B-B14F-4D97-AF65-F5344CB8AC3E}">
        <p14:creationId xmlns:p14="http://schemas.microsoft.com/office/powerpoint/2010/main" val="3392546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Daniel.karalnik@post.idc.ac.il"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mailto:liam.tal@post.idc.ac.il"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15DEA-4C8F-4536-B2EF-5B9615A0E987}"/>
              </a:ext>
            </a:extLst>
          </p:cNvPr>
          <p:cNvSpPr>
            <a:spLocks noGrp="1"/>
          </p:cNvSpPr>
          <p:nvPr>
            <p:ph type="ctrTitle"/>
          </p:nvPr>
        </p:nvSpPr>
        <p:spPr/>
        <p:txBody>
          <a:bodyPr>
            <a:normAutofit/>
          </a:bodyPr>
          <a:lstStyle/>
          <a:p>
            <a:r>
              <a:rPr lang="en-US" b="1" dirty="0">
                <a:solidFill>
                  <a:srgbClr val="C55A11"/>
                </a:solidFill>
                <a:latin typeface="Arial"/>
                <a:cs typeface="Arial"/>
                <a:sym typeface="Calibri"/>
              </a:rPr>
              <a:t>Recitation 1</a:t>
            </a:r>
            <a:endParaRPr lang="en-IL" b="1" dirty="0">
              <a:solidFill>
                <a:srgbClr val="C55A11"/>
              </a:solidFill>
              <a:latin typeface="Arial"/>
              <a:cs typeface="Arial"/>
              <a:sym typeface="Calibri"/>
            </a:endParaRPr>
          </a:p>
        </p:txBody>
      </p:sp>
      <p:sp>
        <p:nvSpPr>
          <p:cNvPr id="3" name="Subtitle 2">
            <a:extLst>
              <a:ext uri="{FF2B5EF4-FFF2-40B4-BE49-F238E27FC236}">
                <a16:creationId xmlns:a16="http://schemas.microsoft.com/office/drawing/2014/main" id="{F1564D11-5B80-4666-9DD3-51128BADB6DD}"/>
              </a:ext>
            </a:extLst>
          </p:cNvPr>
          <p:cNvSpPr>
            <a:spLocks noGrp="1"/>
          </p:cNvSpPr>
          <p:nvPr>
            <p:ph type="subTitle" idx="1"/>
          </p:nvPr>
        </p:nvSpPr>
        <p:spPr/>
        <p:txBody>
          <a:bodyPr/>
          <a:lstStyle/>
          <a:p>
            <a:endParaRPr lang="en-IL"/>
          </a:p>
        </p:txBody>
      </p:sp>
    </p:spTree>
    <p:extLst>
      <p:ext uri="{BB962C8B-B14F-4D97-AF65-F5344CB8AC3E}">
        <p14:creationId xmlns:p14="http://schemas.microsoft.com/office/powerpoint/2010/main" val="25566936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txBox="1">
            <a:spLocks noGrp="1"/>
          </p:cNvSpPr>
          <p:nvPr>
            <p:ph type="title"/>
          </p:nvPr>
        </p:nvSpPr>
        <p:spPr>
          <a:xfrm>
            <a:off x="2152650" y="365127"/>
            <a:ext cx="7886700" cy="1325563"/>
          </a:xfrm>
          <a:prstGeom prst="rect">
            <a:avLst/>
          </a:prstGeom>
          <a:noFill/>
          <a:ln>
            <a:noFill/>
          </a:ln>
        </p:spPr>
        <p:txBody>
          <a:bodyPr spcFirstLastPara="1" vert="horz" wrap="square" lIns="91425" tIns="45700" rIns="91425" bIns="45700" rtlCol="0" anchor="ctr" anchorCtr="0">
            <a:normAutofit/>
          </a:bodyPr>
          <a:lstStyle/>
          <a:p>
            <a:pPr>
              <a:spcBef>
                <a:spcPts val="0"/>
              </a:spcBef>
              <a:buClr>
                <a:srgbClr val="C55A11"/>
              </a:buClr>
              <a:buSzPts val="3300"/>
            </a:pPr>
            <a:r>
              <a:rPr lang="en-US" b="1" dirty="0">
                <a:solidFill>
                  <a:srgbClr val="C55A11"/>
                </a:solidFill>
                <a:latin typeface="Arial"/>
                <a:ea typeface="Arial"/>
                <a:cs typeface="Arial"/>
                <a:sym typeface="Arial"/>
              </a:rPr>
              <a:t>Recitation Overview</a:t>
            </a:r>
            <a:endParaRPr dirty="0"/>
          </a:p>
        </p:txBody>
      </p:sp>
      <p:sp>
        <p:nvSpPr>
          <p:cNvPr id="102" name="Google Shape;102;p2"/>
          <p:cNvSpPr txBox="1">
            <a:spLocks noGrp="1"/>
          </p:cNvSpPr>
          <p:nvPr>
            <p:ph type="body" idx="1"/>
          </p:nvPr>
        </p:nvSpPr>
        <p:spPr>
          <a:xfrm>
            <a:off x="2152650" y="1690690"/>
            <a:ext cx="8041680" cy="4790965"/>
          </a:xfrm>
          <a:prstGeom prst="rect">
            <a:avLst/>
          </a:prstGeom>
          <a:noFill/>
          <a:ln>
            <a:noFill/>
          </a:ln>
        </p:spPr>
        <p:txBody>
          <a:bodyPr spcFirstLastPara="1" vert="horz" wrap="square" lIns="91425" tIns="45700" rIns="91425" bIns="45700" rtlCol="0" anchor="t" anchorCtr="0">
            <a:noAutofit/>
          </a:bodyPr>
          <a:lstStyle/>
          <a:p>
            <a:pPr marL="0" indent="0">
              <a:lnSpc>
                <a:spcPct val="100000"/>
              </a:lnSpc>
              <a:spcBef>
                <a:spcPts val="0"/>
              </a:spcBef>
              <a:buClr>
                <a:schemeClr val="dk1"/>
              </a:buClr>
              <a:buSzPts val="2400"/>
              <a:buNone/>
            </a:pPr>
            <a:r>
              <a:rPr lang="en-US" sz="2400" dirty="0"/>
              <a:t>TAs: </a:t>
            </a:r>
            <a:r>
              <a:rPr lang="he-IL" sz="2400" dirty="0" err="1"/>
              <a:t>Daniel</a:t>
            </a:r>
            <a:r>
              <a:rPr lang="en-US" sz="2400" dirty="0"/>
              <a:t> </a:t>
            </a:r>
            <a:r>
              <a:rPr lang="he-IL" sz="2400" dirty="0" err="1"/>
              <a:t>Karalnik</a:t>
            </a:r>
            <a:r>
              <a:rPr lang="he-IL" sz="2400" dirty="0"/>
              <a:t> </a:t>
            </a:r>
            <a:r>
              <a:rPr lang="en-US" sz="2400" dirty="0"/>
              <a:t>&amp; Liam Tal</a:t>
            </a:r>
          </a:p>
          <a:p>
            <a:pPr marL="0" indent="0">
              <a:lnSpc>
                <a:spcPct val="100000"/>
              </a:lnSpc>
              <a:spcBef>
                <a:spcPts val="0"/>
              </a:spcBef>
              <a:buClr>
                <a:schemeClr val="dk1"/>
              </a:buClr>
              <a:buSzPts val="2400"/>
              <a:buNone/>
            </a:pPr>
            <a:r>
              <a:rPr lang="en-US" sz="2400" dirty="0"/>
              <a:t>Reception hours</a:t>
            </a:r>
          </a:p>
          <a:p>
            <a:pPr marL="342900">
              <a:lnSpc>
                <a:spcPct val="100000"/>
              </a:lnSpc>
              <a:spcBef>
                <a:spcPts val="0"/>
              </a:spcBef>
              <a:buSzPts val="2400"/>
            </a:pPr>
            <a:r>
              <a:rPr lang="he-IL" sz="2400" dirty="0" err="1"/>
              <a:t>Daniel</a:t>
            </a:r>
            <a:r>
              <a:rPr lang="en-US" sz="2400" dirty="0"/>
              <a:t>: </a:t>
            </a:r>
            <a:r>
              <a:rPr lang="he-IL" sz="2400" dirty="0" err="1"/>
              <a:t>Wednesday</a:t>
            </a:r>
            <a:r>
              <a:rPr lang="en-US" sz="2400" dirty="0"/>
              <a:t>, 13:30 – 14:30 via Zoom</a:t>
            </a:r>
          </a:p>
          <a:p>
            <a:pPr marL="342900">
              <a:lnSpc>
                <a:spcPct val="100000"/>
              </a:lnSpc>
              <a:spcBef>
                <a:spcPts val="0"/>
              </a:spcBef>
              <a:buSzPts val="2400"/>
            </a:pPr>
            <a:r>
              <a:rPr lang="en-US" sz="2400" dirty="0"/>
              <a:t>Liam: Friday, 10:30 - 11:30 via Zoom</a:t>
            </a:r>
            <a:endParaRPr lang="en-US" sz="3200" dirty="0"/>
          </a:p>
          <a:p>
            <a:pPr marL="0" indent="0">
              <a:lnSpc>
                <a:spcPct val="100000"/>
              </a:lnSpc>
              <a:spcBef>
                <a:spcPts val="0"/>
              </a:spcBef>
              <a:buClr>
                <a:schemeClr val="dk1"/>
              </a:buClr>
              <a:buSzPts val="2400"/>
              <a:buNone/>
            </a:pPr>
            <a:r>
              <a:rPr lang="en-US" sz="2400" dirty="0"/>
              <a:t>E-mails</a:t>
            </a:r>
          </a:p>
          <a:p>
            <a:pPr marL="342900">
              <a:lnSpc>
                <a:spcPct val="100000"/>
              </a:lnSpc>
              <a:spcBef>
                <a:spcPts val="0"/>
              </a:spcBef>
              <a:buSzPts val="2400"/>
            </a:pPr>
            <a:r>
              <a:rPr lang="he-IL" sz="2400" dirty="0">
                <a:hlinkClick r:id="rId3"/>
              </a:rPr>
              <a:t>Daniel</a:t>
            </a:r>
            <a:r>
              <a:rPr lang="en-US" sz="2400" dirty="0">
                <a:hlinkClick r:id="rId3"/>
              </a:rPr>
              <a:t>.</a:t>
            </a:r>
            <a:r>
              <a:rPr lang="he-IL" sz="2400" dirty="0">
                <a:hlinkClick r:id="rId3"/>
              </a:rPr>
              <a:t>karalnik</a:t>
            </a:r>
            <a:r>
              <a:rPr lang="en-US" sz="2400" dirty="0">
                <a:hlinkClick r:id="rId3"/>
              </a:rPr>
              <a:t>@post.</a:t>
            </a:r>
            <a:r>
              <a:rPr lang="he-IL" sz="2400" dirty="0">
                <a:hlinkClick r:id="rId3"/>
              </a:rPr>
              <a:t>runi</a:t>
            </a:r>
            <a:r>
              <a:rPr lang="en-US" sz="2400" dirty="0">
                <a:hlinkClick r:id="rId3"/>
              </a:rPr>
              <a:t>.ac.il</a:t>
            </a:r>
            <a:endParaRPr lang="en-US" sz="2400" dirty="0"/>
          </a:p>
          <a:p>
            <a:pPr marL="342900">
              <a:lnSpc>
                <a:spcPct val="100000"/>
              </a:lnSpc>
              <a:spcBef>
                <a:spcPts val="0"/>
              </a:spcBef>
              <a:buSzPts val="2400"/>
            </a:pPr>
            <a:r>
              <a:rPr lang="en-US" sz="2400" dirty="0">
                <a:hlinkClick r:id="rId4"/>
              </a:rPr>
              <a:t>liam.tal@post.</a:t>
            </a:r>
            <a:r>
              <a:rPr lang="he-IL" sz="2400" dirty="0">
                <a:hlinkClick r:id="rId4"/>
              </a:rPr>
              <a:t>runi</a:t>
            </a:r>
            <a:r>
              <a:rPr lang="en-US" sz="2400" dirty="0">
                <a:hlinkClick r:id="rId4"/>
              </a:rPr>
              <a:t>.ac.il</a:t>
            </a:r>
            <a:endParaRPr lang="en-US" sz="2400" dirty="0"/>
          </a:p>
          <a:p>
            <a:pPr marL="0" indent="0">
              <a:lnSpc>
                <a:spcPct val="100000"/>
              </a:lnSpc>
              <a:spcBef>
                <a:spcPts val="0"/>
              </a:spcBef>
              <a:buClr>
                <a:schemeClr val="dk1"/>
              </a:buClr>
              <a:buSzPts val="2400"/>
              <a:buNone/>
            </a:pPr>
            <a:r>
              <a:rPr lang="en-US" sz="2400" dirty="0"/>
              <a:t>Contact guidelines:</a:t>
            </a:r>
          </a:p>
          <a:p>
            <a:pPr marL="342900">
              <a:lnSpc>
                <a:spcPct val="100000"/>
              </a:lnSpc>
              <a:spcBef>
                <a:spcPts val="0"/>
              </a:spcBef>
              <a:buSzPts val="2400"/>
            </a:pPr>
            <a:r>
              <a:rPr lang="en-US" sz="2400" dirty="0"/>
              <a:t>Post questions on Piazza (can also do this anonymously)</a:t>
            </a:r>
          </a:p>
          <a:p>
            <a:pPr marL="342900">
              <a:lnSpc>
                <a:spcPct val="100000"/>
              </a:lnSpc>
              <a:spcBef>
                <a:spcPts val="0"/>
              </a:spcBef>
              <a:buSzPts val="2400"/>
            </a:pPr>
            <a:r>
              <a:rPr lang="en-US" sz="2400" dirty="0"/>
              <a:t>Attend the reception hour (recommended to e-mail ahead of time)</a:t>
            </a:r>
          </a:p>
          <a:p>
            <a:pPr marL="342900">
              <a:lnSpc>
                <a:spcPct val="100000"/>
              </a:lnSpc>
              <a:spcBef>
                <a:spcPts val="0"/>
              </a:spcBef>
              <a:buSzPts val="2400"/>
            </a:pPr>
            <a:r>
              <a:rPr lang="en-US" sz="2400" dirty="0"/>
              <a:t>E-mail directly</a:t>
            </a:r>
            <a:endParaRPr sz="2400" dirty="0"/>
          </a:p>
        </p:txBody>
      </p:sp>
      <p:pic>
        <p:nvPicPr>
          <p:cNvPr id="5" name="Picture 4">
            <a:extLst>
              <a:ext uri="{FF2B5EF4-FFF2-40B4-BE49-F238E27FC236}">
                <a16:creationId xmlns:a16="http://schemas.microsoft.com/office/drawing/2014/main" id="{B51A64AD-03BA-48C7-9AE0-B63627F38846}"/>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422447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txBox="1">
            <a:spLocks noGrp="1"/>
          </p:cNvSpPr>
          <p:nvPr>
            <p:ph type="title"/>
          </p:nvPr>
        </p:nvSpPr>
        <p:spPr>
          <a:xfrm>
            <a:off x="2152650" y="365127"/>
            <a:ext cx="7886700" cy="1325563"/>
          </a:xfrm>
          <a:prstGeom prst="rect">
            <a:avLst/>
          </a:prstGeom>
          <a:noFill/>
          <a:ln>
            <a:noFill/>
          </a:ln>
        </p:spPr>
        <p:txBody>
          <a:bodyPr spcFirstLastPara="1" vert="horz" wrap="square" lIns="91425" tIns="45700" rIns="91425" bIns="45700" rtlCol="0" anchor="ctr" anchorCtr="0">
            <a:normAutofit/>
          </a:bodyPr>
          <a:lstStyle/>
          <a:p>
            <a:pPr>
              <a:spcBef>
                <a:spcPts val="0"/>
              </a:spcBef>
              <a:buClr>
                <a:srgbClr val="C55A11"/>
              </a:buClr>
              <a:buSzPts val="3300"/>
            </a:pPr>
            <a:r>
              <a:rPr lang="en-US" b="1" dirty="0">
                <a:solidFill>
                  <a:srgbClr val="C55A11"/>
                </a:solidFill>
                <a:latin typeface="Arial"/>
                <a:ea typeface="Arial"/>
                <a:cs typeface="Arial"/>
                <a:sym typeface="Arial"/>
              </a:rPr>
              <a:t>Zoom Guidelines</a:t>
            </a:r>
            <a:endParaRPr dirty="0"/>
          </a:p>
        </p:txBody>
      </p:sp>
      <p:sp>
        <p:nvSpPr>
          <p:cNvPr id="102" name="Google Shape;102;p2"/>
          <p:cNvSpPr txBox="1">
            <a:spLocks noGrp="1"/>
          </p:cNvSpPr>
          <p:nvPr>
            <p:ph type="body" idx="1"/>
          </p:nvPr>
        </p:nvSpPr>
        <p:spPr>
          <a:xfrm>
            <a:off x="2152650" y="1825625"/>
            <a:ext cx="8041680" cy="4790965"/>
          </a:xfrm>
          <a:prstGeom prst="rect">
            <a:avLst/>
          </a:prstGeom>
          <a:noFill/>
          <a:ln>
            <a:noFill/>
          </a:ln>
        </p:spPr>
        <p:txBody>
          <a:bodyPr spcFirstLastPara="1" vert="horz" wrap="square" lIns="91425" tIns="45700" rIns="91425" bIns="45700" rtlCol="0" anchor="t" anchorCtr="0">
            <a:normAutofit/>
          </a:bodyPr>
          <a:lstStyle/>
          <a:p>
            <a:pPr marL="342900">
              <a:lnSpc>
                <a:spcPct val="150000"/>
              </a:lnSpc>
              <a:spcBef>
                <a:spcPts val="0"/>
              </a:spcBef>
              <a:buSzPts val="2400"/>
            </a:pPr>
            <a:r>
              <a:rPr lang="en-US" sz="2400" dirty="0"/>
              <a:t>Mics are generally off</a:t>
            </a:r>
          </a:p>
          <a:p>
            <a:pPr marL="342900">
              <a:lnSpc>
                <a:spcPct val="150000"/>
              </a:lnSpc>
              <a:spcBef>
                <a:spcPts val="0"/>
              </a:spcBef>
              <a:buSzPts val="2400"/>
            </a:pPr>
            <a:r>
              <a:rPr lang="en-US" sz="2400" dirty="0"/>
              <a:t>There will be time for questions between topics</a:t>
            </a:r>
          </a:p>
          <a:p>
            <a:pPr marL="342900">
              <a:lnSpc>
                <a:spcPct val="150000"/>
              </a:lnSpc>
              <a:spcBef>
                <a:spcPts val="0"/>
              </a:spcBef>
              <a:buSzPts val="2400"/>
            </a:pPr>
            <a:r>
              <a:rPr lang="en-US" sz="2400" dirty="0"/>
              <a:t>Use the chat and the Raise Hand ability to raise technical issues</a:t>
            </a:r>
            <a:endParaRPr lang="he-IL" sz="2400" dirty="0"/>
          </a:p>
          <a:p>
            <a:pPr marL="342900">
              <a:lnSpc>
                <a:spcPct val="150000"/>
              </a:lnSpc>
              <a:spcBef>
                <a:spcPts val="0"/>
              </a:spcBef>
              <a:buSzPts val="2400"/>
            </a:pPr>
            <a:r>
              <a:rPr lang="en-US" sz="2400" dirty="0"/>
              <a:t>Recitations are recorded and will be published</a:t>
            </a:r>
          </a:p>
          <a:p>
            <a:pPr marL="342900">
              <a:lnSpc>
                <a:spcPct val="150000"/>
              </a:lnSpc>
              <a:spcBef>
                <a:spcPts val="0"/>
              </a:spcBef>
              <a:buSzPts val="2400"/>
            </a:pPr>
            <a:r>
              <a:rPr lang="en-US" sz="2400" dirty="0"/>
              <a:t>Reception hours are not recorded</a:t>
            </a:r>
          </a:p>
        </p:txBody>
      </p:sp>
      <p:pic>
        <p:nvPicPr>
          <p:cNvPr id="5" name="Picture 4">
            <a:extLst>
              <a:ext uri="{FF2B5EF4-FFF2-40B4-BE49-F238E27FC236}">
                <a16:creationId xmlns:a16="http://schemas.microsoft.com/office/drawing/2014/main" id="{0C5B8662-5912-48E1-91FB-4B3A8C612F0D}"/>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118375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txBox="1">
            <a:spLocks noGrp="1"/>
          </p:cNvSpPr>
          <p:nvPr>
            <p:ph type="title"/>
          </p:nvPr>
        </p:nvSpPr>
        <p:spPr>
          <a:xfrm>
            <a:off x="2152650" y="365127"/>
            <a:ext cx="7886700" cy="1325563"/>
          </a:xfrm>
          <a:prstGeom prst="rect">
            <a:avLst/>
          </a:prstGeom>
          <a:noFill/>
          <a:ln>
            <a:noFill/>
          </a:ln>
        </p:spPr>
        <p:txBody>
          <a:bodyPr spcFirstLastPara="1" vert="horz" wrap="square" lIns="91425" tIns="45700" rIns="91425" bIns="45700" rtlCol="0" anchor="ctr" anchorCtr="0">
            <a:normAutofit/>
          </a:bodyPr>
          <a:lstStyle/>
          <a:p>
            <a:pPr>
              <a:spcBef>
                <a:spcPts val="0"/>
              </a:spcBef>
              <a:buClr>
                <a:srgbClr val="C55A11"/>
              </a:buClr>
              <a:buSzPts val="3300"/>
            </a:pPr>
            <a:r>
              <a:rPr lang="en-US" b="1" dirty="0">
                <a:solidFill>
                  <a:srgbClr val="C55A11"/>
                </a:solidFill>
                <a:latin typeface="Arial"/>
                <a:ea typeface="Arial"/>
                <a:cs typeface="Arial"/>
                <a:sym typeface="Arial"/>
              </a:rPr>
              <a:t>Recitation Structure</a:t>
            </a:r>
            <a:endParaRPr dirty="0"/>
          </a:p>
        </p:txBody>
      </p:sp>
      <p:sp>
        <p:nvSpPr>
          <p:cNvPr id="102" name="Google Shape;102;p2"/>
          <p:cNvSpPr txBox="1">
            <a:spLocks noGrp="1"/>
          </p:cNvSpPr>
          <p:nvPr>
            <p:ph type="body" idx="1"/>
          </p:nvPr>
        </p:nvSpPr>
        <p:spPr>
          <a:xfrm>
            <a:off x="2152650" y="1825625"/>
            <a:ext cx="8041680" cy="4790965"/>
          </a:xfrm>
          <a:prstGeom prst="rect">
            <a:avLst/>
          </a:prstGeom>
          <a:noFill/>
          <a:ln>
            <a:noFill/>
          </a:ln>
        </p:spPr>
        <p:txBody>
          <a:bodyPr spcFirstLastPara="1" vert="horz" wrap="square" lIns="91425" tIns="45700" rIns="91425" bIns="45700" rtlCol="0" anchor="t" anchorCtr="0">
            <a:normAutofit/>
          </a:bodyPr>
          <a:lstStyle/>
          <a:p>
            <a:pPr marL="342900">
              <a:lnSpc>
                <a:spcPct val="150000"/>
              </a:lnSpc>
              <a:spcBef>
                <a:spcPts val="0"/>
              </a:spcBef>
              <a:buSzPts val="2400"/>
            </a:pPr>
            <a:r>
              <a:rPr lang="en-US" sz="2400" dirty="0"/>
              <a:t>Review of select topics from previous lecture</a:t>
            </a:r>
          </a:p>
          <a:p>
            <a:pPr marL="342900">
              <a:lnSpc>
                <a:spcPct val="150000"/>
              </a:lnSpc>
              <a:spcBef>
                <a:spcPts val="0"/>
              </a:spcBef>
              <a:buSzPts val="2400"/>
            </a:pPr>
            <a:r>
              <a:rPr lang="en-US" sz="2400" dirty="0"/>
              <a:t>Live demonstrations</a:t>
            </a:r>
          </a:p>
          <a:p>
            <a:pPr marL="342900">
              <a:lnSpc>
                <a:spcPct val="150000"/>
              </a:lnSpc>
              <a:spcBef>
                <a:spcPts val="0"/>
              </a:spcBef>
              <a:buSzPts val="2400"/>
            </a:pPr>
            <a:r>
              <a:rPr lang="en-US" sz="2400" dirty="0"/>
              <a:t>Your turn - live, short practice sessions</a:t>
            </a:r>
          </a:p>
        </p:txBody>
      </p:sp>
      <p:pic>
        <p:nvPicPr>
          <p:cNvPr id="5" name="Picture 4">
            <a:extLst>
              <a:ext uri="{FF2B5EF4-FFF2-40B4-BE49-F238E27FC236}">
                <a16:creationId xmlns:a16="http://schemas.microsoft.com/office/drawing/2014/main" id="{2A2C8842-091B-4C68-9EBD-75871A3D3852}"/>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3037436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normAutofit/>
          </a:bodyPr>
          <a:lstStyle/>
          <a:p>
            <a:pPr eaLnBrk="1" hangingPunct="1"/>
            <a:r>
              <a:rPr lang="en-US" altLang="en-US" b="1" dirty="0">
                <a:solidFill>
                  <a:schemeClr val="accent2">
                    <a:lumMod val="75000"/>
                  </a:schemeClr>
                </a:solidFill>
                <a:latin typeface="Arial" panose="020B0604020202020204" pitchFamily="34" charset="0"/>
                <a:cs typeface="Arial" panose="020B0604020202020204" pitchFamily="34" charset="0"/>
              </a:rPr>
              <a:t>Linux/UNIX file system</a:t>
            </a:r>
          </a:p>
        </p:txBody>
      </p:sp>
      <p:sp>
        <p:nvSpPr>
          <p:cNvPr id="92163" name="Rectangle 3"/>
          <p:cNvSpPr>
            <a:spLocks noGrp="1" noChangeArrowheads="1"/>
          </p:cNvSpPr>
          <p:nvPr>
            <p:ph idx="1"/>
          </p:nvPr>
        </p:nvSpPr>
        <p:spPr/>
        <p:txBody>
          <a:bodyPr>
            <a:normAutofit/>
          </a:bodyPr>
          <a:lstStyle/>
          <a:p>
            <a:pPr>
              <a:spcBef>
                <a:spcPts val="1800"/>
              </a:spcBef>
            </a:pPr>
            <a:r>
              <a:rPr lang="en-US" altLang="en-US" sz="2400" dirty="0"/>
              <a:t>Files in the Linux operating system are arranged in a hierarchical structure</a:t>
            </a:r>
          </a:p>
          <a:p>
            <a:pPr>
              <a:spcBef>
                <a:spcPts val="1800"/>
              </a:spcBef>
            </a:pPr>
            <a:r>
              <a:rPr lang="en-US" altLang="en-US" sz="2400" dirty="0"/>
              <a:t>Path components are separated by a forward slash </a:t>
            </a:r>
            <a:r>
              <a:rPr lang="en-US" altLang="en-US" sz="2400" dirty="0">
                <a:latin typeface="Times New Roman" panose="02020603050405020304" pitchFamily="18" charset="0"/>
              </a:rPr>
              <a:t>–</a:t>
            </a:r>
            <a:r>
              <a:rPr lang="en-US" altLang="en-US" sz="2400" dirty="0"/>
              <a:t> '</a:t>
            </a:r>
            <a:r>
              <a:rPr lang="en-US" altLang="en-US" sz="2400" b="1" dirty="0">
                <a:solidFill>
                  <a:schemeClr val="tx2"/>
                </a:solidFill>
                <a:latin typeface="Courier New" panose="02070309020205020404" pitchFamily="49" charset="0"/>
                <a:cs typeface="Courier New" panose="02070309020205020404" pitchFamily="49" charset="0"/>
              </a:rPr>
              <a:t>/</a:t>
            </a:r>
            <a:r>
              <a:rPr lang="en-US" altLang="en-US" sz="2400" dirty="0"/>
              <a:t>'</a:t>
            </a:r>
            <a:br>
              <a:rPr lang="en-US" altLang="en-US" sz="2400" dirty="0"/>
            </a:br>
            <a:r>
              <a:rPr lang="en-US" altLang="en-US" sz="2400" dirty="0"/>
              <a:t>(not by a backslash - '</a:t>
            </a:r>
            <a:r>
              <a:rPr lang="en-US" altLang="en-US" sz="2400" b="1" dirty="0">
                <a:solidFill>
                  <a:schemeClr val="tx2"/>
                </a:solidFill>
                <a:latin typeface="Courier New" panose="02070309020205020404" pitchFamily="49" charset="0"/>
                <a:cs typeface="Courier New" panose="02070309020205020404" pitchFamily="49" charset="0"/>
              </a:rPr>
              <a:t>\</a:t>
            </a:r>
            <a:r>
              <a:rPr lang="en-US" altLang="en-US" sz="2400" dirty="0"/>
              <a:t>')</a:t>
            </a:r>
          </a:p>
          <a:p>
            <a:pPr>
              <a:spcBef>
                <a:spcPts val="1800"/>
              </a:spcBef>
            </a:pPr>
            <a:r>
              <a:rPr lang="en-US" altLang="en-US" sz="2400" dirty="0"/>
              <a:t>At the top of the structure there is the root directory: ‘</a:t>
            </a:r>
            <a:r>
              <a:rPr lang="en-US" altLang="en-US" sz="2400" b="1" dirty="0">
                <a:solidFill>
                  <a:schemeClr val="tx2"/>
                </a:solidFill>
                <a:latin typeface="Courier New" panose="02070309020205020404" pitchFamily="49" charset="0"/>
                <a:cs typeface="Courier New" panose="02070309020205020404" pitchFamily="49" charset="0"/>
              </a:rPr>
              <a:t>/</a:t>
            </a:r>
            <a:r>
              <a:rPr lang="en-US" altLang="en-US" sz="2400" dirty="0"/>
              <a:t>’</a:t>
            </a:r>
            <a:br>
              <a:rPr lang="en-US" altLang="en-US" sz="2400" dirty="0"/>
            </a:br>
            <a:r>
              <a:rPr lang="en-US" altLang="en-US" sz="2400" dirty="0"/>
              <a:t>(Linux doesn't have drive letters like in windows -&gt; '</a:t>
            </a:r>
            <a:r>
              <a:rPr lang="en-US" altLang="en-US" sz="2400" dirty="0">
                <a:solidFill>
                  <a:schemeClr val="accent3">
                    <a:lumMod val="50000"/>
                  </a:schemeClr>
                </a:solidFill>
              </a:rPr>
              <a:t>c:</a:t>
            </a:r>
            <a:r>
              <a:rPr lang="en-US" altLang="en-US" sz="2400" b="1" dirty="0">
                <a:solidFill>
                  <a:schemeClr val="accent3">
                    <a:lumMod val="50000"/>
                  </a:schemeClr>
                </a:solidFill>
                <a:latin typeface="Courier New" panose="02070309020205020404" pitchFamily="49" charset="0"/>
                <a:cs typeface="Courier New" panose="02070309020205020404" pitchFamily="49" charset="0"/>
              </a:rPr>
              <a:t>\</a:t>
            </a:r>
            <a:r>
              <a:rPr lang="en-US" altLang="en-US" sz="2400" dirty="0"/>
              <a:t>', '</a:t>
            </a:r>
            <a:r>
              <a:rPr lang="en-US" altLang="en-US" sz="2400" dirty="0">
                <a:solidFill>
                  <a:schemeClr val="accent3">
                    <a:lumMod val="50000"/>
                  </a:schemeClr>
                </a:solidFill>
              </a:rPr>
              <a:t>d:\</a:t>
            </a:r>
            <a:r>
              <a:rPr lang="en-US" altLang="en-US" sz="2400" dirty="0"/>
              <a:t>')</a:t>
            </a:r>
          </a:p>
          <a:p>
            <a:pPr>
              <a:spcBef>
                <a:spcPts val="1800"/>
              </a:spcBef>
            </a:pPr>
            <a:r>
              <a:rPr lang="en-US" altLang="en-US" sz="2400" dirty="0"/>
              <a:t>Under the root directory there are various system directories</a:t>
            </a:r>
          </a:p>
          <a:p>
            <a:pPr>
              <a:spcBef>
                <a:spcPts val="1800"/>
              </a:spcBef>
            </a:pPr>
            <a:r>
              <a:rPr lang="en-US" altLang="en-US" sz="2400" dirty="0"/>
              <a:t>Each user has their own hierarchy of files</a:t>
            </a:r>
          </a:p>
          <a:p>
            <a:pPr>
              <a:spcBef>
                <a:spcPts val="1800"/>
              </a:spcBef>
            </a:pPr>
            <a:r>
              <a:rPr lang="en-US" altLang="en-US" sz="2400" dirty="0"/>
              <a:t>File system treats file and directory names as </a:t>
            </a:r>
            <a:r>
              <a:rPr lang="en-US" altLang="en-US" sz="2400" b="1" dirty="0"/>
              <a:t>case-sensitive</a:t>
            </a:r>
            <a:br>
              <a:rPr lang="en-US" altLang="en-US" sz="2400" dirty="0"/>
            </a:br>
            <a:r>
              <a:rPr lang="en-US" altLang="en-US" sz="2400" dirty="0"/>
              <a:t>for example, file.txt and File.txt will be treated as distinct files.</a:t>
            </a:r>
          </a:p>
          <a:p>
            <a:pPr>
              <a:spcBef>
                <a:spcPts val="1800"/>
              </a:spcBef>
            </a:pPr>
            <a:endParaRPr lang="en-US" altLang="en-US" sz="2400" dirty="0"/>
          </a:p>
        </p:txBody>
      </p:sp>
      <p:pic>
        <p:nvPicPr>
          <p:cNvPr id="4" name="Picture 3">
            <a:extLst>
              <a:ext uri="{FF2B5EF4-FFF2-40B4-BE49-F238E27FC236}">
                <a16:creationId xmlns:a16="http://schemas.microsoft.com/office/drawing/2014/main" id="{736A83D6-2F4A-4004-B06A-FD0564C70779}"/>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2212898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normAutofit/>
          </a:bodyPr>
          <a:lstStyle/>
          <a:p>
            <a:pPr eaLnBrk="1" hangingPunct="1"/>
            <a:r>
              <a:rPr lang="en-US" altLang="en-US" b="1" dirty="0">
                <a:solidFill>
                  <a:schemeClr val="accent2">
                    <a:lumMod val="75000"/>
                  </a:schemeClr>
                </a:solidFill>
                <a:latin typeface="Arial" panose="020B0604020202020204" pitchFamily="34" charset="0"/>
                <a:cs typeface="Arial" panose="020B0604020202020204" pitchFamily="34" charset="0"/>
              </a:rPr>
              <a:t>User home directory</a:t>
            </a:r>
          </a:p>
        </p:txBody>
      </p:sp>
      <p:sp>
        <p:nvSpPr>
          <p:cNvPr id="96259" name="Rectangle 3"/>
          <p:cNvSpPr>
            <a:spLocks noGrp="1" noChangeArrowheads="1"/>
          </p:cNvSpPr>
          <p:nvPr>
            <p:ph idx="1"/>
          </p:nvPr>
        </p:nvSpPr>
        <p:spPr>
          <a:xfrm>
            <a:off x="1845880" y="1901422"/>
            <a:ext cx="8424345" cy="2741800"/>
          </a:xfrm>
        </p:spPr>
        <p:txBody>
          <a:bodyPr>
            <a:normAutofit/>
          </a:bodyPr>
          <a:lstStyle/>
          <a:p>
            <a:pPr>
              <a:spcBef>
                <a:spcPts val="1800"/>
              </a:spcBef>
            </a:pPr>
            <a:r>
              <a:rPr lang="en-US" altLang="en-US" sz="2400" dirty="0"/>
              <a:t>The home directories of users normally reside under </a:t>
            </a:r>
            <a:r>
              <a:rPr lang="en-US" altLang="en-US" sz="2000" b="1" dirty="0">
                <a:solidFill>
                  <a:schemeClr val="tx2"/>
                </a:solidFill>
                <a:latin typeface="Courier New" panose="02070309020205020404" pitchFamily="49" charset="0"/>
                <a:cs typeface="Courier New" panose="02070309020205020404" pitchFamily="49" charset="0"/>
              </a:rPr>
              <a:t>/home  </a:t>
            </a:r>
            <a:r>
              <a:rPr lang="en-US" altLang="en-US" sz="2400" dirty="0"/>
              <a:t>(e.g., </a:t>
            </a:r>
            <a:r>
              <a:rPr lang="en-US" altLang="en-US" sz="2000" b="1" dirty="0">
                <a:solidFill>
                  <a:schemeClr val="tx2"/>
                </a:solidFill>
                <a:latin typeface="Courier New" panose="02070309020205020404" pitchFamily="49" charset="0"/>
                <a:cs typeface="Courier New" panose="02070309020205020404" pitchFamily="49" charset="0"/>
              </a:rPr>
              <a:t>/home/</a:t>
            </a:r>
            <a:r>
              <a:rPr lang="en-US" altLang="en-US" sz="2000" b="1" dirty="0" err="1">
                <a:solidFill>
                  <a:schemeClr val="tx2"/>
                </a:solidFill>
                <a:latin typeface="Courier New" panose="02070309020205020404" pitchFamily="49" charset="0"/>
                <a:cs typeface="Courier New" panose="02070309020205020404" pitchFamily="49" charset="0"/>
              </a:rPr>
              <a:t>donald.trump</a:t>
            </a:r>
            <a:r>
              <a:rPr lang="en-US" altLang="en-US" sz="2400" dirty="0"/>
              <a:t>)</a:t>
            </a:r>
          </a:p>
          <a:p>
            <a:pPr>
              <a:spcBef>
                <a:spcPts val="1800"/>
              </a:spcBef>
            </a:pPr>
            <a:r>
              <a:rPr lang="en-US" altLang="en-US" sz="2400" dirty="0"/>
              <a:t>For your own </a:t>
            </a:r>
            <a:r>
              <a:rPr lang="en-US" altLang="en-US" sz="2400" dirty="0" err="1"/>
              <a:t>homedir</a:t>
            </a:r>
            <a:r>
              <a:rPr lang="en-US" altLang="en-US" sz="2400" dirty="0"/>
              <a:t>, use ~</a:t>
            </a:r>
            <a:br>
              <a:rPr lang="en-US" altLang="en-US" sz="2400" dirty="0"/>
            </a:br>
            <a:r>
              <a:rPr lang="en-US" altLang="en-US" sz="2400" dirty="0"/>
              <a:t>‘</a:t>
            </a:r>
            <a:r>
              <a:rPr lang="en-US" altLang="en-US" sz="2400" b="1" dirty="0">
                <a:solidFill>
                  <a:schemeClr val="tx2"/>
                </a:solidFill>
                <a:latin typeface="Courier New" panose="02070309020205020404" pitchFamily="49" charset="0"/>
                <a:cs typeface="Courier New" panose="02070309020205020404" pitchFamily="49" charset="0"/>
              </a:rPr>
              <a:t>~</a:t>
            </a:r>
            <a:r>
              <a:rPr lang="en-US" altLang="en-US" sz="2400" dirty="0"/>
              <a:t>‘   </a:t>
            </a:r>
            <a:r>
              <a:rPr lang="en-US" altLang="en-US" sz="2400" dirty="0">
                <a:sym typeface="Wingdings" panose="05000000000000000000" pitchFamily="2" charset="2"/>
              </a:rPr>
              <a:t>&lt;==&gt;  ‘</a:t>
            </a:r>
            <a:r>
              <a:rPr lang="en-US" altLang="en-US" sz="2000" b="1" dirty="0">
                <a:solidFill>
                  <a:srgbClr val="515F7B"/>
                </a:solidFill>
                <a:latin typeface="Courier New" panose="02070309020205020404" pitchFamily="49" charset="0"/>
                <a:cs typeface="Courier New" panose="02070309020205020404" pitchFamily="49" charset="0"/>
              </a:rPr>
              <a:t>/home/</a:t>
            </a:r>
            <a:r>
              <a:rPr lang="en-US" altLang="en-US" sz="2000" b="1" dirty="0" err="1">
                <a:solidFill>
                  <a:srgbClr val="515F7B"/>
                </a:solidFill>
                <a:latin typeface="Courier New" panose="02070309020205020404" pitchFamily="49" charset="0"/>
                <a:cs typeface="Courier New" panose="02070309020205020404" pitchFamily="49" charset="0"/>
              </a:rPr>
              <a:t>donald.trump</a:t>
            </a:r>
            <a:r>
              <a:rPr lang="en-US" altLang="en-US" sz="2400" dirty="0">
                <a:sym typeface="Wingdings" panose="05000000000000000000" pitchFamily="2" charset="2"/>
              </a:rPr>
              <a:t>’</a:t>
            </a:r>
            <a:endParaRPr lang="en-US" altLang="en-US" sz="2400" dirty="0"/>
          </a:p>
        </p:txBody>
      </p:sp>
      <p:pic>
        <p:nvPicPr>
          <p:cNvPr id="4" name="Picture 3">
            <a:extLst>
              <a:ext uri="{FF2B5EF4-FFF2-40B4-BE49-F238E27FC236}">
                <a16:creationId xmlns:a16="http://schemas.microsoft.com/office/drawing/2014/main" id="{FBD526FE-AB4F-40D2-8689-F35B0898FB0A}"/>
              </a:ext>
            </a:extLst>
          </p:cNvPr>
          <p:cNvPicPr>
            <a:picLocks noChangeAspect="1"/>
          </p:cNvPicPr>
          <p:nvPr/>
        </p:nvPicPr>
        <p:blipFill>
          <a:blip r:embed="rId3"/>
          <a:stretch>
            <a:fillRect/>
          </a:stretch>
        </p:blipFill>
        <p:spPr>
          <a:xfrm>
            <a:off x="4371670" y="2972312"/>
            <a:ext cx="7206349" cy="3341820"/>
          </a:xfrm>
          <a:prstGeom prst="rect">
            <a:avLst/>
          </a:prstGeom>
        </p:spPr>
      </p:pic>
      <p:sp>
        <p:nvSpPr>
          <p:cNvPr id="2" name="Oval 1">
            <a:extLst>
              <a:ext uri="{FF2B5EF4-FFF2-40B4-BE49-F238E27FC236}">
                <a16:creationId xmlns:a16="http://schemas.microsoft.com/office/drawing/2014/main" id="{A2D2D144-BD0B-4137-8DA0-BC49BB46BDBD}"/>
              </a:ext>
            </a:extLst>
          </p:cNvPr>
          <p:cNvSpPr/>
          <p:nvPr/>
        </p:nvSpPr>
        <p:spPr>
          <a:xfrm>
            <a:off x="7366000" y="5534039"/>
            <a:ext cx="1810960" cy="730814"/>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9E500F06-2E81-47FE-B82B-DA5ACE7DC86B}"/>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4177341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a:xfrm>
            <a:off x="2152650" y="365127"/>
            <a:ext cx="9104210" cy="1325563"/>
          </a:xfrm>
        </p:spPr>
        <p:txBody>
          <a:bodyPr>
            <a:normAutofit/>
          </a:bodyPr>
          <a:lstStyle/>
          <a:p>
            <a:pPr eaLnBrk="1" hangingPunct="1"/>
            <a:r>
              <a:rPr lang="en-US" altLang="en-US" sz="3100" b="1" dirty="0">
                <a:solidFill>
                  <a:schemeClr val="accent2">
                    <a:lumMod val="75000"/>
                  </a:schemeClr>
                </a:solidFill>
                <a:latin typeface="Arial" panose="020B0604020202020204" pitchFamily="34" charset="0"/>
                <a:cs typeface="Arial" panose="020B0604020202020204" pitchFamily="34" charset="0"/>
              </a:rPr>
              <a:t>Changing / displaying the current directory</a:t>
            </a:r>
            <a:endParaRPr lang="en-US" altLang="en-US" sz="3100" b="1" dirty="0">
              <a:latin typeface="Courier New" panose="02070309020205020404" pitchFamily="49" charset="0"/>
              <a:cs typeface="Courier New" panose="02070309020205020404" pitchFamily="49" charset="0"/>
            </a:endParaRPr>
          </a:p>
        </p:txBody>
      </p:sp>
      <p:sp>
        <p:nvSpPr>
          <p:cNvPr id="133123" name="Rectangle 3"/>
          <p:cNvSpPr>
            <a:spLocks noGrp="1" noChangeArrowheads="1"/>
          </p:cNvSpPr>
          <p:nvPr>
            <p:ph idx="1"/>
          </p:nvPr>
        </p:nvSpPr>
        <p:spPr/>
        <p:txBody>
          <a:bodyPr>
            <a:normAutofit/>
          </a:bodyPr>
          <a:lstStyle/>
          <a:p>
            <a:r>
              <a:rPr lang="en-US" altLang="en-US" sz="2400" dirty="0"/>
              <a:t>The </a:t>
            </a:r>
            <a:r>
              <a:rPr lang="en-US" altLang="en-US" sz="2400" b="1" dirty="0" err="1">
                <a:solidFill>
                  <a:schemeClr val="tx2"/>
                </a:solidFill>
                <a:latin typeface="Courier New" panose="02070309020205020404" pitchFamily="49" charset="0"/>
                <a:cs typeface="Courier New" panose="02070309020205020404" pitchFamily="49" charset="0"/>
              </a:rPr>
              <a:t>pwd</a:t>
            </a:r>
            <a:r>
              <a:rPr lang="en-US" altLang="en-US" sz="2400" b="1" dirty="0">
                <a:solidFill>
                  <a:schemeClr val="tx2"/>
                </a:solidFill>
                <a:latin typeface="Courier New" panose="02070309020205020404" pitchFamily="49" charset="0"/>
                <a:cs typeface="Courier New" panose="02070309020205020404" pitchFamily="49" charset="0"/>
              </a:rPr>
              <a:t> (Print Working </a:t>
            </a:r>
            <a:r>
              <a:rPr lang="en-US" altLang="en-US" sz="2400" b="1" dirty="0">
                <a:solidFill>
                  <a:schemeClr val="tx2"/>
                </a:solidFill>
                <a:latin typeface="Courier New" panose="02070309020205020404" pitchFamily="49" charset="0"/>
              </a:rPr>
              <a:t>Directory</a:t>
            </a:r>
            <a:r>
              <a:rPr lang="en-US" altLang="en-US" sz="2400" b="1" dirty="0">
                <a:solidFill>
                  <a:schemeClr val="tx2"/>
                </a:solidFill>
                <a:latin typeface="Courier New" panose="02070309020205020404" pitchFamily="49" charset="0"/>
                <a:cs typeface="Courier New" panose="02070309020205020404" pitchFamily="49" charset="0"/>
              </a:rPr>
              <a:t>)</a:t>
            </a:r>
            <a:r>
              <a:rPr lang="en-US" altLang="en-US" sz="2400" b="1" dirty="0"/>
              <a:t> </a:t>
            </a:r>
            <a:r>
              <a:rPr lang="en-US" altLang="en-US" sz="2400" dirty="0"/>
              <a:t>command displays the absolute path of the current directory:</a:t>
            </a:r>
          </a:p>
          <a:p>
            <a:endParaRPr lang="en-US" altLang="en-US" sz="2000" dirty="0"/>
          </a:p>
          <a:p>
            <a:pPr eaLnBrk="1" hangingPunct="1"/>
            <a:endParaRPr lang="en-US" altLang="en-US" sz="2000" dirty="0"/>
          </a:p>
          <a:p>
            <a:pPr eaLnBrk="1" hangingPunct="1"/>
            <a:endParaRPr lang="en-US" altLang="en-US" sz="2000" dirty="0"/>
          </a:p>
          <a:p>
            <a:pPr eaLnBrk="1" hangingPunct="1"/>
            <a:r>
              <a:rPr lang="en-US" altLang="en-US" sz="2400" dirty="0"/>
              <a:t>The </a:t>
            </a:r>
            <a:r>
              <a:rPr lang="en-US" altLang="en-US" sz="2400" b="1" dirty="0">
                <a:solidFill>
                  <a:schemeClr val="tx2"/>
                </a:solidFill>
                <a:latin typeface="Courier New" panose="02070309020205020404" pitchFamily="49" charset="0"/>
              </a:rPr>
              <a:t>cd (Change Directory)</a:t>
            </a:r>
            <a:r>
              <a:rPr lang="en-US" altLang="en-US" sz="2400" dirty="0"/>
              <a:t> command changes the current directory. Its general form is:</a:t>
            </a:r>
          </a:p>
          <a:p>
            <a:pPr eaLnBrk="1" hangingPunct="1"/>
            <a:endParaRPr lang="en-US" altLang="en-US" sz="2000" dirty="0"/>
          </a:p>
          <a:p>
            <a:pPr eaLnBrk="1" hangingPunct="1"/>
            <a:endParaRPr lang="en-US" altLang="en-US" sz="2000" dirty="0"/>
          </a:p>
          <a:p>
            <a:pPr eaLnBrk="1" hangingPunct="1"/>
            <a:r>
              <a:rPr lang="en-US" altLang="en-US" sz="2400" dirty="0"/>
              <a:t>With no parameters, </a:t>
            </a:r>
            <a:r>
              <a:rPr lang="en-US" altLang="en-US" sz="2400" b="1" dirty="0">
                <a:solidFill>
                  <a:schemeClr val="tx2"/>
                </a:solidFill>
                <a:latin typeface="Courier New" panose="02070309020205020404" pitchFamily="49" charset="0"/>
              </a:rPr>
              <a:t>cd</a:t>
            </a:r>
            <a:r>
              <a:rPr lang="en-US" altLang="en-US" sz="2400" dirty="0"/>
              <a:t>  changes the current directory to your home directory</a:t>
            </a:r>
          </a:p>
        </p:txBody>
      </p:sp>
      <p:sp>
        <p:nvSpPr>
          <p:cNvPr id="133124" name="Text Box 4"/>
          <p:cNvSpPr txBox="1">
            <a:spLocks noChangeArrowheads="1"/>
          </p:cNvSpPr>
          <p:nvPr/>
        </p:nvSpPr>
        <p:spPr bwMode="auto">
          <a:xfrm>
            <a:off x="2452688" y="4632010"/>
            <a:ext cx="7058235" cy="466725"/>
          </a:xfrm>
          <a:prstGeom prst="rect">
            <a:avLst/>
          </a:prstGeom>
          <a:solidFill>
            <a:schemeClr val="accent1"/>
          </a:solidFill>
          <a:ln w="9525">
            <a:solidFill>
              <a:schemeClr val="hlink"/>
            </a:solidFill>
            <a:miter lim="800000"/>
            <a:headEnd/>
            <a:tailEnd/>
          </a:ln>
        </p:spPr>
        <p:txBody>
          <a:bodyPr wrap="square">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r>
              <a:rPr lang="en-US" altLang="en-US" sz="2400" b="1" dirty="0">
                <a:solidFill>
                  <a:schemeClr val="tx2"/>
                </a:solidFill>
                <a:highlight>
                  <a:srgbClr val="FFFF00"/>
                </a:highlight>
                <a:latin typeface="Courier New" panose="02070309020205020404" pitchFamily="49" charset="0"/>
                <a:cs typeface="Courier New" panose="02070309020205020404" pitchFamily="49" charset="0"/>
              </a:rPr>
              <a:t>cd [directory-name]</a:t>
            </a:r>
          </a:p>
        </p:txBody>
      </p:sp>
      <p:sp>
        <p:nvSpPr>
          <p:cNvPr id="5" name="Text Box 6"/>
          <p:cNvSpPr txBox="1">
            <a:spLocks noChangeArrowheads="1"/>
          </p:cNvSpPr>
          <p:nvPr/>
        </p:nvSpPr>
        <p:spPr bwMode="auto">
          <a:xfrm>
            <a:off x="2452688" y="2733176"/>
            <a:ext cx="7040565" cy="461665"/>
          </a:xfrm>
          <a:prstGeom prst="rect">
            <a:avLst/>
          </a:prstGeom>
          <a:solidFill>
            <a:schemeClr val="accent1"/>
          </a:solidFill>
          <a:ln w="9525">
            <a:solidFill>
              <a:schemeClr val="hlink"/>
            </a:solidFill>
            <a:miter lim="800000"/>
            <a:headEnd/>
            <a:tailEnd/>
          </a:ln>
        </p:spPr>
        <p:txBody>
          <a:bodyPr wrap="square">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r>
              <a:rPr lang="en-US" altLang="en-US" sz="2400" b="1" dirty="0" err="1">
                <a:solidFill>
                  <a:schemeClr val="tx2"/>
                </a:solidFill>
                <a:highlight>
                  <a:srgbClr val="FFFF00"/>
                </a:highlight>
                <a:latin typeface="Courier New" panose="02070309020205020404" pitchFamily="49" charset="0"/>
                <a:cs typeface="Courier New" panose="02070309020205020404" pitchFamily="49" charset="0"/>
              </a:rPr>
              <a:t>pwd</a:t>
            </a:r>
            <a:endParaRPr lang="en-US" altLang="en-US" sz="2400" b="1" dirty="0">
              <a:solidFill>
                <a:schemeClr val="tx2"/>
              </a:solidFill>
              <a:highlight>
                <a:srgbClr val="FFFF00"/>
              </a:highlight>
              <a:latin typeface="Courier New" panose="02070309020205020404" pitchFamily="49" charset="0"/>
              <a:cs typeface="Courier New" panose="02070309020205020404" pitchFamily="49" charset="0"/>
            </a:endParaRPr>
          </a:p>
        </p:txBody>
      </p:sp>
      <p:sp>
        <p:nvSpPr>
          <p:cNvPr id="6" name="Text Box 7"/>
          <p:cNvSpPr txBox="1">
            <a:spLocks noChangeArrowheads="1"/>
          </p:cNvSpPr>
          <p:nvPr/>
        </p:nvSpPr>
        <p:spPr bwMode="auto">
          <a:xfrm>
            <a:off x="2452688" y="3188196"/>
            <a:ext cx="7058235" cy="461665"/>
          </a:xfrm>
          <a:prstGeom prst="rect">
            <a:avLst/>
          </a:prstGeom>
          <a:solidFill>
            <a:srgbClr val="ECEAAC"/>
          </a:solidFill>
          <a:ln w="9525">
            <a:solidFill>
              <a:schemeClr val="accent3">
                <a:lumMod val="75000"/>
              </a:schemeClr>
            </a:solidFill>
            <a:miter lim="800000"/>
            <a:headEnd/>
            <a:tailEnd/>
          </a:ln>
          <a:effectLst/>
        </p:spPr>
        <p:txBody>
          <a:bodyPr wrap="square">
            <a:spAutoFit/>
          </a:bodyPr>
          <a:lstStyle/>
          <a:p>
            <a:pPr>
              <a:defRPr/>
            </a:pPr>
            <a:r>
              <a:rPr lang="en-US" sz="2400" b="1" dirty="0">
                <a:latin typeface="Courier New" pitchFamily="49" charset="0"/>
                <a:cs typeface="Courier New" pitchFamily="49" charset="0"/>
              </a:rPr>
              <a:t>/home/</a:t>
            </a:r>
            <a:r>
              <a:rPr lang="en-US" sz="2400" b="1" dirty="0" err="1">
                <a:latin typeface="Courier New" pitchFamily="49" charset="0"/>
                <a:cs typeface="Courier New" pitchFamily="49" charset="0"/>
              </a:rPr>
              <a:t>donald.trump</a:t>
            </a:r>
            <a:r>
              <a:rPr lang="en-US" sz="2400" b="1" dirty="0">
                <a:latin typeface="Courier New" pitchFamily="49" charset="0"/>
                <a:cs typeface="Courier New" pitchFamily="49" charset="0"/>
              </a:rPr>
              <a:t>/exercises</a:t>
            </a:r>
          </a:p>
        </p:txBody>
      </p:sp>
      <p:pic>
        <p:nvPicPr>
          <p:cNvPr id="7" name="Picture 6">
            <a:extLst>
              <a:ext uri="{FF2B5EF4-FFF2-40B4-BE49-F238E27FC236}">
                <a16:creationId xmlns:a16="http://schemas.microsoft.com/office/drawing/2014/main" id="{05DE5153-D638-465E-AAF5-D42AECB006F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1970521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r>
              <a:rPr lang="en-US" altLang="en-US" b="1" dirty="0">
                <a:solidFill>
                  <a:schemeClr val="accent2">
                    <a:lumMod val="75000"/>
                  </a:schemeClr>
                </a:solidFill>
                <a:latin typeface="Courier New" panose="02070309020205020404" pitchFamily="49" charset="0"/>
                <a:cs typeface="Courier New" panose="02070309020205020404" pitchFamily="49" charset="0"/>
              </a:rPr>
              <a:t>ls </a:t>
            </a:r>
            <a:r>
              <a:rPr lang="en-US" altLang="en-US" b="1" dirty="0">
                <a:solidFill>
                  <a:schemeClr val="accent2">
                    <a:lumMod val="75000"/>
                  </a:schemeClr>
                </a:solidFill>
                <a:latin typeface="Arial" panose="020B0604020202020204" pitchFamily="34" charset="0"/>
                <a:cs typeface="Arial" panose="020B0604020202020204" pitchFamily="34" charset="0"/>
              </a:rPr>
              <a:t>– Listing</a:t>
            </a:r>
            <a:r>
              <a:rPr lang="en-US" altLang="en-US" dirty="0"/>
              <a:t> </a:t>
            </a:r>
            <a:r>
              <a:rPr lang="en-US" altLang="en-US" b="1" dirty="0">
                <a:solidFill>
                  <a:schemeClr val="accent2">
                    <a:lumMod val="75000"/>
                  </a:schemeClr>
                </a:solidFill>
                <a:latin typeface="Arial" panose="020B0604020202020204" pitchFamily="34" charset="0"/>
                <a:cs typeface="Arial" panose="020B0604020202020204" pitchFamily="34" charset="0"/>
              </a:rPr>
              <a:t>directory contents</a:t>
            </a:r>
            <a:endParaRPr lang="en-US" altLang="en-US" b="1" dirty="0">
              <a:solidFill>
                <a:srgbClr val="C00000"/>
              </a:solidFill>
              <a:latin typeface="Courier New" panose="02070309020205020404" pitchFamily="49" charset="0"/>
              <a:cs typeface="Courier New" panose="02070309020205020404" pitchFamily="49" charset="0"/>
            </a:endParaRPr>
          </a:p>
        </p:txBody>
      </p:sp>
      <p:sp>
        <p:nvSpPr>
          <p:cNvPr id="102403" name="Rectangle 3"/>
          <p:cNvSpPr>
            <a:spLocks noGrp="1" noChangeArrowheads="1"/>
          </p:cNvSpPr>
          <p:nvPr>
            <p:ph idx="1"/>
          </p:nvPr>
        </p:nvSpPr>
        <p:spPr>
          <a:xfrm>
            <a:off x="2152650" y="1825625"/>
            <a:ext cx="7886700" cy="4790965"/>
          </a:xfrm>
        </p:spPr>
        <p:txBody>
          <a:bodyPr>
            <a:normAutofit fontScale="92500"/>
          </a:bodyPr>
          <a:lstStyle/>
          <a:p>
            <a:pPr marL="0" indent="0">
              <a:buNone/>
            </a:pPr>
            <a:r>
              <a:rPr lang="en-US" altLang="en-US" sz="2400" dirty="0"/>
              <a:t>The </a:t>
            </a:r>
            <a:r>
              <a:rPr lang="en-US" altLang="en-US" sz="2400" b="1" dirty="0">
                <a:solidFill>
                  <a:schemeClr val="tx2"/>
                </a:solidFill>
                <a:latin typeface="Courier New" panose="02070309020205020404" pitchFamily="49" charset="0"/>
                <a:cs typeface="Courier New" panose="02070309020205020404" pitchFamily="49" charset="0"/>
              </a:rPr>
              <a:t>ls</a:t>
            </a:r>
            <a:r>
              <a:rPr lang="en-US" altLang="en-US" sz="2400" dirty="0"/>
              <a:t> command lists the contents of some directory. Examples:</a:t>
            </a:r>
          </a:p>
          <a:p>
            <a:pPr marL="0" indent="0">
              <a:buNone/>
            </a:pPr>
            <a:br>
              <a:rPr lang="en-US" altLang="en-US" sz="2400" dirty="0"/>
            </a:br>
            <a:endParaRPr lang="en-US" altLang="en-US" sz="2400" dirty="0"/>
          </a:p>
          <a:p>
            <a:pPr lvl="1"/>
            <a:r>
              <a:rPr lang="en-US" altLang="en-US" dirty="0"/>
              <a:t>List the content of current directory</a:t>
            </a:r>
          </a:p>
          <a:p>
            <a:pPr lvl="1"/>
            <a:endParaRPr lang="en-US" altLang="en-US" dirty="0"/>
          </a:p>
          <a:p>
            <a:pPr lvl="1"/>
            <a:endParaRPr lang="en-US" altLang="en-US" dirty="0"/>
          </a:p>
          <a:p>
            <a:pPr lvl="1"/>
            <a:r>
              <a:rPr lang="en-US" altLang="en-US" dirty="0"/>
              <a:t>List the contents of directory </a:t>
            </a:r>
            <a:r>
              <a:rPr lang="en-US" altLang="en-US" b="1" dirty="0">
                <a:latin typeface="Courier New" panose="02070309020205020404" pitchFamily="49" charset="0"/>
                <a:cs typeface="Courier New" panose="02070309020205020404" pitchFamily="49" charset="0"/>
              </a:rPr>
              <a:t>bin</a:t>
            </a:r>
            <a:r>
              <a:rPr lang="en-US" altLang="en-US" dirty="0"/>
              <a:t> (relative path)</a:t>
            </a:r>
          </a:p>
          <a:p>
            <a:pPr lvl="1"/>
            <a:endParaRPr lang="en-US" altLang="en-US" dirty="0"/>
          </a:p>
          <a:p>
            <a:pPr lvl="1"/>
            <a:endParaRPr lang="en-US" altLang="en-US" dirty="0"/>
          </a:p>
          <a:p>
            <a:pPr lvl="1"/>
            <a:r>
              <a:rPr lang="en-US" altLang="en-US" dirty="0"/>
              <a:t>If there exists a file called </a:t>
            </a:r>
            <a:r>
              <a:rPr lang="en-US" altLang="en-US" b="1" dirty="0">
                <a:latin typeface="Courier New" panose="02070309020205020404" pitchFamily="49" charset="0"/>
                <a:cs typeface="Courier New" panose="02070309020205020404" pitchFamily="49" charset="0"/>
              </a:rPr>
              <a:t>a.txt</a:t>
            </a:r>
            <a:r>
              <a:rPr lang="en-US" altLang="en-US" dirty="0"/>
              <a:t> (relative path), then list it</a:t>
            </a:r>
          </a:p>
          <a:p>
            <a:pPr lvl="1"/>
            <a:endParaRPr lang="en-US" altLang="en-US" dirty="0"/>
          </a:p>
          <a:p>
            <a:pPr lvl="1"/>
            <a:endParaRPr lang="en-US" altLang="en-US" dirty="0"/>
          </a:p>
          <a:p>
            <a:pPr lvl="1">
              <a:spcBef>
                <a:spcPts val="0"/>
              </a:spcBef>
            </a:pPr>
            <a:r>
              <a:rPr lang="en-US" altLang="en-US" dirty="0"/>
              <a:t>Combination of the above</a:t>
            </a:r>
          </a:p>
          <a:p>
            <a:pPr lvl="1"/>
            <a:endParaRPr lang="en-US" altLang="en-US" sz="2000" dirty="0"/>
          </a:p>
          <a:p>
            <a:pPr lvl="1"/>
            <a:endParaRPr lang="en-US" altLang="en-US" sz="2000" dirty="0"/>
          </a:p>
        </p:txBody>
      </p:sp>
      <p:sp>
        <p:nvSpPr>
          <p:cNvPr id="4" name="Text Box 6"/>
          <p:cNvSpPr txBox="1">
            <a:spLocks noChangeArrowheads="1"/>
          </p:cNvSpPr>
          <p:nvPr/>
        </p:nvSpPr>
        <p:spPr bwMode="auto">
          <a:xfrm>
            <a:off x="2225356" y="2390956"/>
            <a:ext cx="7058235" cy="461665"/>
          </a:xfrm>
          <a:prstGeom prst="rect">
            <a:avLst/>
          </a:prstGeom>
          <a:solidFill>
            <a:schemeClr val="accent1"/>
          </a:solidFill>
          <a:ln w="9525">
            <a:solidFill>
              <a:schemeClr val="hlink"/>
            </a:solidFill>
            <a:miter lim="800000"/>
            <a:headEnd/>
            <a:tailEnd/>
          </a:ln>
        </p:spPr>
        <p:txBody>
          <a:bodyPr wrap="square">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r>
              <a:rPr lang="en-US" altLang="en-US" sz="2400" b="1" dirty="0">
                <a:highlight>
                  <a:srgbClr val="FFFF00"/>
                </a:highlight>
                <a:latin typeface="Courier New" panose="02070309020205020404" pitchFamily="49" charset="0"/>
                <a:cs typeface="Courier New" panose="02070309020205020404" pitchFamily="49" charset="0"/>
              </a:rPr>
              <a:t>ls</a:t>
            </a:r>
          </a:p>
        </p:txBody>
      </p:sp>
      <p:sp>
        <p:nvSpPr>
          <p:cNvPr id="5" name="Text Box 6"/>
          <p:cNvSpPr txBox="1">
            <a:spLocks noChangeArrowheads="1"/>
          </p:cNvSpPr>
          <p:nvPr/>
        </p:nvSpPr>
        <p:spPr bwMode="auto">
          <a:xfrm>
            <a:off x="2225356" y="3431934"/>
            <a:ext cx="7058235" cy="461665"/>
          </a:xfrm>
          <a:prstGeom prst="rect">
            <a:avLst/>
          </a:prstGeom>
          <a:solidFill>
            <a:schemeClr val="accent1"/>
          </a:solidFill>
          <a:ln w="9525">
            <a:solidFill>
              <a:schemeClr val="hlink"/>
            </a:solidFill>
            <a:miter lim="800000"/>
            <a:headEnd/>
            <a:tailEnd/>
          </a:ln>
        </p:spPr>
        <p:txBody>
          <a:bodyPr wrap="square">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r>
              <a:rPr lang="en-US" altLang="en-US" sz="2400" b="1" dirty="0">
                <a:highlight>
                  <a:srgbClr val="FFFF00"/>
                </a:highlight>
                <a:latin typeface="Courier New" panose="02070309020205020404" pitchFamily="49" charset="0"/>
                <a:cs typeface="Courier New" panose="02070309020205020404" pitchFamily="49" charset="0"/>
              </a:rPr>
              <a:t>ls bin</a:t>
            </a:r>
          </a:p>
        </p:txBody>
      </p:sp>
      <p:sp>
        <p:nvSpPr>
          <p:cNvPr id="6" name="Text Box 6"/>
          <p:cNvSpPr txBox="1">
            <a:spLocks noChangeArrowheads="1"/>
          </p:cNvSpPr>
          <p:nvPr/>
        </p:nvSpPr>
        <p:spPr bwMode="auto">
          <a:xfrm>
            <a:off x="2225355" y="4452165"/>
            <a:ext cx="7058235" cy="461665"/>
          </a:xfrm>
          <a:prstGeom prst="rect">
            <a:avLst/>
          </a:prstGeom>
          <a:solidFill>
            <a:schemeClr val="accent1"/>
          </a:solidFill>
          <a:ln w="9525">
            <a:solidFill>
              <a:schemeClr val="hlink"/>
            </a:solidFill>
            <a:miter lim="800000"/>
            <a:headEnd/>
            <a:tailEnd/>
          </a:ln>
        </p:spPr>
        <p:txBody>
          <a:bodyPr wrap="square">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r>
              <a:rPr lang="en-US" altLang="en-US" sz="2400" b="1" dirty="0">
                <a:highlight>
                  <a:srgbClr val="FFFF00"/>
                </a:highlight>
                <a:latin typeface="Courier New" panose="02070309020205020404" pitchFamily="49" charset="0"/>
                <a:cs typeface="Courier New" panose="02070309020205020404" pitchFamily="49" charset="0"/>
              </a:rPr>
              <a:t>ls a.txt</a:t>
            </a:r>
          </a:p>
        </p:txBody>
      </p:sp>
      <p:sp>
        <p:nvSpPr>
          <p:cNvPr id="7" name="Text Box 6">
            <a:extLst>
              <a:ext uri="{FF2B5EF4-FFF2-40B4-BE49-F238E27FC236}">
                <a16:creationId xmlns:a16="http://schemas.microsoft.com/office/drawing/2014/main" id="{47E63ED0-8C55-4678-BF1F-BF56FB37167A}"/>
              </a:ext>
            </a:extLst>
          </p:cNvPr>
          <p:cNvSpPr txBox="1">
            <a:spLocks noChangeArrowheads="1"/>
          </p:cNvSpPr>
          <p:nvPr/>
        </p:nvSpPr>
        <p:spPr bwMode="auto">
          <a:xfrm>
            <a:off x="2225355" y="5587729"/>
            <a:ext cx="7058235" cy="461665"/>
          </a:xfrm>
          <a:prstGeom prst="rect">
            <a:avLst/>
          </a:prstGeom>
          <a:solidFill>
            <a:schemeClr val="accent1"/>
          </a:solidFill>
          <a:ln w="9525">
            <a:solidFill>
              <a:schemeClr val="hlink"/>
            </a:solidFill>
            <a:miter lim="800000"/>
            <a:headEnd/>
            <a:tailEnd/>
          </a:ln>
        </p:spPr>
        <p:txBody>
          <a:bodyPr wrap="square">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r>
              <a:rPr lang="en-US" altLang="en-US" sz="2400" b="1" dirty="0">
                <a:highlight>
                  <a:srgbClr val="FFFF00"/>
                </a:highlight>
                <a:latin typeface="Courier New" panose="02070309020205020404" pitchFamily="49" charset="0"/>
                <a:cs typeface="Courier New" panose="02070309020205020404" pitchFamily="49" charset="0"/>
              </a:rPr>
              <a:t>ls a.txt bin</a:t>
            </a:r>
          </a:p>
        </p:txBody>
      </p:sp>
      <p:pic>
        <p:nvPicPr>
          <p:cNvPr id="8" name="Picture 7">
            <a:extLst>
              <a:ext uri="{FF2B5EF4-FFF2-40B4-BE49-F238E27FC236}">
                <a16:creationId xmlns:a16="http://schemas.microsoft.com/office/drawing/2014/main" id="{A26DD9BE-6385-41FB-9051-BC7582E4B1C7}"/>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3316894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txBox="1">
            <a:spLocks noGrp="1"/>
          </p:cNvSpPr>
          <p:nvPr>
            <p:ph type="title"/>
          </p:nvPr>
        </p:nvSpPr>
        <p:spPr>
          <a:xfrm>
            <a:off x="2152650" y="365127"/>
            <a:ext cx="7886700" cy="1325563"/>
          </a:xfrm>
          <a:prstGeom prst="rect">
            <a:avLst/>
          </a:prstGeom>
          <a:noFill/>
          <a:ln>
            <a:noFill/>
          </a:ln>
        </p:spPr>
        <p:txBody>
          <a:bodyPr spcFirstLastPara="1" vert="horz" wrap="square" lIns="91425" tIns="45700" rIns="91425" bIns="45700" rtlCol="0" anchor="ctr" anchorCtr="0">
            <a:normAutofit/>
          </a:bodyPr>
          <a:lstStyle/>
          <a:p>
            <a:pPr>
              <a:spcBef>
                <a:spcPts val="0"/>
              </a:spcBef>
              <a:buClr>
                <a:srgbClr val="C55A11"/>
              </a:buClr>
              <a:buSzPts val="3300"/>
            </a:pPr>
            <a:r>
              <a:rPr lang="en-US" b="1" dirty="0">
                <a:solidFill>
                  <a:srgbClr val="C55A11"/>
                </a:solidFill>
                <a:latin typeface="Arial"/>
                <a:ea typeface="Arial"/>
                <a:cs typeface="Arial"/>
                <a:sym typeface="Arial"/>
              </a:rPr>
              <a:t>Command demo</a:t>
            </a:r>
            <a:endParaRPr dirty="0"/>
          </a:p>
        </p:txBody>
      </p:sp>
      <p:sp>
        <p:nvSpPr>
          <p:cNvPr id="6" name="Text Box 6">
            <a:extLst>
              <a:ext uri="{FF2B5EF4-FFF2-40B4-BE49-F238E27FC236}">
                <a16:creationId xmlns:a16="http://schemas.microsoft.com/office/drawing/2014/main" id="{271865E4-B1E0-6E49-B819-DA7D6EFBF692}"/>
              </a:ext>
            </a:extLst>
          </p:cNvPr>
          <p:cNvSpPr txBox="1">
            <a:spLocks noChangeArrowheads="1"/>
          </p:cNvSpPr>
          <p:nvPr/>
        </p:nvSpPr>
        <p:spPr bwMode="auto">
          <a:xfrm>
            <a:off x="778933" y="2090173"/>
            <a:ext cx="10453511" cy="3108543"/>
          </a:xfrm>
          <a:prstGeom prst="rect">
            <a:avLst/>
          </a:prstGeom>
          <a:solidFill>
            <a:schemeClr val="accent1"/>
          </a:solidFill>
          <a:ln w="9525">
            <a:solidFill>
              <a:schemeClr val="hlink"/>
            </a:solidFill>
            <a:miter lim="800000"/>
            <a:headEnd/>
            <a:tailEnd/>
          </a:ln>
        </p:spPr>
        <p:txBody>
          <a:bodyPr wrap="square">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r>
              <a:rPr lang="en-US" altLang="en-US" sz="2800" b="1" dirty="0" err="1">
                <a:latin typeface="Courier New" panose="02070309020205020404" pitchFamily="49" charset="0"/>
                <a:cs typeface="Courier New" panose="02070309020205020404" pitchFamily="49" charset="0"/>
              </a:rPr>
              <a:t>pwd</a:t>
            </a:r>
            <a:r>
              <a:rPr lang="en-US" altLang="en-US" sz="2800" b="1" dirty="0">
                <a:latin typeface="Courier New" panose="02070309020205020404" pitchFamily="49" charset="0"/>
                <a:cs typeface="Courier New" panose="02070309020205020404" pitchFamily="49" charset="0"/>
              </a:rPr>
              <a:t>               # (to see location of </a:t>
            </a:r>
            <a:r>
              <a:rPr lang="en-US" altLang="en-US" sz="2800" b="1" dirty="0" err="1">
                <a:latin typeface="Courier New" panose="02070309020205020404" pitchFamily="49" charset="0"/>
                <a:cs typeface="Courier New" panose="02070309020205020404" pitchFamily="49" charset="0"/>
              </a:rPr>
              <a:t>homedir</a:t>
            </a:r>
            <a:r>
              <a:rPr lang="en-US" altLang="en-US" sz="2800" b="1" dirty="0">
                <a:latin typeface="Courier New" panose="02070309020205020404" pitchFamily="49" charset="0"/>
                <a:cs typeface="Courier New" panose="02070309020205020404" pitchFamily="49" charset="0"/>
              </a:rPr>
              <a:t>)</a:t>
            </a:r>
          </a:p>
          <a:p>
            <a:r>
              <a:rPr lang="en-US" altLang="en-US" sz="2800" b="1" dirty="0">
                <a:latin typeface="Courier New" panose="02070309020205020404" pitchFamily="49" charset="0"/>
                <a:cs typeface="Courier New" panose="02070309020205020404" pitchFamily="49" charset="0"/>
              </a:rPr>
              <a:t>cd recitations</a:t>
            </a:r>
          </a:p>
          <a:p>
            <a:r>
              <a:rPr lang="en-US" altLang="en-US" sz="2800" b="1" dirty="0">
                <a:latin typeface="Courier New" panose="02070309020205020404" pitchFamily="49" charset="0"/>
                <a:cs typeface="Courier New" panose="02070309020205020404" pitchFamily="49" charset="0"/>
              </a:rPr>
              <a:t>cd recitation01</a:t>
            </a:r>
          </a:p>
          <a:p>
            <a:r>
              <a:rPr lang="en-US" altLang="en-US" sz="2800" b="1" dirty="0" err="1">
                <a:latin typeface="Courier New" panose="02070309020205020404" pitchFamily="49" charset="0"/>
                <a:cs typeface="Courier New" panose="02070309020205020404" pitchFamily="49" charset="0"/>
              </a:rPr>
              <a:t>pwd</a:t>
            </a:r>
            <a:endParaRPr lang="en-US" altLang="en-US" sz="2800" b="1" dirty="0">
              <a:latin typeface="Courier New" panose="02070309020205020404" pitchFamily="49" charset="0"/>
              <a:cs typeface="Courier New" panose="02070309020205020404" pitchFamily="49" charset="0"/>
            </a:endParaRPr>
          </a:p>
          <a:p>
            <a:r>
              <a:rPr lang="en-US" altLang="en-US" sz="2800" b="1" dirty="0">
                <a:latin typeface="Courier New" panose="02070309020205020404" pitchFamily="49" charset="0"/>
                <a:cs typeface="Courier New" panose="02070309020205020404" pitchFamily="49" charset="0"/>
              </a:rPr>
              <a:t>cd  ..            # (move up)</a:t>
            </a:r>
          </a:p>
          <a:p>
            <a:r>
              <a:rPr lang="en-US" altLang="en-US" sz="2800" b="1" dirty="0" err="1">
                <a:latin typeface="Courier New" panose="02070309020205020404" pitchFamily="49" charset="0"/>
                <a:cs typeface="Courier New" panose="02070309020205020404" pitchFamily="49" charset="0"/>
              </a:rPr>
              <a:t>pwd</a:t>
            </a:r>
            <a:endParaRPr lang="en-US" altLang="en-US" sz="2800" b="1" dirty="0">
              <a:latin typeface="Courier New" panose="02070309020205020404" pitchFamily="49" charset="0"/>
              <a:cs typeface="Courier New" panose="02070309020205020404" pitchFamily="49" charset="0"/>
            </a:endParaRPr>
          </a:p>
          <a:p>
            <a:r>
              <a:rPr lang="en-US" altLang="en-US" sz="2800" b="1" dirty="0">
                <a:latin typeface="Courier New" panose="02070309020205020404" pitchFamily="49" charset="0"/>
                <a:cs typeface="Courier New" panose="02070309020205020404" pitchFamily="49" charset="0"/>
              </a:rPr>
              <a:t>cd recitation01</a:t>
            </a:r>
          </a:p>
        </p:txBody>
      </p:sp>
      <p:pic>
        <p:nvPicPr>
          <p:cNvPr id="5" name="Picture 4">
            <a:extLst>
              <a:ext uri="{FF2B5EF4-FFF2-40B4-BE49-F238E27FC236}">
                <a16:creationId xmlns:a16="http://schemas.microsoft.com/office/drawing/2014/main" id="{B32B530C-3A38-4EAA-A606-70D2D55DEC44}"/>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4165708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7FB26-AF1E-4E8E-B9C0-A09F5207B201}"/>
              </a:ext>
            </a:extLst>
          </p:cNvPr>
          <p:cNvSpPr>
            <a:spLocks noGrp="1"/>
          </p:cNvSpPr>
          <p:nvPr>
            <p:ph type="title"/>
          </p:nvPr>
        </p:nvSpPr>
        <p:spPr/>
        <p:txBody>
          <a:bodyPr/>
          <a:lstStyle/>
          <a:p>
            <a:r>
              <a:rPr lang="en-US" sz="3300" b="1" dirty="0">
                <a:solidFill>
                  <a:srgbClr val="C55A11"/>
                </a:solidFill>
                <a:latin typeface="Arial"/>
                <a:cs typeface="Arial"/>
                <a:sym typeface="Calibri"/>
              </a:rPr>
              <a:t>Workout of the day</a:t>
            </a:r>
            <a:endParaRPr lang="en-IL" sz="3300" b="1" dirty="0">
              <a:solidFill>
                <a:srgbClr val="C55A11"/>
              </a:solidFill>
              <a:latin typeface="Arial"/>
              <a:cs typeface="Arial"/>
              <a:sym typeface="Calibri"/>
            </a:endParaRPr>
          </a:p>
        </p:txBody>
      </p:sp>
      <p:sp>
        <p:nvSpPr>
          <p:cNvPr id="3" name="Content Placeholder 2">
            <a:extLst>
              <a:ext uri="{FF2B5EF4-FFF2-40B4-BE49-F238E27FC236}">
                <a16:creationId xmlns:a16="http://schemas.microsoft.com/office/drawing/2014/main" id="{C74686D3-0ED1-4CAE-A9C9-7B44839FD031}"/>
              </a:ext>
            </a:extLst>
          </p:cNvPr>
          <p:cNvSpPr>
            <a:spLocks noGrp="1"/>
          </p:cNvSpPr>
          <p:nvPr>
            <p:ph idx="1"/>
          </p:nvPr>
        </p:nvSpPr>
        <p:spPr/>
        <p:txBody>
          <a:bodyPr/>
          <a:lstStyle/>
          <a:p>
            <a:r>
              <a:rPr lang="en-US" dirty="0"/>
              <a:t>This class assignment consist of 10 file manipulation tasks for implementation</a:t>
            </a:r>
          </a:p>
          <a:p>
            <a:r>
              <a:rPr lang="en-US" dirty="0"/>
              <a:t>Each task should be implemented using a </a:t>
            </a:r>
            <a:r>
              <a:rPr lang="en-US" b="1" u="sng" dirty="0"/>
              <a:t>single Linux command </a:t>
            </a:r>
          </a:p>
          <a:p>
            <a:r>
              <a:rPr lang="en-US" b="1" u="sng" dirty="0"/>
              <a:t>Use only relative paths</a:t>
            </a:r>
            <a:r>
              <a:rPr lang="en-US" dirty="0"/>
              <a:t> – the only exception is when you access the shared data directory (</a:t>
            </a:r>
            <a:r>
              <a:rPr lang="en-US" dirty="0">
                <a:latin typeface="Courier New" panose="02070309020205020404" pitchFamily="49" charset="0"/>
                <a:cs typeface="Courier New" panose="02070309020205020404" pitchFamily="49" charset="0"/>
              </a:rPr>
              <a:t>/share/recitations/recitation01/ </a:t>
            </a:r>
            <a:r>
              <a:rPr lang="en-US" dirty="0"/>
              <a:t>in task #2)</a:t>
            </a:r>
          </a:p>
          <a:p>
            <a:r>
              <a:rPr lang="en-US" dirty="0"/>
              <a:t>Type these commands into a file named </a:t>
            </a:r>
            <a:r>
              <a:rPr lang="en-US" dirty="0">
                <a:latin typeface="Courier New" panose="02070309020205020404" pitchFamily="49" charset="0"/>
                <a:cs typeface="Courier New" panose="02070309020205020404" pitchFamily="49" charset="0"/>
              </a:rPr>
              <a:t>commands.t01.txt</a:t>
            </a:r>
            <a:r>
              <a:rPr lang="en-US" dirty="0"/>
              <a:t>, which you can execute using the </a:t>
            </a:r>
            <a:r>
              <a:rPr lang="en-US" dirty="0">
                <a:latin typeface="Courier New" panose="02070309020205020404" pitchFamily="49" charset="0"/>
                <a:cs typeface="Courier New" panose="02070309020205020404" pitchFamily="49" charset="0"/>
              </a:rPr>
              <a:t>source</a:t>
            </a:r>
            <a:r>
              <a:rPr lang="en-US" dirty="0"/>
              <a:t> command</a:t>
            </a:r>
          </a:p>
          <a:p>
            <a:pPr marL="0" indent="0">
              <a:buNone/>
            </a:pPr>
            <a:endParaRPr lang="en-IL" dirty="0"/>
          </a:p>
        </p:txBody>
      </p:sp>
      <p:pic>
        <p:nvPicPr>
          <p:cNvPr id="4" name="Picture 3">
            <a:extLst>
              <a:ext uri="{FF2B5EF4-FFF2-40B4-BE49-F238E27FC236}">
                <a16:creationId xmlns:a16="http://schemas.microsoft.com/office/drawing/2014/main" id="{70CD463F-3BB7-4DDC-827D-47CF4DC1C134}"/>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1354889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txBox="1">
            <a:spLocks noGrp="1"/>
          </p:cNvSpPr>
          <p:nvPr>
            <p:ph type="title"/>
          </p:nvPr>
        </p:nvSpPr>
        <p:spPr>
          <a:xfrm>
            <a:off x="2152650" y="365127"/>
            <a:ext cx="7886700" cy="1325563"/>
          </a:xfrm>
          <a:prstGeom prst="rect">
            <a:avLst/>
          </a:prstGeom>
          <a:noFill/>
          <a:ln>
            <a:noFill/>
          </a:ln>
        </p:spPr>
        <p:txBody>
          <a:bodyPr spcFirstLastPara="1" vert="horz" wrap="square" lIns="91425" tIns="45700" rIns="91425" bIns="45700" rtlCol="0" anchor="ctr" anchorCtr="0">
            <a:normAutofit/>
          </a:bodyPr>
          <a:lstStyle/>
          <a:p>
            <a:pPr>
              <a:spcBef>
                <a:spcPts val="0"/>
              </a:spcBef>
              <a:buClr>
                <a:srgbClr val="C55A11"/>
              </a:buClr>
              <a:buSzPts val="3300"/>
            </a:pPr>
            <a:r>
              <a:rPr lang="en-US" b="1" dirty="0" err="1">
                <a:solidFill>
                  <a:srgbClr val="C55A11"/>
                </a:solidFill>
                <a:latin typeface="Arial"/>
                <a:ea typeface="Arial"/>
                <a:cs typeface="Arial"/>
                <a:sym typeface="Arial"/>
              </a:rPr>
              <a:t>pico</a:t>
            </a:r>
            <a:endParaRPr dirty="0"/>
          </a:p>
        </p:txBody>
      </p:sp>
      <p:sp>
        <p:nvSpPr>
          <p:cNvPr id="102" name="Google Shape;102;p2"/>
          <p:cNvSpPr txBox="1">
            <a:spLocks noGrp="1"/>
          </p:cNvSpPr>
          <p:nvPr>
            <p:ph type="body" idx="1"/>
          </p:nvPr>
        </p:nvSpPr>
        <p:spPr>
          <a:xfrm>
            <a:off x="1776045" y="1825625"/>
            <a:ext cx="8546123" cy="4790965"/>
          </a:xfrm>
          <a:prstGeom prst="rect">
            <a:avLst/>
          </a:prstGeom>
          <a:noFill/>
          <a:ln>
            <a:noFill/>
          </a:ln>
        </p:spPr>
        <p:txBody>
          <a:bodyPr spcFirstLastPara="1" vert="horz" wrap="square" lIns="91425" tIns="45700" rIns="91425" bIns="45700" rtlCol="0" anchor="t" anchorCtr="0">
            <a:normAutofit fontScale="92500" lnSpcReduction="20000"/>
          </a:bodyPr>
          <a:lstStyle/>
          <a:p>
            <a:pPr marL="342900">
              <a:lnSpc>
                <a:spcPct val="150000"/>
              </a:lnSpc>
              <a:spcBef>
                <a:spcPts val="0"/>
              </a:spcBef>
              <a:buSzPts val="2400"/>
            </a:pPr>
            <a:r>
              <a:rPr lang="en-US" sz="2400" dirty="0"/>
              <a:t>A simple and ubiquitous Unix text editor</a:t>
            </a:r>
          </a:p>
          <a:p>
            <a:pPr marL="342900">
              <a:lnSpc>
                <a:spcPct val="150000"/>
              </a:lnSpc>
              <a:spcBef>
                <a:spcPts val="0"/>
              </a:spcBef>
              <a:buSzPts val="2400"/>
            </a:pPr>
            <a:r>
              <a:rPr lang="en-US" sz="2400" dirty="0"/>
              <a:t>A short guide is available on Piazza</a:t>
            </a:r>
          </a:p>
          <a:p>
            <a:pPr marL="342900">
              <a:lnSpc>
                <a:spcPct val="150000"/>
              </a:lnSpc>
              <a:spcBef>
                <a:spcPts val="0"/>
              </a:spcBef>
              <a:buSzPts val="2400"/>
            </a:pPr>
            <a:r>
              <a:rPr lang="en-US" sz="2400" dirty="0"/>
              <a:t>You can get a full list of commands by pressing ^G (Control-G)</a:t>
            </a:r>
          </a:p>
          <a:p>
            <a:pPr marL="342900">
              <a:lnSpc>
                <a:spcPct val="150000"/>
              </a:lnSpc>
              <a:spcBef>
                <a:spcPts val="0"/>
              </a:spcBef>
              <a:buSzPts val="2400"/>
            </a:pPr>
            <a:r>
              <a:rPr lang="en-US" sz="2400" dirty="0"/>
              <a:t>PC and Mac might behave differently regarding the M (Meta) key:</a:t>
            </a:r>
          </a:p>
          <a:p>
            <a:pPr marL="800100" lvl="1">
              <a:lnSpc>
                <a:spcPct val="150000"/>
              </a:lnSpc>
              <a:spcBef>
                <a:spcPts val="0"/>
              </a:spcBef>
              <a:buSzPts val="2400"/>
            </a:pPr>
            <a:r>
              <a:rPr lang="en-US" dirty="0"/>
              <a:t>On PC, this is Alt – press it and the other combo keys simultaneously</a:t>
            </a:r>
          </a:p>
          <a:p>
            <a:pPr marL="800100" lvl="1">
              <a:lnSpc>
                <a:spcPct val="150000"/>
              </a:lnSpc>
              <a:spcBef>
                <a:spcPts val="0"/>
              </a:spcBef>
              <a:buSzPts val="2400"/>
            </a:pPr>
            <a:r>
              <a:rPr lang="en-US" dirty="0"/>
              <a:t>On Mac, this is Esc – press and release it and then press the other combo keys</a:t>
            </a:r>
          </a:p>
          <a:p>
            <a:pPr marL="342900">
              <a:lnSpc>
                <a:spcPct val="150000"/>
              </a:lnSpc>
              <a:spcBef>
                <a:spcPts val="0"/>
              </a:spcBef>
              <a:buSzPts val="2400"/>
            </a:pPr>
            <a:r>
              <a:rPr lang="en-US" dirty="0"/>
              <a:t>There might be more differences, even between PCs or Macs; be alert; read the documentation, as necessary.</a:t>
            </a:r>
          </a:p>
        </p:txBody>
      </p:sp>
      <p:pic>
        <p:nvPicPr>
          <p:cNvPr id="5" name="Picture 4">
            <a:extLst>
              <a:ext uri="{FF2B5EF4-FFF2-40B4-BE49-F238E27FC236}">
                <a16:creationId xmlns:a16="http://schemas.microsoft.com/office/drawing/2014/main" id="{061C7AB8-F17C-41F5-BA8B-1116554F865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2334953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3AB41-F45F-4301-B9C7-FC4724AD0792}"/>
              </a:ext>
            </a:extLst>
          </p:cNvPr>
          <p:cNvSpPr>
            <a:spLocks noGrp="1"/>
          </p:cNvSpPr>
          <p:nvPr>
            <p:ph type="title"/>
          </p:nvPr>
        </p:nvSpPr>
        <p:spPr/>
        <p:txBody>
          <a:bodyPr/>
          <a:lstStyle/>
          <a:p>
            <a:r>
              <a:rPr lang="en-US" sz="3300" b="1" dirty="0">
                <a:solidFill>
                  <a:srgbClr val="C55A11"/>
                </a:solidFill>
                <a:latin typeface="Arial"/>
                <a:cs typeface="Arial"/>
                <a:sym typeface="Calibri"/>
              </a:rPr>
              <a:t>Task 1</a:t>
            </a:r>
            <a:endParaRPr lang="en-IL" sz="3300" b="1" dirty="0">
              <a:solidFill>
                <a:srgbClr val="C55A11"/>
              </a:solidFill>
              <a:latin typeface="Arial"/>
              <a:cs typeface="Arial"/>
              <a:sym typeface="Calibri"/>
            </a:endParaRPr>
          </a:p>
        </p:txBody>
      </p:sp>
      <p:sp>
        <p:nvSpPr>
          <p:cNvPr id="3" name="Content Placeholder 2">
            <a:extLst>
              <a:ext uri="{FF2B5EF4-FFF2-40B4-BE49-F238E27FC236}">
                <a16:creationId xmlns:a16="http://schemas.microsoft.com/office/drawing/2014/main" id="{D3DF166F-1FCB-4E36-A9D4-78522B2A3A40}"/>
              </a:ext>
            </a:extLst>
          </p:cNvPr>
          <p:cNvSpPr>
            <a:spLocks noGrp="1"/>
          </p:cNvSpPr>
          <p:nvPr>
            <p:ph idx="1"/>
          </p:nvPr>
        </p:nvSpPr>
        <p:spPr/>
        <p:txBody>
          <a:bodyPr/>
          <a:lstStyle/>
          <a:p>
            <a:r>
              <a:rPr lang="en-US" dirty="0"/>
              <a:t>Create a subdirectory called </a:t>
            </a:r>
            <a:r>
              <a:rPr lang="en-US" dirty="0">
                <a:latin typeface="Courier New" panose="02070309020205020404" pitchFamily="49" charset="0"/>
                <a:cs typeface="Courier New" panose="02070309020205020404" pitchFamily="49" charset="0"/>
              </a:rPr>
              <a:t>dir1</a:t>
            </a:r>
            <a:r>
              <a:rPr lang="en-US" dirty="0"/>
              <a:t> inside the current directory</a:t>
            </a:r>
            <a:endParaRPr lang="en-IL" dirty="0"/>
          </a:p>
        </p:txBody>
      </p:sp>
      <p:pic>
        <p:nvPicPr>
          <p:cNvPr id="4" name="Picture 3">
            <a:extLst>
              <a:ext uri="{FF2B5EF4-FFF2-40B4-BE49-F238E27FC236}">
                <a16:creationId xmlns:a16="http://schemas.microsoft.com/office/drawing/2014/main" id="{DC30EB4F-B041-4914-91DF-3ECF2F6FF13D}"/>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2974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3AB41-F45F-4301-B9C7-FC4724AD0792}"/>
              </a:ext>
            </a:extLst>
          </p:cNvPr>
          <p:cNvSpPr>
            <a:spLocks noGrp="1"/>
          </p:cNvSpPr>
          <p:nvPr>
            <p:ph type="title"/>
          </p:nvPr>
        </p:nvSpPr>
        <p:spPr/>
        <p:txBody>
          <a:bodyPr/>
          <a:lstStyle/>
          <a:p>
            <a:r>
              <a:rPr lang="en-US" sz="3300" b="1" dirty="0">
                <a:solidFill>
                  <a:srgbClr val="C55A11"/>
                </a:solidFill>
                <a:latin typeface="Arial"/>
                <a:cs typeface="Arial"/>
                <a:sym typeface="Calibri"/>
              </a:rPr>
              <a:t>Task 2</a:t>
            </a:r>
            <a:endParaRPr lang="en-IL" sz="3300" b="1" dirty="0">
              <a:solidFill>
                <a:srgbClr val="C55A11"/>
              </a:solidFill>
              <a:latin typeface="Arial"/>
              <a:cs typeface="Arial"/>
              <a:sym typeface="Calibri"/>
            </a:endParaRPr>
          </a:p>
        </p:txBody>
      </p:sp>
      <p:sp>
        <p:nvSpPr>
          <p:cNvPr id="3" name="Content Placeholder 2">
            <a:extLst>
              <a:ext uri="{FF2B5EF4-FFF2-40B4-BE49-F238E27FC236}">
                <a16:creationId xmlns:a16="http://schemas.microsoft.com/office/drawing/2014/main" id="{D3DF166F-1FCB-4E36-A9D4-78522B2A3A40}"/>
              </a:ext>
            </a:extLst>
          </p:cNvPr>
          <p:cNvSpPr>
            <a:spLocks noGrp="1"/>
          </p:cNvSpPr>
          <p:nvPr>
            <p:ph idx="1"/>
          </p:nvPr>
        </p:nvSpPr>
        <p:spPr/>
        <p:txBody>
          <a:bodyPr/>
          <a:lstStyle/>
          <a:p>
            <a:r>
              <a:rPr lang="en-US" dirty="0"/>
              <a:t>Copy the </a:t>
            </a:r>
            <a:r>
              <a:rPr lang="en-US" b="1" u="sng" dirty="0"/>
              <a:t>contents</a:t>
            </a:r>
            <a:r>
              <a:rPr lang="en-US" dirty="0"/>
              <a:t> of the directory </a:t>
            </a:r>
            <a:r>
              <a:rPr lang="en-US" dirty="0">
                <a:latin typeface="Courier New" panose="02070309020205020404" pitchFamily="49" charset="0"/>
                <a:cs typeface="Courier New" panose="02070309020205020404" pitchFamily="49" charset="0"/>
              </a:rPr>
              <a:t>/share/recitations/recitation01 </a:t>
            </a:r>
            <a:r>
              <a:rPr lang="en-US" dirty="0"/>
              <a:t>into the newly created </a:t>
            </a:r>
            <a:r>
              <a:rPr lang="en-US" dirty="0">
                <a:latin typeface="Courier New" panose="02070309020205020404" pitchFamily="49" charset="0"/>
                <a:cs typeface="Courier New" panose="02070309020205020404" pitchFamily="49" charset="0"/>
              </a:rPr>
              <a:t>dir1</a:t>
            </a:r>
            <a:r>
              <a:rPr lang="en-US" dirty="0"/>
              <a:t> directory. After your operation, your </a:t>
            </a:r>
            <a:r>
              <a:rPr lang="en-US" dirty="0">
                <a:latin typeface="Courier New" panose="02070309020205020404" pitchFamily="49" charset="0"/>
                <a:cs typeface="Courier New" panose="02070309020205020404" pitchFamily="49" charset="0"/>
              </a:rPr>
              <a:t>dir1</a:t>
            </a:r>
            <a:r>
              <a:rPr lang="en-US" dirty="0"/>
              <a:t> directory should contain a file (</a:t>
            </a:r>
            <a:r>
              <a:rPr lang="en-US" dirty="0" err="1">
                <a:latin typeface="Courier New" panose="02070309020205020404" pitchFamily="49" charset="0"/>
                <a:cs typeface="Courier New" panose="02070309020205020404" pitchFamily="49" charset="0"/>
              </a:rPr>
              <a:t>some_file.txt</a:t>
            </a:r>
            <a:r>
              <a:rPr lang="en-US" dirty="0"/>
              <a:t>) and a directory (</a:t>
            </a:r>
            <a:r>
              <a:rPr lang="en-US" dirty="0">
                <a:latin typeface="Courier New" panose="02070309020205020404" pitchFamily="49" charset="0"/>
                <a:cs typeface="Courier New" panose="02070309020205020404" pitchFamily="49" charset="0"/>
              </a:rPr>
              <a:t>subdir</a:t>
            </a:r>
            <a:r>
              <a:rPr lang="en-US" dirty="0"/>
              <a:t>) that contains two files</a:t>
            </a:r>
            <a:endParaRPr lang="en-IL" dirty="0"/>
          </a:p>
        </p:txBody>
      </p:sp>
      <p:pic>
        <p:nvPicPr>
          <p:cNvPr id="4" name="Picture 3">
            <a:extLst>
              <a:ext uri="{FF2B5EF4-FFF2-40B4-BE49-F238E27FC236}">
                <a16:creationId xmlns:a16="http://schemas.microsoft.com/office/drawing/2014/main" id="{8F5EEA84-7473-4946-BF9C-B114E5F7CF3F}"/>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4973477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lstStyle/>
          <a:p>
            <a:r>
              <a:rPr lang="en-US" altLang="en-US" b="1" dirty="0">
                <a:solidFill>
                  <a:schemeClr val="accent2">
                    <a:lumMod val="75000"/>
                  </a:schemeClr>
                </a:solidFill>
                <a:latin typeface="Arial" panose="020B0604020202020204" pitchFamily="34" charset="0"/>
                <a:cs typeface="Arial" panose="020B0604020202020204" pitchFamily="34" charset="0"/>
              </a:rPr>
              <a:t>Copying directories</a:t>
            </a:r>
            <a:endParaRPr lang="en-US" altLang="en-US" dirty="0"/>
          </a:p>
        </p:txBody>
      </p:sp>
      <p:sp>
        <p:nvSpPr>
          <p:cNvPr id="4" name="Rectangle 3"/>
          <p:cNvSpPr>
            <a:spLocks noGrp="1" noChangeArrowheads="1"/>
          </p:cNvSpPr>
          <p:nvPr>
            <p:ph idx="1"/>
          </p:nvPr>
        </p:nvSpPr>
        <p:spPr>
          <a:xfrm>
            <a:off x="596900" y="1531625"/>
            <a:ext cx="10756899" cy="5326375"/>
          </a:xfrm>
        </p:spPr>
        <p:txBody>
          <a:bodyPr>
            <a:normAutofit/>
          </a:bodyPr>
          <a:lstStyle/>
          <a:p>
            <a:pPr marL="0" indent="0">
              <a:spcBef>
                <a:spcPts val="500"/>
              </a:spcBef>
              <a:buNone/>
            </a:pPr>
            <a:r>
              <a:rPr lang="en-US" altLang="en-US" sz="2400" b="1" dirty="0">
                <a:solidFill>
                  <a:schemeClr val="accent2">
                    <a:lumMod val="75000"/>
                  </a:schemeClr>
                </a:solidFill>
                <a:latin typeface="Courier New" panose="02070309020205020404" pitchFamily="49" charset="0"/>
                <a:cs typeface="Courier New" panose="02070309020205020404" pitchFamily="49" charset="0"/>
              </a:rPr>
              <a:t>cp </a:t>
            </a:r>
            <a:r>
              <a:rPr lang="en-US" altLang="en-US" sz="2400" b="1" dirty="0" err="1">
                <a:solidFill>
                  <a:schemeClr val="tx2"/>
                </a:solidFill>
                <a:latin typeface="Courier New" panose="02070309020205020404" pitchFamily="49" charset="0"/>
                <a:cs typeface="Courier New" panose="02070309020205020404" pitchFamily="49" charset="0"/>
              </a:rPr>
              <a:t>source_path</a:t>
            </a:r>
            <a:r>
              <a:rPr lang="en-US" altLang="en-US" sz="2400" b="1" dirty="0">
                <a:solidFill>
                  <a:schemeClr val="tx2"/>
                </a:solidFill>
                <a:latin typeface="Courier New" panose="02070309020205020404" pitchFamily="49" charset="0"/>
                <a:cs typeface="Courier New" panose="02070309020205020404" pitchFamily="49" charset="0"/>
              </a:rPr>
              <a:t> </a:t>
            </a:r>
            <a:r>
              <a:rPr lang="en-US" altLang="en-US" sz="2400" b="1" dirty="0" err="1">
                <a:solidFill>
                  <a:schemeClr val="tx2"/>
                </a:solidFill>
                <a:latin typeface="Courier New" panose="02070309020205020404" pitchFamily="49" charset="0"/>
                <a:cs typeface="Courier New" panose="02070309020205020404" pitchFamily="49" charset="0"/>
              </a:rPr>
              <a:t>dest_path</a:t>
            </a:r>
            <a:r>
              <a:rPr lang="en-US" altLang="en-US" sz="2000" b="1" dirty="0">
                <a:solidFill>
                  <a:schemeClr val="accent2">
                    <a:lumMod val="75000"/>
                  </a:schemeClr>
                </a:solidFill>
                <a:latin typeface="Courier New" panose="02070309020205020404" pitchFamily="49" charset="0"/>
                <a:cs typeface="Courier New" panose="02070309020205020404" pitchFamily="49" charset="0"/>
              </a:rPr>
              <a:t>	</a:t>
            </a:r>
            <a:endParaRPr lang="en-US" altLang="en-US" sz="2000" b="1" dirty="0">
              <a:solidFill>
                <a:schemeClr val="tx2"/>
              </a:solidFill>
              <a:latin typeface="Courier New" panose="02070309020205020404" pitchFamily="49" charset="0"/>
              <a:cs typeface="Courier New" panose="02070309020205020404" pitchFamily="49" charset="0"/>
            </a:endParaRPr>
          </a:p>
          <a:p>
            <a:pPr>
              <a:spcBef>
                <a:spcPts val="2400"/>
              </a:spcBef>
            </a:pPr>
            <a:r>
              <a:rPr lang="en-US" altLang="en-US" sz="2400" dirty="0"/>
              <a:t>If you wish to copy entire directories, specify the directory paths in </a:t>
            </a:r>
            <a:r>
              <a:rPr lang="en-US" altLang="en-US" sz="2400" b="1" dirty="0" err="1">
                <a:solidFill>
                  <a:schemeClr val="tx2"/>
                </a:solidFill>
                <a:latin typeface="Courier New" panose="02070309020205020404" pitchFamily="49" charset="0"/>
                <a:cs typeface="Courier New" panose="02070309020205020404" pitchFamily="49" charset="0"/>
              </a:rPr>
              <a:t>source_path</a:t>
            </a:r>
            <a:r>
              <a:rPr lang="en-US" altLang="en-US" sz="2400" dirty="0"/>
              <a:t>, and use </a:t>
            </a:r>
            <a:r>
              <a:rPr lang="en-US" altLang="en-US" sz="2400" b="1" dirty="0">
                <a:solidFill>
                  <a:srgbClr val="C00000"/>
                </a:solidFill>
              </a:rPr>
              <a:t>recursive mode </a:t>
            </a:r>
            <a:r>
              <a:rPr lang="en-US" altLang="en-US" sz="2400" dirty="0"/>
              <a:t>(option</a:t>
            </a:r>
            <a:r>
              <a:rPr lang="en-US" altLang="en-US" sz="2400" dirty="0">
                <a:solidFill>
                  <a:srgbClr val="C00000"/>
                </a:solidFill>
              </a:rPr>
              <a:t> </a:t>
            </a:r>
            <a:r>
              <a:rPr lang="en-US" altLang="en-US" sz="2400" b="1" dirty="0">
                <a:solidFill>
                  <a:srgbClr val="C00000"/>
                </a:solidFill>
                <a:latin typeface="Courier New" panose="02070309020205020404" pitchFamily="49" charset="0"/>
                <a:cs typeface="Courier New" panose="02070309020205020404" pitchFamily="49" charset="0"/>
              </a:rPr>
              <a:t>–r</a:t>
            </a:r>
            <a:r>
              <a:rPr lang="en-US" altLang="en-US" sz="2400" dirty="0"/>
              <a:t> or </a:t>
            </a:r>
            <a:r>
              <a:rPr lang="en-US" altLang="en-US" sz="2400" b="1" dirty="0">
                <a:solidFill>
                  <a:srgbClr val="C00000"/>
                </a:solidFill>
                <a:latin typeface="Courier New" panose="02070309020205020404" pitchFamily="49" charset="0"/>
                <a:cs typeface="Courier New" panose="02070309020205020404" pitchFamily="49" charset="0"/>
              </a:rPr>
              <a:t>–R</a:t>
            </a:r>
            <a:r>
              <a:rPr lang="en-US" altLang="en-US" sz="2400" dirty="0"/>
              <a:t>)</a:t>
            </a:r>
            <a:endParaRPr lang="en-US" altLang="en-US" sz="2400" dirty="0">
              <a:solidFill>
                <a:srgbClr val="C00000"/>
              </a:solidFill>
            </a:endParaRPr>
          </a:p>
          <a:p>
            <a:pPr>
              <a:spcBef>
                <a:spcPts val="1200"/>
              </a:spcBef>
            </a:pPr>
            <a:r>
              <a:rPr lang="en-US" altLang="en-US" sz="2400" dirty="0"/>
              <a:t>If </a:t>
            </a:r>
            <a:r>
              <a:rPr lang="en-US" altLang="en-US" sz="2400" b="1" dirty="0" err="1">
                <a:solidFill>
                  <a:srgbClr val="44546A"/>
                </a:solidFill>
                <a:latin typeface="Courier New" panose="02070309020205020404" pitchFamily="49" charset="0"/>
                <a:cs typeface="Courier New" panose="02070309020205020404" pitchFamily="49" charset="0"/>
              </a:rPr>
              <a:t>source_path</a:t>
            </a:r>
            <a:r>
              <a:rPr lang="en-US" altLang="en-US" sz="2400" dirty="0"/>
              <a:t> contains directory paths and recursive mode is not used, the operation will fail.</a:t>
            </a:r>
          </a:p>
          <a:p>
            <a:pPr marL="0" indent="0">
              <a:spcBef>
                <a:spcPts val="1200"/>
              </a:spcBef>
              <a:buNone/>
            </a:pPr>
            <a:endParaRPr lang="en-US" altLang="en-US" sz="2400" dirty="0"/>
          </a:p>
          <a:p>
            <a:pPr marL="0" indent="0">
              <a:spcBef>
                <a:spcPts val="1200"/>
              </a:spcBef>
              <a:buNone/>
            </a:pPr>
            <a:r>
              <a:rPr lang="en-US" altLang="en-US" sz="2400" b="1" dirty="0">
                <a:solidFill>
                  <a:srgbClr val="002060"/>
                </a:solidFill>
              </a:rPr>
              <a:t>Example: </a:t>
            </a:r>
            <a:r>
              <a:rPr lang="en-US" altLang="en-US" sz="2400" b="1" dirty="0">
                <a:solidFill>
                  <a:schemeClr val="tx2"/>
                </a:solidFill>
                <a:latin typeface="Courier New" panose="02070309020205020404" pitchFamily="49" charset="0"/>
                <a:cs typeface="Courier New" panose="02070309020205020404" pitchFamily="49" charset="0"/>
              </a:rPr>
              <a:t>cp –r  /share/</a:t>
            </a:r>
            <a:r>
              <a:rPr lang="en-US" altLang="en-US" sz="2400" b="1" dirty="0" err="1">
                <a:solidFill>
                  <a:schemeClr val="tx2"/>
                </a:solidFill>
                <a:latin typeface="Courier New" panose="02070309020205020404" pitchFamily="49" charset="0"/>
                <a:cs typeface="Courier New" panose="02070309020205020404" pitchFamily="49" charset="0"/>
              </a:rPr>
              <a:t>ex_data</a:t>
            </a:r>
            <a:r>
              <a:rPr lang="en-US" altLang="en-US" sz="2400" b="1" dirty="0">
                <a:solidFill>
                  <a:schemeClr val="tx2"/>
                </a:solidFill>
                <a:latin typeface="Courier New" panose="02070309020205020404" pitchFamily="49" charset="0"/>
                <a:cs typeface="Courier New" panose="02070309020205020404" pitchFamily="49" charset="0"/>
              </a:rPr>
              <a:t>  README.txt  ~/exercises/ex1/</a:t>
            </a:r>
          </a:p>
          <a:p>
            <a:pPr marL="0" indent="0">
              <a:spcBef>
                <a:spcPts val="1200"/>
              </a:spcBef>
              <a:buNone/>
            </a:pPr>
            <a:endParaRPr lang="en-US" altLang="en-US" sz="2400" b="1" dirty="0">
              <a:solidFill>
                <a:schemeClr val="tx2"/>
              </a:solidFill>
              <a:latin typeface="Courier New" panose="02070309020205020404" pitchFamily="49" charset="0"/>
              <a:cs typeface="Courier New" panose="02070309020205020404" pitchFamily="49" charset="0"/>
            </a:endParaRPr>
          </a:p>
          <a:p>
            <a:pPr marL="0" indent="0">
              <a:spcBef>
                <a:spcPts val="1200"/>
              </a:spcBef>
              <a:buNone/>
            </a:pPr>
            <a:r>
              <a:rPr lang="en-US" altLang="en-US" sz="2400" dirty="0"/>
              <a:t>Directory </a:t>
            </a:r>
            <a:r>
              <a:rPr lang="en-US" altLang="en-US" sz="2400" b="1" dirty="0">
                <a:solidFill>
                  <a:schemeClr val="tx2"/>
                </a:solidFill>
                <a:latin typeface="Courier New" panose="02070309020205020404" pitchFamily="49" charset="0"/>
                <a:cs typeface="Courier New" panose="02070309020205020404" pitchFamily="49" charset="0"/>
              </a:rPr>
              <a:t>/share/</a:t>
            </a:r>
            <a:r>
              <a:rPr lang="en-US" altLang="en-US" sz="2400" b="1" dirty="0" err="1">
                <a:solidFill>
                  <a:schemeClr val="tx2"/>
                </a:solidFill>
                <a:latin typeface="Courier New" panose="02070309020205020404" pitchFamily="49" charset="0"/>
                <a:cs typeface="Courier New" panose="02070309020205020404" pitchFamily="49" charset="0"/>
              </a:rPr>
              <a:t>ex_data</a:t>
            </a:r>
            <a:r>
              <a:rPr lang="en-US" altLang="en-US" sz="2400" dirty="0"/>
              <a:t> and file </a:t>
            </a:r>
            <a:r>
              <a:rPr lang="en-US" altLang="en-US" sz="2400" b="1" dirty="0">
                <a:solidFill>
                  <a:schemeClr val="tx2"/>
                </a:solidFill>
                <a:latin typeface="Courier New" panose="02070309020205020404" pitchFamily="49" charset="0"/>
                <a:cs typeface="Courier New" panose="02070309020205020404" pitchFamily="49" charset="0"/>
              </a:rPr>
              <a:t>README.txt </a:t>
            </a:r>
            <a:r>
              <a:rPr lang="en-US" altLang="en-US" sz="2400" dirty="0"/>
              <a:t>will be copied into directory </a:t>
            </a:r>
            <a:r>
              <a:rPr lang="en-US" altLang="en-US" sz="2400" b="1" dirty="0">
                <a:solidFill>
                  <a:schemeClr val="tx2"/>
                </a:solidFill>
                <a:latin typeface="Courier New" panose="02070309020205020404" pitchFamily="49" charset="0"/>
                <a:cs typeface="Courier New" panose="02070309020205020404" pitchFamily="49" charset="0"/>
              </a:rPr>
              <a:t>~/exercises/ex1/</a:t>
            </a:r>
          </a:p>
        </p:txBody>
      </p:sp>
      <p:sp>
        <p:nvSpPr>
          <p:cNvPr id="2" name="Rectangle 1">
            <a:extLst>
              <a:ext uri="{FF2B5EF4-FFF2-40B4-BE49-F238E27FC236}">
                <a16:creationId xmlns:a16="http://schemas.microsoft.com/office/drawing/2014/main" id="{F6623EBA-BA62-447B-9EFC-63DF146AD7C3}"/>
              </a:ext>
            </a:extLst>
          </p:cNvPr>
          <p:cNvSpPr/>
          <p:nvPr/>
        </p:nvSpPr>
        <p:spPr>
          <a:xfrm>
            <a:off x="3973596" y="4577568"/>
            <a:ext cx="1314014" cy="461665"/>
          </a:xfrm>
          <a:prstGeom prst="rect">
            <a:avLst/>
          </a:prstGeom>
        </p:spPr>
        <p:txBody>
          <a:bodyPr wrap="none">
            <a:spAutoFit/>
          </a:bodyPr>
          <a:lstStyle/>
          <a:p>
            <a:r>
              <a:rPr lang="en-US" altLang="en-US" sz="2400" dirty="0">
                <a:solidFill>
                  <a:srgbClr val="C00000"/>
                </a:solidFill>
              </a:rPr>
              <a:t>directory</a:t>
            </a:r>
            <a:endParaRPr lang="en-US" sz="2400" dirty="0">
              <a:solidFill>
                <a:srgbClr val="C00000"/>
              </a:solidFill>
            </a:endParaRPr>
          </a:p>
        </p:txBody>
      </p:sp>
      <p:sp>
        <p:nvSpPr>
          <p:cNvPr id="5" name="Rectangle 4">
            <a:extLst>
              <a:ext uri="{FF2B5EF4-FFF2-40B4-BE49-F238E27FC236}">
                <a16:creationId xmlns:a16="http://schemas.microsoft.com/office/drawing/2014/main" id="{4ABD2C3D-E570-4DFC-BB9D-264872264DA1}"/>
              </a:ext>
            </a:extLst>
          </p:cNvPr>
          <p:cNvSpPr/>
          <p:nvPr/>
        </p:nvSpPr>
        <p:spPr>
          <a:xfrm>
            <a:off x="6604546" y="4577568"/>
            <a:ext cx="574196" cy="461665"/>
          </a:xfrm>
          <a:prstGeom prst="rect">
            <a:avLst/>
          </a:prstGeom>
        </p:spPr>
        <p:txBody>
          <a:bodyPr wrap="none">
            <a:spAutoFit/>
          </a:bodyPr>
          <a:lstStyle/>
          <a:p>
            <a:r>
              <a:rPr lang="en-US" altLang="en-US" sz="2400" dirty="0">
                <a:solidFill>
                  <a:srgbClr val="C00000"/>
                </a:solidFill>
              </a:rPr>
              <a:t>file</a:t>
            </a:r>
            <a:endParaRPr lang="en-US" sz="2400" dirty="0">
              <a:solidFill>
                <a:srgbClr val="C00000"/>
              </a:solidFill>
            </a:endParaRPr>
          </a:p>
        </p:txBody>
      </p:sp>
      <p:sp>
        <p:nvSpPr>
          <p:cNvPr id="6" name="Rectangle 5">
            <a:extLst>
              <a:ext uri="{FF2B5EF4-FFF2-40B4-BE49-F238E27FC236}">
                <a16:creationId xmlns:a16="http://schemas.microsoft.com/office/drawing/2014/main" id="{006E701F-42AC-4F21-8319-5D96FB270531}"/>
              </a:ext>
            </a:extLst>
          </p:cNvPr>
          <p:cNvSpPr/>
          <p:nvPr/>
        </p:nvSpPr>
        <p:spPr>
          <a:xfrm>
            <a:off x="8306021" y="4577568"/>
            <a:ext cx="2878130" cy="461665"/>
          </a:xfrm>
          <a:prstGeom prst="rect">
            <a:avLst/>
          </a:prstGeom>
        </p:spPr>
        <p:txBody>
          <a:bodyPr wrap="square">
            <a:spAutoFit/>
          </a:bodyPr>
          <a:lstStyle/>
          <a:p>
            <a:pPr algn="ctr"/>
            <a:r>
              <a:rPr lang="en-US" altLang="en-US" sz="2400" dirty="0">
                <a:solidFill>
                  <a:srgbClr val="C00000"/>
                </a:solidFill>
              </a:rPr>
              <a:t>destination directory</a:t>
            </a:r>
            <a:endParaRPr lang="en-US" sz="2400" dirty="0">
              <a:solidFill>
                <a:srgbClr val="C00000"/>
              </a:solidFill>
            </a:endParaRPr>
          </a:p>
        </p:txBody>
      </p:sp>
      <p:pic>
        <p:nvPicPr>
          <p:cNvPr id="8" name="Picture 7">
            <a:extLst>
              <a:ext uri="{FF2B5EF4-FFF2-40B4-BE49-F238E27FC236}">
                <a16:creationId xmlns:a16="http://schemas.microsoft.com/office/drawing/2014/main" id="{0A066235-5634-41A1-AF97-3B86D7E844D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9324311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3AB41-F45F-4301-B9C7-FC4724AD0792}"/>
              </a:ext>
            </a:extLst>
          </p:cNvPr>
          <p:cNvSpPr>
            <a:spLocks noGrp="1"/>
          </p:cNvSpPr>
          <p:nvPr>
            <p:ph type="title"/>
          </p:nvPr>
        </p:nvSpPr>
        <p:spPr/>
        <p:txBody>
          <a:bodyPr/>
          <a:lstStyle/>
          <a:p>
            <a:r>
              <a:rPr lang="en-US" sz="3300" b="1" dirty="0">
                <a:solidFill>
                  <a:srgbClr val="C55A11"/>
                </a:solidFill>
                <a:latin typeface="Arial"/>
                <a:cs typeface="Arial"/>
                <a:sym typeface="Calibri"/>
              </a:rPr>
              <a:t>Task 3</a:t>
            </a:r>
            <a:endParaRPr lang="en-IL" sz="3300" b="1" dirty="0">
              <a:solidFill>
                <a:srgbClr val="C55A11"/>
              </a:solidFill>
              <a:latin typeface="Arial"/>
              <a:cs typeface="Arial"/>
              <a:sym typeface="Calibri"/>
            </a:endParaRPr>
          </a:p>
        </p:txBody>
      </p:sp>
      <p:sp>
        <p:nvSpPr>
          <p:cNvPr id="3" name="Content Placeholder 2">
            <a:extLst>
              <a:ext uri="{FF2B5EF4-FFF2-40B4-BE49-F238E27FC236}">
                <a16:creationId xmlns:a16="http://schemas.microsoft.com/office/drawing/2014/main" id="{D3DF166F-1FCB-4E36-A9D4-78522B2A3A40}"/>
              </a:ext>
            </a:extLst>
          </p:cNvPr>
          <p:cNvSpPr>
            <a:spLocks noGrp="1"/>
          </p:cNvSpPr>
          <p:nvPr>
            <p:ph idx="1"/>
          </p:nvPr>
        </p:nvSpPr>
        <p:spPr/>
        <p:txBody>
          <a:bodyPr/>
          <a:lstStyle/>
          <a:p>
            <a:r>
              <a:rPr lang="en-US" dirty="0"/>
              <a:t>Make a copy of the </a:t>
            </a:r>
            <a:r>
              <a:rPr lang="en-US" dirty="0">
                <a:latin typeface="Courier New" panose="02070309020205020404" pitchFamily="49" charset="0"/>
                <a:cs typeface="Courier New" panose="02070309020205020404" pitchFamily="49" charset="0"/>
              </a:rPr>
              <a:t>dir1</a:t>
            </a:r>
            <a:r>
              <a:rPr lang="en-US" dirty="0"/>
              <a:t> directory, named </a:t>
            </a:r>
            <a:r>
              <a:rPr lang="en-US" dirty="0">
                <a:latin typeface="Courier New" panose="02070309020205020404" pitchFamily="49" charset="0"/>
                <a:cs typeface="Courier New" panose="02070309020205020404" pitchFamily="49" charset="0"/>
              </a:rPr>
              <a:t>dir2</a:t>
            </a:r>
            <a:endParaRPr lang="en-IL" dirty="0">
              <a:latin typeface="Courier New" panose="02070309020205020404" pitchFamily="49" charset="0"/>
              <a:cs typeface="Courier New" panose="02070309020205020404" pitchFamily="49" charset="0"/>
            </a:endParaRPr>
          </a:p>
        </p:txBody>
      </p:sp>
      <p:pic>
        <p:nvPicPr>
          <p:cNvPr id="4" name="Picture 3">
            <a:extLst>
              <a:ext uri="{FF2B5EF4-FFF2-40B4-BE49-F238E27FC236}">
                <a16:creationId xmlns:a16="http://schemas.microsoft.com/office/drawing/2014/main" id="{026B89C3-CD11-4C47-903C-E989D3625F66}"/>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12018084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p:txBody>
          <a:bodyPr/>
          <a:lstStyle/>
          <a:p>
            <a:r>
              <a:rPr lang="en-US" altLang="en-US" b="1" dirty="0">
                <a:solidFill>
                  <a:schemeClr val="accent2">
                    <a:lumMod val="75000"/>
                  </a:schemeClr>
                </a:solidFill>
                <a:latin typeface="Arial" panose="020B0604020202020204" pitchFamily="34" charset="0"/>
                <a:cs typeface="Arial" panose="020B0604020202020204" pitchFamily="34" charset="0"/>
              </a:rPr>
              <a:t>Two modes for </a:t>
            </a:r>
            <a:r>
              <a:rPr lang="en-US" altLang="en-US" b="1" dirty="0">
                <a:solidFill>
                  <a:schemeClr val="accent2">
                    <a:lumMod val="75000"/>
                  </a:schemeClr>
                </a:solidFill>
                <a:latin typeface="Courier New" panose="02070309020205020404" pitchFamily="49" charset="0"/>
                <a:cs typeface="Courier New" panose="02070309020205020404" pitchFamily="49" charset="0"/>
              </a:rPr>
              <a:t>cp</a:t>
            </a:r>
            <a:r>
              <a:rPr lang="en-US" altLang="en-US" b="1" dirty="0">
                <a:solidFill>
                  <a:schemeClr val="accent2">
                    <a:lumMod val="75000"/>
                  </a:schemeClr>
                </a:solidFill>
                <a:latin typeface="Arial" panose="020B0604020202020204" pitchFamily="34" charset="0"/>
                <a:cs typeface="Arial" panose="020B0604020202020204" pitchFamily="34" charset="0"/>
              </a:rPr>
              <a:t> and </a:t>
            </a:r>
            <a:r>
              <a:rPr lang="en-US" altLang="en-US" b="1" dirty="0">
                <a:solidFill>
                  <a:schemeClr val="accent2">
                    <a:lumMod val="75000"/>
                  </a:schemeClr>
                </a:solidFill>
                <a:latin typeface="Courier New" panose="02070309020205020404" pitchFamily="49" charset="0"/>
                <a:cs typeface="Courier New" panose="02070309020205020404" pitchFamily="49" charset="0"/>
              </a:rPr>
              <a:t>mv</a:t>
            </a:r>
          </a:p>
        </p:txBody>
      </p:sp>
      <p:sp>
        <p:nvSpPr>
          <p:cNvPr id="135171" name="Rectangle 3"/>
          <p:cNvSpPr>
            <a:spLocks noGrp="1" noChangeArrowheads="1"/>
          </p:cNvSpPr>
          <p:nvPr>
            <p:ph idx="1"/>
          </p:nvPr>
        </p:nvSpPr>
        <p:spPr>
          <a:xfrm>
            <a:off x="2152650" y="1690689"/>
            <a:ext cx="8345260" cy="4715070"/>
          </a:xfrm>
        </p:spPr>
        <p:txBody>
          <a:bodyPr>
            <a:normAutofit/>
          </a:bodyPr>
          <a:lstStyle/>
          <a:p>
            <a:pPr marL="0" indent="0">
              <a:spcBef>
                <a:spcPts val="500"/>
              </a:spcBef>
              <a:buNone/>
            </a:pPr>
            <a:r>
              <a:rPr lang="en-US" altLang="en-US" sz="2000" b="1" dirty="0">
                <a:solidFill>
                  <a:srgbClr val="ED7D31">
                    <a:lumMod val="75000"/>
                  </a:srgbClr>
                </a:solidFill>
                <a:latin typeface="Courier New" panose="02070309020205020404" pitchFamily="49" charset="0"/>
                <a:cs typeface="Courier New" panose="02070309020205020404" pitchFamily="49" charset="0"/>
              </a:rPr>
              <a:t>cp </a:t>
            </a:r>
            <a:r>
              <a:rPr lang="en-US" altLang="en-US" sz="2000" b="1" dirty="0" err="1">
                <a:solidFill>
                  <a:srgbClr val="44546A"/>
                </a:solidFill>
                <a:latin typeface="Courier New" panose="02070309020205020404" pitchFamily="49" charset="0"/>
                <a:cs typeface="Courier New" panose="02070309020205020404" pitchFamily="49" charset="0"/>
              </a:rPr>
              <a:t>source_path</a:t>
            </a:r>
            <a:r>
              <a:rPr lang="en-US" altLang="en-US" sz="2000" b="1" dirty="0">
                <a:solidFill>
                  <a:srgbClr val="44546A"/>
                </a:solidFill>
                <a:latin typeface="Courier New" panose="02070309020205020404" pitchFamily="49" charset="0"/>
                <a:cs typeface="Courier New" panose="02070309020205020404" pitchFamily="49" charset="0"/>
              </a:rPr>
              <a:t> </a:t>
            </a:r>
            <a:r>
              <a:rPr lang="en-US" altLang="en-US" sz="2000" b="1" dirty="0" err="1">
                <a:solidFill>
                  <a:srgbClr val="44546A"/>
                </a:solidFill>
                <a:latin typeface="Courier New" panose="02070309020205020404" pitchFamily="49" charset="0"/>
                <a:cs typeface="Courier New" panose="02070309020205020404" pitchFamily="49" charset="0"/>
              </a:rPr>
              <a:t>dest_path</a:t>
            </a:r>
            <a:endParaRPr lang="en-US" altLang="en-US" sz="2000" b="1" dirty="0">
              <a:solidFill>
                <a:srgbClr val="44546A"/>
              </a:solidFill>
              <a:latin typeface="Courier New" panose="02070309020205020404" pitchFamily="49" charset="0"/>
              <a:cs typeface="Courier New" panose="02070309020205020404" pitchFamily="49" charset="0"/>
            </a:endParaRPr>
          </a:p>
          <a:p>
            <a:pPr marL="0" indent="0">
              <a:spcBef>
                <a:spcPts val="500"/>
              </a:spcBef>
              <a:buNone/>
            </a:pPr>
            <a:r>
              <a:rPr lang="en-US" altLang="en-US" sz="2000" b="1" dirty="0">
                <a:solidFill>
                  <a:srgbClr val="ED7D31">
                    <a:lumMod val="75000"/>
                  </a:srgbClr>
                </a:solidFill>
                <a:latin typeface="Courier New" panose="02070309020205020404" pitchFamily="49" charset="0"/>
                <a:cs typeface="Courier New" panose="02070309020205020404" pitchFamily="49" charset="0"/>
              </a:rPr>
              <a:t>mv </a:t>
            </a:r>
            <a:r>
              <a:rPr lang="en-US" altLang="en-US" sz="2000" b="1" dirty="0" err="1">
                <a:solidFill>
                  <a:srgbClr val="44546A"/>
                </a:solidFill>
                <a:latin typeface="Courier New" panose="02070309020205020404" pitchFamily="49" charset="0"/>
                <a:cs typeface="Courier New" panose="02070309020205020404" pitchFamily="49" charset="0"/>
              </a:rPr>
              <a:t>source_path</a:t>
            </a:r>
            <a:r>
              <a:rPr lang="en-US" altLang="en-US" sz="2000" b="1" dirty="0">
                <a:solidFill>
                  <a:srgbClr val="44546A"/>
                </a:solidFill>
                <a:latin typeface="Courier New" panose="02070309020205020404" pitchFamily="49" charset="0"/>
                <a:cs typeface="Courier New" panose="02070309020205020404" pitchFamily="49" charset="0"/>
              </a:rPr>
              <a:t> </a:t>
            </a:r>
            <a:r>
              <a:rPr lang="en-US" altLang="en-US" sz="2000" b="1" dirty="0" err="1">
                <a:solidFill>
                  <a:srgbClr val="44546A"/>
                </a:solidFill>
                <a:latin typeface="Courier New" panose="02070309020205020404" pitchFamily="49" charset="0"/>
                <a:cs typeface="Courier New" panose="02070309020205020404" pitchFamily="49" charset="0"/>
              </a:rPr>
              <a:t>dest_path</a:t>
            </a:r>
            <a:endParaRPr lang="en-US" altLang="en-US" sz="2000" b="1" dirty="0">
              <a:solidFill>
                <a:srgbClr val="44546A"/>
              </a:solidFill>
              <a:latin typeface="Courier New" panose="02070309020205020404" pitchFamily="49" charset="0"/>
              <a:cs typeface="Courier New" panose="02070309020205020404" pitchFamily="49" charset="0"/>
            </a:endParaRPr>
          </a:p>
          <a:p>
            <a:pPr>
              <a:spcBef>
                <a:spcPts val="2400"/>
              </a:spcBef>
            </a:pPr>
            <a:r>
              <a:rPr lang="en-US" altLang="en-US" sz="2400" b="1" dirty="0">
                <a:solidFill>
                  <a:srgbClr val="002060"/>
                </a:solidFill>
              </a:rPr>
              <a:t>Mode I:  </a:t>
            </a:r>
            <a:r>
              <a:rPr lang="en-US" altLang="en-US" sz="2400" dirty="0"/>
              <a:t>If </a:t>
            </a:r>
            <a:r>
              <a:rPr lang="en-US" altLang="en-US" sz="2000" b="1" dirty="0" err="1">
                <a:solidFill>
                  <a:srgbClr val="44546A"/>
                </a:solidFill>
                <a:latin typeface="Courier New" panose="02070309020205020404" pitchFamily="49" charset="0"/>
                <a:cs typeface="Courier New" panose="02070309020205020404" pitchFamily="49" charset="0"/>
              </a:rPr>
              <a:t>dest_path</a:t>
            </a:r>
            <a:r>
              <a:rPr lang="en-US" altLang="en-US" sz="2000" dirty="0"/>
              <a:t> </a:t>
            </a:r>
            <a:r>
              <a:rPr lang="en-US" altLang="en-US" sz="2200" dirty="0"/>
              <a:t>is an </a:t>
            </a:r>
            <a:r>
              <a:rPr lang="en-US" altLang="en-US" sz="2200" b="1" dirty="0">
                <a:solidFill>
                  <a:srgbClr val="C00000"/>
                </a:solidFill>
              </a:rPr>
              <a:t>existing directory</a:t>
            </a:r>
            <a:r>
              <a:rPr lang="en-US" altLang="en-US" sz="2200" dirty="0"/>
              <a:t> then all files and </a:t>
            </a:r>
            <a:r>
              <a:rPr lang="en-US" altLang="en-US" sz="2200" dirty="0" err="1"/>
              <a:t>dirs</a:t>
            </a:r>
            <a:r>
              <a:rPr lang="en-US" altLang="en-US" sz="2200" dirty="0"/>
              <a:t> in </a:t>
            </a:r>
            <a:r>
              <a:rPr lang="en-US" altLang="en-US" sz="2000" b="1" dirty="0" err="1">
                <a:solidFill>
                  <a:srgbClr val="44546A"/>
                </a:solidFill>
                <a:latin typeface="Courier New" panose="02070309020205020404" pitchFamily="49" charset="0"/>
                <a:cs typeface="Courier New" panose="02070309020205020404" pitchFamily="49" charset="0"/>
              </a:rPr>
              <a:t>source_path</a:t>
            </a:r>
            <a:r>
              <a:rPr lang="en-US" altLang="en-US" sz="2000" b="1" dirty="0">
                <a:solidFill>
                  <a:srgbClr val="44546A"/>
                </a:solidFill>
                <a:latin typeface="Courier New" panose="02070309020205020404" pitchFamily="49" charset="0"/>
                <a:cs typeface="Courier New" panose="02070309020205020404" pitchFamily="49" charset="0"/>
              </a:rPr>
              <a:t> </a:t>
            </a:r>
            <a:r>
              <a:rPr lang="en-US" altLang="en-US" sz="2200" dirty="0"/>
              <a:t>are copied/moved into directory </a:t>
            </a:r>
            <a:r>
              <a:rPr lang="en-US" altLang="en-US" sz="2000" b="1" dirty="0" err="1">
                <a:solidFill>
                  <a:srgbClr val="44546A"/>
                </a:solidFill>
                <a:latin typeface="Courier New" panose="02070309020205020404" pitchFamily="49" charset="0"/>
                <a:cs typeface="Courier New" panose="02070309020205020404" pitchFamily="49" charset="0"/>
              </a:rPr>
              <a:t>dest_path</a:t>
            </a:r>
            <a:r>
              <a:rPr lang="en-US" altLang="en-US" sz="2200" dirty="0"/>
              <a:t> with their original names.</a:t>
            </a:r>
          </a:p>
          <a:p>
            <a:pPr marL="173038" lvl="1" indent="0">
              <a:spcBef>
                <a:spcPts val="600"/>
              </a:spcBef>
              <a:buNone/>
            </a:pPr>
            <a:r>
              <a:rPr lang="en-US" altLang="en-US" sz="2200" b="1" dirty="0"/>
              <a:t>Note:  </a:t>
            </a:r>
            <a:r>
              <a:rPr lang="en-US" altLang="en-US" sz="2200" b="1" dirty="0" err="1">
                <a:solidFill>
                  <a:srgbClr val="44546A"/>
                </a:solidFill>
                <a:latin typeface="Courier New" panose="02070309020205020404" pitchFamily="49" charset="0"/>
                <a:cs typeface="Courier New" panose="02070309020205020404" pitchFamily="49" charset="0"/>
              </a:rPr>
              <a:t>source_path</a:t>
            </a:r>
            <a:r>
              <a:rPr lang="en-US" altLang="en-US" sz="2200" dirty="0"/>
              <a:t> may be a list of paths</a:t>
            </a:r>
          </a:p>
          <a:p>
            <a:pPr>
              <a:spcBef>
                <a:spcPts val="3000"/>
              </a:spcBef>
            </a:pPr>
            <a:r>
              <a:rPr lang="en-US" altLang="en-US" sz="2400" b="1" dirty="0">
                <a:solidFill>
                  <a:srgbClr val="002060"/>
                </a:solidFill>
              </a:rPr>
              <a:t>Mode II:  </a:t>
            </a:r>
            <a:r>
              <a:rPr lang="en-US" altLang="en-US" sz="2400" dirty="0"/>
              <a:t>If </a:t>
            </a:r>
            <a:r>
              <a:rPr lang="en-US" altLang="en-US" sz="2000" b="1" dirty="0" err="1">
                <a:solidFill>
                  <a:srgbClr val="44546A"/>
                </a:solidFill>
                <a:latin typeface="Courier New" panose="02070309020205020404" pitchFamily="49" charset="0"/>
                <a:cs typeface="Courier New" panose="02070309020205020404" pitchFamily="49" charset="0"/>
              </a:rPr>
              <a:t>dest_path</a:t>
            </a:r>
            <a:r>
              <a:rPr lang="en-US" altLang="en-US" sz="2000" dirty="0"/>
              <a:t> </a:t>
            </a:r>
            <a:r>
              <a:rPr lang="en-US" altLang="en-US" sz="2200" dirty="0"/>
              <a:t>is </a:t>
            </a:r>
            <a:r>
              <a:rPr lang="en-US" altLang="en-US" sz="2200" b="1" dirty="0">
                <a:solidFill>
                  <a:srgbClr val="C00000"/>
                </a:solidFill>
              </a:rPr>
              <a:t>not an existing directory</a:t>
            </a:r>
            <a:r>
              <a:rPr lang="en-US" altLang="en-US" sz="2200" dirty="0"/>
              <a:t> then </a:t>
            </a:r>
            <a:r>
              <a:rPr lang="en-US" altLang="en-US" sz="2000" b="1" dirty="0" err="1">
                <a:solidFill>
                  <a:srgbClr val="44546A"/>
                </a:solidFill>
                <a:latin typeface="Courier New" panose="02070309020205020404" pitchFamily="49" charset="0"/>
                <a:cs typeface="Courier New" panose="02070309020205020404" pitchFamily="49" charset="0"/>
              </a:rPr>
              <a:t>source_path</a:t>
            </a:r>
            <a:r>
              <a:rPr lang="en-US" altLang="en-US" sz="2000" b="1" dirty="0">
                <a:solidFill>
                  <a:srgbClr val="44546A"/>
                </a:solidFill>
                <a:latin typeface="Courier New" panose="02070309020205020404" pitchFamily="49" charset="0"/>
                <a:cs typeface="Courier New" panose="02070309020205020404" pitchFamily="49" charset="0"/>
              </a:rPr>
              <a:t> </a:t>
            </a:r>
            <a:r>
              <a:rPr lang="en-US" altLang="en-US" sz="2200" dirty="0"/>
              <a:t>is copied/moved into the parent directory of </a:t>
            </a:r>
            <a:r>
              <a:rPr lang="en-US" altLang="en-US" sz="2000" b="1" dirty="0" err="1">
                <a:solidFill>
                  <a:srgbClr val="44546A"/>
                </a:solidFill>
                <a:latin typeface="Courier New" panose="02070309020205020404" pitchFamily="49" charset="0"/>
                <a:cs typeface="Courier New" panose="02070309020205020404" pitchFamily="49" charset="0"/>
              </a:rPr>
              <a:t>dest_path</a:t>
            </a:r>
            <a:r>
              <a:rPr lang="en-US" altLang="en-US" sz="2200" dirty="0"/>
              <a:t> with its name changed.</a:t>
            </a:r>
          </a:p>
          <a:p>
            <a:pPr marL="173038" lvl="1" indent="0">
              <a:spcBef>
                <a:spcPts val="600"/>
              </a:spcBef>
              <a:buNone/>
            </a:pPr>
            <a:r>
              <a:rPr lang="en-US" altLang="en-US" sz="2200" b="1" dirty="0"/>
              <a:t>Note:  </a:t>
            </a:r>
            <a:r>
              <a:rPr lang="en-US" altLang="en-US" sz="2200" b="1" dirty="0" err="1">
                <a:solidFill>
                  <a:srgbClr val="44546A"/>
                </a:solidFill>
                <a:latin typeface="Courier New" panose="02070309020205020404" pitchFamily="49" charset="0"/>
                <a:cs typeface="Courier New" panose="02070309020205020404" pitchFamily="49" charset="0"/>
              </a:rPr>
              <a:t>source_path</a:t>
            </a:r>
            <a:r>
              <a:rPr lang="en-US" altLang="en-US" sz="2200" dirty="0"/>
              <a:t> must be a single path, and </a:t>
            </a:r>
            <a:r>
              <a:rPr lang="en-US" altLang="en-US" sz="2000" b="1" dirty="0" err="1">
                <a:solidFill>
                  <a:srgbClr val="44546A"/>
                </a:solidFill>
                <a:latin typeface="Courier New" panose="02070309020205020404" pitchFamily="49" charset="0"/>
                <a:cs typeface="Courier New" panose="02070309020205020404" pitchFamily="49" charset="0"/>
              </a:rPr>
              <a:t>dest_path</a:t>
            </a:r>
            <a:r>
              <a:rPr lang="en-US" altLang="en-US" sz="2000" dirty="0">
                <a:solidFill>
                  <a:prstClr val="black"/>
                </a:solidFill>
              </a:rPr>
              <a:t> </a:t>
            </a:r>
            <a:r>
              <a:rPr lang="en-US" altLang="en-US" sz="2200" dirty="0"/>
              <a:t>must be a path </a:t>
            </a:r>
            <a:r>
              <a:rPr lang="en-US" altLang="en-US" sz="2200" b="1" dirty="0"/>
              <a:t>under</a:t>
            </a:r>
            <a:r>
              <a:rPr lang="en-US" altLang="en-US" sz="2200" dirty="0"/>
              <a:t> an existing directory</a:t>
            </a:r>
          </a:p>
          <a:p>
            <a:endParaRPr lang="en-US" altLang="en-US" dirty="0"/>
          </a:p>
        </p:txBody>
      </p:sp>
      <p:pic>
        <p:nvPicPr>
          <p:cNvPr id="5" name="Picture 4">
            <a:extLst>
              <a:ext uri="{FF2B5EF4-FFF2-40B4-BE49-F238E27FC236}">
                <a16:creationId xmlns:a16="http://schemas.microsoft.com/office/drawing/2014/main" id="{6A728FA9-31DC-4588-AE4F-2552A87BBB9F}"/>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943603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3AB41-F45F-4301-B9C7-FC4724AD0792}"/>
              </a:ext>
            </a:extLst>
          </p:cNvPr>
          <p:cNvSpPr>
            <a:spLocks noGrp="1"/>
          </p:cNvSpPr>
          <p:nvPr>
            <p:ph type="title"/>
          </p:nvPr>
        </p:nvSpPr>
        <p:spPr/>
        <p:txBody>
          <a:bodyPr/>
          <a:lstStyle/>
          <a:p>
            <a:r>
              <a:rPr lang="en-US" sz="3300" b="1" dirty="0">
                <a:solidFill>
                  <a:srgbClr val="C55A11"/>
                </a:solidFill>
                <a:latin typeface="Arial"/>
                <a:cs typeface="Arial"/>
                <a:sym typeface="Calibri"/>
              </a:rPr>
              <a:t>Task 4</a:t>
            </a:r>
            <a:endParaRPr lang="en-IL" sz="3300" b="1" dirty="0">
              <a:solidFill>
                <a:srgbClr val="C55A11"/>
              </a:solidFill>
              <a:latin typeface="Arial"/>
              <a:cs typeface="Arial"/>
              <a:sym typeface="Calibri"/>
            </a:endParaRPr>
          </a:p>
        </p:txBody>
      </p:sp>
      <p:sp>
        <p:nvSpPr>
          <p:cNvPr id="3" name="Content Placeholder 2">
            <a:extLst>
              <a:ext uri="{FF2B5EF4-FFF2-40B4-BE49-F238E27FC236}">
                <a16:creationId xmlns:a16="http://schemas.microsoft.com/office/drawing/2014/main" id="{D3DF166F-1FCB-4E36-A9D4-78522B2A3A40}"/>
              </a:ext>
            </a:extLst>
          </p:cNvPr>
          <p:cNvSpPr>
            <a:spLocks noGrp="1"/>
          </p:cNvSpPr>
          <p:nvPr>
            <p:ph idx="1"/>
          </p:nvPr>
        </p:nvSpPr>
        <p:spPr/>
        <p:txBody>
          <a:bodyPr/>
          <a:lstStyle/>
          <a:p>
            <a:r>
              <a:rPr lang="en-US" dirty="0"/>
              <a:t>Enter directory </a:t>
            </a:r>
            <a:r>
              <a:rPr lang="en-US" dirty="0">
                <a:latin typeface="Courier New" panose="02070309020205020404" pitchFamily="49" charset="0"/>
                <a:cs typeface="Courier New" panose="02070309020205020404" pitchFamily="49" charset="0"/>
              </a:rPr>
              <a:t>dir2</a:t>
            </a:r>
            <a:endParaRPr lang="en-IL" dirty="0">
              <a:latin typeface="Courier New" panose="02070309020205020404" pitchFamily="49" charset="0"/>
              <a:cs typeface="Courier New" panose="02070309020205020404" pitchFamily="49" charset="0"/>
            </a:endParaRPr>
          </a:p>
        </p:txBody>
      </p:sp>
      <p:pic>
        <p:nvPicPr>
          <p:cNvPr id="4" name="Picture 3">
            <a:extLst>
              <a:ext uri="{FF2B5EF4-FFF2-40B4-BE49-F238E27FC236}">
                <a16:creationId xmlns:a16="http://schemas.microsoft.com/office/drawing/2014/main" id="{06A33081-6110-48CD-A56F-83BA9336F860}"/>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15589325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3AB41-F45F-4301-B9C7-FC4724AD0792}"/>
              </a:ext>
            </a:extLst>
          </p:cNvPr>
          <p:cNvSpPr>
            <a:spLocks noGrp="1"/>
          </p:cNvSpPr>
          <p:nvPr>
            <p:ph type="title"/>
          </p:nvPr>
        </p:nvSpPr>
        <p:spPr/>
        <p:txBody>
          <a:bodyPr/>
          <a:lstStyle/>
          <a:p>
            <a:r>
              <a:rPr lang="en-US" sz="3300" b="1" dirty="0">
                <a:solidFill>
                  <a:srgbClr val="C55A11"/>
                </a:solidFill>
                <a:latin typeface="Arial"/>
                <a:cs typeface="Arial"/>
                <a:sym typeface="Calibri"/>
              </a:rPr>
              <a:t>Task 5</a:t>
            </a:r>
            <a:endParaRPr lang="en-IL" sz="3300" b="1" dirty="0">
              <a:solidFill>
                <a:srgbClr val="C55A11"/>
              </a:solidFill>
              <a:latin typeface="Arial"/>
              <a:cs typeface="Arial"/>
              <a:sym typeface="Calibri"/>
            </a:endParaRPr>
          </a:p>
        </p:txBody>
      </p:sp>
      <p:sp>
        <p:nvSpPr>
          <p:cNvPr id="3" name="Content Placeholder 2">
            <a:extLst>
              <a:ext uri="{FF2B5EF4-FFF2-40B4-BE49-F238E27FC236}">
                <a16:creationId xmlns:a16="http://schemas.microsoft.com/office/drawing/2014/main" id="{D3DF166F-1FCB-4E36-A9D4-78522B2A3A40}"/>
              </a:ext>
            </a:extLst>
          </p:cNvPr>
          <p:cNvSpPr>
            <a:spLocks noGrp="1"/>
          </p:cNvSpPr>
          <p:nvPr>
            <p:ph idx="1"/>
          </p:nvPr>
        </p:nvSpPr>
        <p:spPr/>
        <p:txBody>
          <a:bodyPr/>
          <a:lstStyle/>
          <a:p>
            <a:r>
              <a:rPr lang="en-US" dirty="0"/>
              <a:t>Move file </a:t>
            </a:r>
            <a:r>
              <a:rPr lang="en-US" dirty="0" err="1">
                <a:latin typeface="Courier New" panose="02070309020205020404" pitchFamily="49" charset="0"/>
                <a:cs typeface="Courier New" panose="02070309020205020404" pitchFamily="49" charset="0"/>
              </a:rPr>
              <a:t>myfile</a:t>
            </a:r>
            <a:r>
              <a:rPr lang="en-US" dirty="0"/>
              <a:t> from directory </a:t>
            </a:r>
            <a:r>
              <a:rPr lang="en-US" dirty="0">
                <a:latin typeface="Courier New" panose="02070309020205020404" pitchFamily="49" charset="0"/>
                <a:cs typeface="Courier New" panose="02070309020205020404" pitchFamily="49" charset="0"/>
              </a:rPr>
              <a:t>subdir</a:t>
            </a:r>
            <a:r>
              <a:rPr lang="en-US" dirty="0"/>
              <a:t> to the current directory.</a:t>
            </a:r>
            <a:endParaRPr lang="en-IL" dirty="0"/>
          </a:p>
        </p:txBody>
      </p:sp>
      <p:pic>
        <p:nvPicPr>
          <p:cNvPr id="4" name="Picture 3">
            <a:extLst>
              <a:ext uri="{FF2B5EF4-FFF2-40B4-BE49-F238E27FC236}">
                <a16:creationId xmlns:a16="http://schemas.microsoft.com/office/drawing/2014/main" id="{8EA871D3-1E9E-4033-B9A1-0FAD33DF6AA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3041190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lstStyle/>
          <a:p>
            <a:r>
              <a:rPr lang="en-US" altLang="en-US" b="1" dirty="0">
                <a:solidFill>
                  <a:schemeClr val="accent2">
                    <a:lumMod val="75000"/>
                  </a:schemeClr>
                </a:solidFill>
                <a:latin typeface="Arial" panose="020B0604020202020204" pitchFamily="34" charset="0"/>
                <a:cs typeface="Arial" panose="020B0604020202020204" pitchFamily="34" charset="0"/>
              </a:rPr>
              <a:t>Moving or renaming files/directories</a:t>
            </a:r>
            <a:endParaRPr lang="en-US" altLang="en-US" dirty="0"/>
          </a:p>
        </p:txBody>
      </p:sp>
      <p:sp>
        <p:nvSpPr>
          <p:cNvPr id="4" name="Rectangle 3"/>
          <p:cNvSpPr>
            <a:spLocks noGrp="1" noChangeArrowheads="1"/>
          </p:cNvSpPr>
          <p:nvPr>
            <p:ph idx="1"/>
          </p:nvPr>
        </p:nvSpPr>
        <p:spPr>
          <a:xfrm>
            <a:off x="2160993" y="1593796"/>
            <a:ext cx="8412813" cy="5326375"/>
          </a:xfrm>
        </p:spPr>
        <p:txBody>
          <a:bodyPr>
            <a:normAutofit/>
          </a:bodyPr>
          <a:lstStyle/>
          <a:p>
            <a:pPr marL="0" indent="0">
              <a:spcBef>
                <a:spcPts val="500"/>
              </a:spcBef>
              <a:buNone/>
            </a:pPr>
            <a:r>
              <a:rPr lang="en-US" altLang="en-US" sz="2000" b="1" dirty="0">
                <a:solidFill>
                  <a:schemeClr val="accent2">
                    <a:lumMod val="75000"/>
                  </a:schemeClr>
                </a:solidFill>
                <a:latin typeface="Courier New" panose="02070309020205020404" pitchFamily="49" charset="0"/>
                <a:cs typeface="Courier New" panose="02070309020205020404" pitchFamily="49" charset="0"/>
              </a:rPr>
              <a:t>mv </a:t>
            </a:r>
            <a:r>
              <a:rPr lang="en-US" altLang="en-US" sz="2000" b="1" dirty="0" err="1">
                <a:solidFill>
                  <a:schemeClr val="tx2"/>
                </a:solidFill>
                <a:latin typeface="Courier New" panose="02070309020205020404" pitchFamily="49" charset="0"/>
                <a:cs typeface="Courier New" panose="02070309020205020404" pitchFamily="49" charset="0"/>
              </a:rPr>
              <a:t>source_path</a:t>
            </a:r>
            <a:r>
              <a:rPr lang="en-US" altLang="en-US" sz="2000" b="1" dirty="0">
                <a:solidFill>
                  <a:schemeClr val="tx2"/>
                </a:solidFill>
                <a:latin typeface="Courier New" panose="02070309020205020404" pitchFamily="49" charset="0"/>
                <a:cs typeface="Courier New" panose="02070309020205020404" pitchFamily="49" charset="0"/>
              </a:rPr>
              <a:t> </a:t>
            </a:r>
            <a:r>
              <a:rPr lang="en-US" altLang="en-US" sz="2000" b="1" dirty="0" err="1">
                <a:solidFill>
                  <a:schemeClr val="tx2"/>
                </a:solidFill>
                <a:latin typeface="Courier New" panose="02070309020205020404" pitchFamily="49" charset="0"/>
                <a:cs typeface="Courier New" panose="02070309020205020404" pitchFamily="49" charset="0"/>
              </a:rPr>
              <a:t>dest_path</a:t>
            </a:r>
            <a:r>
              <a:rPr lang="en-US" altLang="en-US" sz="2000" b="1" dirty="0">
                <a:solidFill>
                  <a:schemeClr val="accent2">
                    <a:lumMod val="75000"/>
                  </a:schemeClr>
                </a:solidFill>
                <a:latin typeface="Courier New" panose="02070309020205020404" pitchFamily="49" charset="0"/>
                <a:cs typeface="Courier New" panose="02070309020205020404" pitchFamily="49" charset="0"/>
              </a:rPr>
              <a:t>	</a:t>
            </a:r>
            <a:endParaRPr lang="en-US" altLang="en-US" sz="2000" b="1" dirty="0">
              <a:solidFill>
                <a:schemeClr val="tx2"/>
              </a:solidFill>
              <a:latin typeface="Courier New" panose="02070309020205020404" pitchFamily="49" charset="0"/>
              <a:cs typeface="Courier New" panose="02070309020205020404" pitchFamily="49" charset="0"/>
            </a:endParaRPr>
          </a:p>
          <a:p>
            <a:pPr>
              <a:spcBef>
                <a:spcPts val="2400"/>
              </a:spcBef>
            </a:pPr>
            <a:r>
              <a:rPr lang="en-US" altLang="en-US" sz="2400" dirty="0"/>
              <a:t>Command </a:t>
            </a:r>
            <a:r>
              <a:rPr lang="en-US" altLang="en-US" sz="2200" b="1" dirty="0">
                <a:solidFill>
                  <a:schemeClr val="tx2"/>
                </a:solidFill>
                <a:latin typeface="Courier New" panose="02070309020205020404" pitchFamily="49" charset="0"/>
                <a:cs typeface="Courier New" panose="02070309020205020404" pitchFamily="49" charset="0"/>
              </a:rPr>
              <a:t>mv</a:t>
            </a:r>
            <a:r>
              <a:rPr lang="en-US" altLang="en-US" sz="2400" dirty="0"/>
              <a:t> simply </a:t>
            </a:r>
            <a:r>
              <a:rPr lang="en-US" altLang="en-US" sz="2400" b="1" dirty="0">
                <a:solidFill>
                  <a:srgbClr val="C00000"/>
                </a:solidFill>
              </a:rPr>
              <a:t>copies and removes original</a:t>
            </a:r>
          </a:p>
          <a:p>
            <a:pPr>
              <a:spcBef>
                <a:spcPts val="2400"/>
              </a:spcBef>
            </a:pPr>
            <a:r>
              <a:rPr lang="en-US" altLang="en-US" sz="2400" dirty="0"/>
              <a:t>No need for recursive mode (</a:t>
            </a:r>
            <a:r>
              <a:rPr lang="en-US" altLang="en-US" sz="2200" b="1" dirty="0">
                <a:solidFill>
                  <a:srgbClr val="C00000"/>
                </a:solidFill>
                <a:latin typeface="Courier New" panose="02070309020205020404" pitchFamily="49" charset="0"/>
                <a:cs typeface="Courier New" panose="02070309020205020404" pitchFamily="49" charset="0"/>
              </a:rPr>
              <a:t>–r</a:t>
            </a:r>
            <a:r>
              <a:rPr lang="en-US" altLang="en-US" sz="2400" dirty="0"/>
              <a:t> or </a:t>
            </a:r>
            <a:r>
              <a:rPr lang="en-US" altLang="en-US" sz="2200" b="1" dirty="0">
                <a:solidFill>
                  <a:srgbClr val="C00000"/>
                </a:solidFill>
                <a:latin typeface="Courier New" panose="02070309020205020404" pitchFamily="49" charset="0"/>
                <a:cs typeface="Courier New" panose="02070309020205020404" pitchFamily="49" charset="0"/>
              </a:rPr>
              <a:t>–R</a:t>
            </a:r>
            <a:r>
              <a:rPr lang="en-US" altLang="en-US" sz="2400" dirty="0"/>
              <a:t>) when moving directories</a:t>
            </a:r>
            <a:endParaRPr lang="en-US" altLang="en-US" sz="2400" dirty="0">
              <a:solidFill>
                <a:srgbClr val="C00000"/>
              </a:solidFill>
            </a:endParaRPr>
          </a:p>
          <a:p>
            <a:pPr>
              <a:spcBef>
                <a:spcPts val="1200"/>
              </a:spcBef>
            </a:pPr>
            <a:r>
              <a:rPr lang="en-US" altLang="en-US" sz="2400" dirty="0"/>
              <a:t>File/directory can be </a:t>
            </a:r>
            <a:r>
              <a:rPr lang="en-US" altLang="en-US" sz="2400" b="1" dirty="0">
                <a:solidFill>
                  <a:srgbClr val="C00000"/>
                </a:solidFill>
              </a:rPr>
              <a:t>renamed</a:t>
            </a:r>
            <a:r>
              <a:rPr lang="en-US" altLang="en-US" sz="2400" dirty="0"/>
              <a:t> by using the same directory and different file name in </a:t>
            </a:r>
            <a:r>
              <a:rPr lang="en-US" altLang="en-US" sz="2200" b="1" dirty="0" err="1">
                <a:solidFill>
                  <a:schemeClr val="tx2"/>
                </a:solidFill>
                <a:latin typeface="Courier New" panose="02070309020205020404" pitchFamily="49" charset="0"/>
                <a:cs typeface="Courier New" panose="02070309020205020404" pitchFamily="49" charset="0"/>
              </a:rPr>
              <a:t>source_path</a:t>
            </a:r>
            <a:r>
              <a:rPr lang="en-US" altLang="en-US" sz="2200" b="1" dirty="0">
                <a:solidFill>
                  <a:schemeClr val="tx2"/>
                </a:solidFill>
                <a:latin typeface="Courier New" panose="02070309020205020404" pitchFamily="49" charset="0"/>
                <a:cs typeface="Courier New" panose="02070309020205020404" pitchFamily="49" charset="0"/>
              </a:rPr>
              <a:t> </a:t>
            </a:r>
            <a:r>
              <a:rPr lang="en-US" altLang="en-US" sz="2400" dirty="0"/>
              <a:t>and</a:t>
            </a:r>
            <a:r>
              <a:rPr lang="en-US" altLang="en-US" sz="2400" b="1" dirty="0">
                <a:solidFill>
                  <a:schemeClr val="tx2"/>
                </a:solidFill>
                <a:latin typeface="Courier New" panose="02070309020205020404" pitchFamily="49" charset="0"/>
                <a:cs typeface="Courier New" panose="02070309020205020404" pitchFamily="49" charset="0"/>
              </a:rPr>
              <a:t> </a:t>
            </a:r>
            <a:r>
              <a:rPr lang="en-US" altLang="en-US" sz="2400" b="1" dirty="0" err="1">
                <a:solidFill>
                  <a:schemeClr val="tx2"/>
                </a:solidFill>
                <a:latin typeface="Courier New" panose="02070309020205020404" pitchFamily="49" charset="0"/>
                <a:cs typeface="Courier New" panose="02070309020205020404" pitchFamily="49" charset="0"/>
              </a:rPr>
              <a:t>dest_path</a:t>
            </a:r>
            <a:r>
              <a:rPr lang="en-US" altLang="en-US" sz="2400" dirty="0"/>
              <a:t>.</a:t>
            </a:r>
          </a:p>
          <a:p>
            <a:pPr marL="0" indent="0">
              <a:spcBef>
                <a:spcPts val="1200"/>
              </a:spcBef>
              <a:buNone/>
            </a:pPr>
            <a:endParaRPr lang="en-US" altLang="en-US" sz="2400" dirty="0"/>
          </a:p>
          <a:p>
            <a:pPr marL="0" indent="0">
              <a:spcBef>
                <a:spcPts val="1200"/>
              </a:spcBef>
              <a:buNone/>
            </a:pPr>
            <a:r>
              <a:rPr lang="en-US" altLang="en-US" sz="2400" b="1" dirty="0">
                <a:solidFill>
                  <a:srgbClr val="002060"/>
                </a:solidFill>
              </a:rPr>
              <a:t>Example:</a:t>
            </a:r>
            <a:r>
              <a:rPr lang="en-US" altLang="en-US" sz="2400" dirty="0"/>
              <a:t>  </a:t>
            </a:r>
            <a:r>
              <a:rPr lang="en-US" altLang="en-US" sz="1800" b="1" dirty="0">
                <a:solidFill>
                  <a:schemeClr val="tx2"/>
                </a:solidFill>
                <a:latin typeface="Courier New" panose="02070309020205020404" pitchFamily="49" charset="0"/>
                <a:cs typeface="Courier New" panose="02070309020205020404" pitchFamily="49" charset="0"/>
              </a:rPr>
              <a:t>mv  ~/exercises/ex1/  ~/exercises/ex1-bak/</a:t>
            </a:r>
          </a:p>
          <a:p>
            <a:pPr marL="0" indent="0">
              <a:spcBef>
                <a:spcPts val="1200"/>
              </a:spcBef>
              <a:buNone/>
            </a:pPr>
            <a:endParaRPr lang="en-US" altLang="en-US" sz="2000" b="1" dirty="0">
              <a:solidFill>
                <a:schemeClr val="tx2"/>
              </a:solidFill>
              <a:latin typeface="Courier New" panose="02070309020205020404" pitchFamily="49" charset="0"/>
              <a:cs typeface="Courier New" panose="02070309020205020404" pitchFamily="49" charset="0"/>
            </a:endParaRPr>
          </a:p>
          <a:p>
            <a:pPr marL="0" indent="0">
              <a:spcBef>
                <a:spcPts val="1200"/>
              </a:spcBef>
              <a:buNone/>
            </a:pPr>
            <a:r>
              <a:rPr lang="en-US" altLang="en-US" sz="2200" dirty="0"/>
              <a:t>Directory </a:t>
            </a:r>
            <a:r>
              <a:rPr lang="en-US" altLang="en-US" sz="2000" b="1" dirty="0">
                <a:solidFill>
                  <a:schemeClr val="tx2"/>
                </a:solidFill>
                <a:latin typeface="Courier New" panose="02070309020205020404" pitchFamily="49" charset="0"/>
                <a:cs typeface="Courier New" panose="02070309020205020404" pitchFamily="49" charset="0"/>
              </a:rPr>
              <a:t>ex1</a:t>
            </a:r>
            <a:r>
              <a:rPr lang="en-US" altLang="en-US" sz="2200" dirty="0"/>
              <a:t> in </a:t>
            </a:r>
            <a:r>
              <a:rPr lang="en-US" altLang="en-US" sz="2000" b="1" dirty="0">
                <a:solidFill>
                  <a:srgbClr val="44546A"/>
                </a:solidFill>
                <a:latin typeface="Courier New" panose="02070309020205020404" pitchFamily="49" charset="0"/>
                <a:cs typeface="Courier New" panose="02070309020205020404" pitchFamily="49" charset="0"/>
              </a:rPr>
              <a:t>~/exercises/</a:t>
            </a:r>
            <a:r>
              <a:rPr lang="en-US" altLang="en-US" sz="2200" dirty="0"/>
              <a:t> is renamed </a:t>
            </a:r>
            <a:r>
              <a:rPr lang="en-US" altLang="en-US" sz="2000" b="1" dirty="0">
                <a:solidFill>
                  <a:schemeClr val="tx2"/>
                </a:solidFill>
                <a:latin typeface="Courier New" panose="02070309020205020404" pitchFamily="49" charset="0"/>
                <a:cs typeface="Courier New" panose="02070309020205020404" pitchFamily="49" charset="0"/>
              </a:rPr>
              <a:t>ex1-bak</a:t>
            </a:r>
          </a:p>
        </p:txBody>
      </p:sp>
      <p:pic>
        <p:nvPicPr>
          <p:cNvPr id="6" name="Picture 5">
            <a:extLst>
              <a:ext uri="{FF2B5EF4-FFF2-40B4-BE49-F238E27FC236}">
                <a16:creationId xmlns:a16="http://schemas.microsoft.com/office/drawing/2014/main" id="{BA5BDF27-7041-4C42-9452-CF25C1FEDBF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21631368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3AB41-F45F-4301-B9C7-FC4724AD0792}"/>
              </a:ext>
            </a:extLst>
          </p:cNvPr>
          <p:cNvSpPr>
            <a:spLocks noGrp="1"/>
          </p:cNvSpPr>
          <p:nvPr>
            <p:ph type="title"/>
          </p:nvPr>
        </p:nvSpPr>
        <p:spPr/>
        <p:txBody>
          <a:bodyPr/>
          <a:lstStyle/>
          <a:p>
            <a:r>
              <a:rPr lang="en-US" sz="3300" b="1" dirty="0">
                <a:solidFill>
                  <a:srgbClr val="C55A11"/>
                </a:solidFill>
                <a:latin typeface="Arial"/>
                <a:cs typeface="Arial"/>
                <a:sym typeface="Calibri"/>
              </a:rPr>
              <a:t>Task 6</a:t>
            </a:r>
            <a:endParaRPr lang="en-IL" sz="3300" b="1" dirty="0">
              <a:solidFill>
                <a:srgbClr val="C55A11"/>
              </a:solidFill>
              <a:latin typeface="Arial"/>
              <a:cs typeface="Arial"/>
              <a:sym typeface="Calibri"/>
            </a:endParaRPr>
          </a:p>
        </p:txBody>
      </p:sp>
      <p:sp>
        <p:nvSpPr>
          <p:cNvPr id="3" name="Content Placeholder 2">
            <a:extLst>
              <a:ext uri="{FF2B5EF4-FFF2-40B4-BE49-F238E27FC236}">
                <a16:creationId xmlns:a16="http://schemas.microsoft.com/office/drawing/2014/main" id="{D3DF166F-1FCB-4E36-A9D4-78522B2A3A40}"/>
              </a:ext>
            </a:extLst>
          </p:cNvPr>
          <p:cNvSpPr>
            <a:spLocks noGrp="1"/>
          </p:cNvSpPr>
          <p:nvPr>
            <p:ph idx="1"/>
          </p:nvPr>
        </p:nvSpPr>
        <p:spPr/>
        <p:txBody>
          <a:bodyPr/>
          <a:lstStyle/>
          <a:p>
            <a:r>
              <a:rPr lang="en-US" dirty="0"/>
              <a:t>Change the name of file </a:t>
            </a:r>
            <a:r>
              <a:rPr lang="en-US" dirty="0" err="1">
                <a:latin typeface="Courier New" panose="02070309020205020404" pitchFamily="49" charset="0"/>
                <a:cs typeface="Courier New" panose="02070309020205020404" pitchFamily="49" charset="0"/>
              </a:rPr>
              <a:t>hello.world</a:t>
            </a:r>
            <a:r>
              <a:rPr lang="en-US" dirty="0">
                <a:latin typeface="Courier New" panose="02070309020205020404" pitchFamily="49" charset="0"/>
                <a:cs typeface="Courier New" panose="02070309020205020404" pitchFamily="49" charset="0"/>
              </a:rPr>
              <a:t> </a:t>
            </a:r>
            <a:r>
              <a:rPr lang="en-US" dirty="0"/>
              <a:t>in </a:t>
            </a:r>
            <a:r>
              <a:rPr lang="en-US" dirty="0">
                <a:latin typeface="Courier New" panose="02070309020205020404" pitchFamily="49" charset="0"/>
                <a:cs typeface="Courier New" panose="02070309020205020404" pitchFamily="49" charset="0"/>
              </a:rPr>
              <a:t>subdir</a:t>
            </a:r>
            <a:r>
              <a:rPr lang="en-US" dirty="0"/>
              <a:t> to </a:t>
            </a:r>
            <a:r>
              <a:rPr lang="en-US" dirty="0">
                <a:latin typeface="Courier New" panose="02070309020205020404" pitchFamily="49" charset="0"/>
                <a:cs typeface="Courier New" panose="02070309020205020404" pitchFamily="49" charset="0"/>
              </a:rPr>
              <a:t>hello</a:t>
            </a:r>
            <a:r>
              <a:rPr lang="en-US" dirty="0"/>
              <a:t>.</a:t>
            </a:r>
            <a:endParaRPr lang="en-IL" dirty="0"/>
          </a:p>
        </p:txBody>
      </p:sp>
      <p:pic>
        <p:nvPicPr>
          <p:cNvPr id="4" name="Picture 3">
            <a:extLst>
              <a:ext uri="{FF2B5EF4-FFF2-40B4-BE49-F238E27FC236}">
                <a16:creationId xmlns:a16="http://schemas.microsoft.com/office/drawing/2014/main" id="{4F8846D9-92E4-42BB-A781-ED4183BB7F94}"/>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38333780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3AB41-F45F-4301-B9C7-FC4724AD0792}"/>
              </a:ext>
            </a:extLst>
          </p:cNvPr>
          <p:cNvSpPr>
            <a:spLocks noGrp="1"/>
          </p:cNvSpPr>
          <p:nvPr>
            <p:ph type="title"/>
          </p:nvPr>
        </p:nvSpPr>
        <p:spPr/>
        <p:txBody>
          <a:bodyPr/>
          <a:lstStyle/>
          <a:p>
            <a:r>
              <a:rPr lang="en-US" sz="3300" b="1" dirty="0">
                <a:solidFill>
                  <a:srgbClr val="C55A11"/>
                </a:solidFill>
                <a:latin typeface="Arial"/>
                <a:cs typeface="Arial"/>
                <a:sym typeface="Calibri"/>
              </a:rPr>
              <a:t>Task 7</a:t>
            </a:r>
            <a:endParaRPr lang="en-IL" sz="3300" b="1" dirty="0">
              <a:solidFill>
                <a:srgbClr val="C55A11"/>
              </a:solidFill>
              <a:latin typeface="Arial"/>
              <a:cs typeface="Arial"/>
              <a:sym typeface="Calibri"/>
            </a:endParaRPr>
          </a:p>
        </p:txBody>
      </p:sp>
      <p:sp>
        <p:nvSpPr>
          <p:cNvPr id="3" name="Content Placeholder 2">
            <a:extLst>
              <a:ext uri="{FF2B5EF4-FFF2-40B4-BE49-F238E27FC236}">
                <a16:creationId xmlns:a16="http://schemas.microsoft.com/office/drawing/2014/main" id="{D3DF166F-1FCB-4E36-A9D4-78522B2A3A40}"/>
              </a:ext>
            </a:extLst>
          </p:cNvPr>
          <p:cNvSpPr>
            <a:spLocks noGrp="1"/>
          </p:cNvSpPr>
          <p:nvPr>
            <p:ph idx="1"/>
          </p:nvPr>
        </p:nvSpPr>
        <p:spPr/>
        <p:txBody>
          <a:bodyPr/>
          <a:lstStyle/>
          <a:p>
            <a:r>
              <a:rPr lang="en-US" dirty="0"/>
              <a:t>Add write permission to </a:t>
            </a:r>
            <a:r>
              <a:rPr lang="en-US" b="1" u="sng" dirty="0"/>
              <a:t>yourself and your group</a:t>
            </a:r>
            <a:r>
              <a:rPr lang="en-US" dirty="0"/>
              <a:t> for all files in the current directory and its subdirectories. Use an </a:t>
            </a:r>
            <a:r>
              <a:rPr lang="en-US" b="1" u="sng" dirty="0"/>
              <a:t>alphabetic permission specifier</a:t>
            </a:r>
            <a:r>
              <a:rPr lang="en-US" dirty="0"/>
              <a:t> for this.</a:t>
            </a:r>
            <a:endParaRPr lang="en-IL" dirty="0"/>
          </a:p>
        </p:txBody>
      </p:sp>
      <p:pic>
        <p:nvPicPr>
          <p:cNvPr id="4" name="Picture 3">
            <a:extLst>
              <a:ext uri="{FF2B5EF4-FFF2-40B4-BE49-F238E27FC236}">
                <a16:creationId xmlns:a16="http://schemas.microsoft.com/office/drawing/2014/main" id="{F551A7D9-824C-4F67-BE31-F0087F08AD67}"/>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22145419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pPr eaLnBrk="1" hangingPunct="1"/>
            <a:r>
              <a:rPr lang="en-US" altLang="en-US" b="1" dirty="0">
                <a:solidFill>
                  <a:schemeClr val="accent2">
                    <a:lumMod val="75000"/>
                  </a:schemeClr>
                </a:solidFill>
                <a:latin typeface="Courier New" panose="02070309020205020404" pitchFamily="49" charset="0"/>
                <a:cs typeface="Courier New" panose="02070309020205020404" pitchFamily="49" charset="0"/>
              </a:rPr>
              <a:t>ls -l</a:t>
            </a:r>
            <a:r>
              <a:rPr lang="en-US" altLang="en-US" dirty="0">
                <a:solidFill>
                  <a:schemeClr val="accent2">
                    <a:lumMod val="75000"/>
                  </a:schemeClr>
                </a:solidFill>
              </a:rPr>
              <a:t>    </a:t>
            </a:r>
            <a:r>
              <a:rPr lang="en-US" altLang="en-US" b="1" dirty="0">
                <a:solidFill>
                  <a:schemeClr val="accent2">
                    <a:lumMod val="75000"/>
                  </a:schemeClr>
                </a:solidFill>
                <a:latin typeface="Arial" panose="020B0604020202020204" pitchFamily="34" charset="0"/>
                <a:cs typeface="Arial" panose="020B0604020202020204" pitchFamily="34" charset="0"/>
              </a:rPr>
              <a:t>– Example</a:t>
            </a:r>
          </a:p>
        </p:txBody>
      </p:sp>
      <p:sp>
        <p:nvSpPr>
          <p:cNvPr id="114691" name="Rectangle 3"/>
          <p:cNvSpPr>
            <a:spLocks noGrp="1" noChangeArrowheads="1"/>
          </p:cNvSpPr>
          <p:nvPr>
            <p:ph idx="1"/>
          </p:nvPr>
        </p:nvSpPr>
        <p:spPr>
          <a:xfrm>
            <a:off x="1609725" y="5291932"/>
            <a:ext cx="8585230" cy="441991"/>
          </a:xfrm>
        </p:spPr>
        <p:txBody>
          <a:bodyPr>
            <a:noAutofit/>
          </a:bodyPr>
          <a:lstStyle/>
          <a:p>
            <a:pPr eaLnBrk="1" hangingPunct="1"/>
            <a:r>
              <a:rPr lang="en-US" altLang="en-US" sz="2400" dirty="0"/>
              <a:t>The </a:t>
            </a:r>
            <a:r>
              <a:rPr lang="en-US" altLang="en-US" sz="2400" b="1" dirty="0">
                <a:solidFill>
                  <a:schemeClr val="tx2"/>
                </a:solidFill>
                <a:latin typeface="Courier New" panose="02070309020205020404" pitchFamily="49" charset="0"/>
                <a:cs typeface="Courier New" panose="02070309020205020404" pitchFamily="49" charset="0"/>
              </a:rPr>
              <a:t>–l</a:t>
            </a:r>
            <a:r>
              <a:rPr lang="en-US" altLang="en-US" sz="2400" dirty="0"/>
              <a:t> option is used for printing a detailed account for each file</a:t>
            </a:r>
            <a:endParaRPr lang="en-US" altLang="en-US" sz="2400" b="1" dirty="0">
              <a:solidFill>
                <a:schemeClr val="tx2"/>
              </a:solidFill>
              <a:latin typeface="Courier New" panose="02070309020205020404" pitchFamily="49" charset="0"/>
              <a:cs typeface="Courier New" panose="02070309020205020404" pitchFamily="49" charset="0"/>
            </a:endParaRPr>
          </a:p>
        </p:txBody>
      </p:sp>
      <p:sp>
        <p:nvSpPr>
          <p:cNvPr id="8" name="Text Box 4"/>
          <p:cNvSpPr txBox="1">
            <a:spLocks noChangeArrowheads="1"/>
          </p:cNvSpPr>
          <p:nvPr/>
        </p:nvSpPr>
        <p:spPr bwMode="auto">
          <a:xfrm>
            <a:off x="1047750" y="1918999"/>
            <a:ext cx="9629775" cy="461665"/>
          </a:xfrm>
          <a:prstGeom prst="rect">
            <a:avLst/>
          </a:prstGeom>
          <a:solidFill>
            <a:schemeClr val="accent1"/>
          </a:solidFill>
          <a:ln w="9525">
            <a:solidFill>
              <a:schemeClr val="hlink"/>
            </a:solidFill>
            <a:miter lim="800000"/>
            <a:headEnd/>
            <a:tailEnd/>
          </a:ln>
        </p:spPr>
        <p:txBody>
          <a:bodyPr wrap="square">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r>
              <a:rPr lang="en-US" altLang="en-US" sz="2400" b="1" dirty="0">
                <a:highlight>
                  <a:srgbClr val="FFFF00"/>
                </a:highlight>
                <a:latin typeface="Courier New" panose="02070309020205020404" pitchFamily="49" charset="0"/>
                <a:cs typeface="Courier New" panose="02070309020205020404" pitchFamily="49" charset="0"/>
              </a:rPr>
              <a:t>ls -l</a:t>
            </a:r>
          </a:p>
        </p:txBody>
      </p:sp>
      <p:sp>
        <p:nvSpPr>
          <p:cNvPr id="10" name="Text Box 5"/>
          <p:cNvSpPr txBox="1">
            <a:spLocks noChangeArrowheads="1"/>
          </p:cNvSpPr>
          <p:nvPr/>
        </p:nvSpPr>
        <p:spPr bwMode="auto">
          <a:xfrm>
            <a:off x="1047750" y="2494910"/>
            <a:ext cx="9629775" cy="2246769"/>
          </a:xfrm>
          <a:prstGeom prst="rect">
            <a:avLst/>
          </a:prstGeom>
          <a:solidFill>
            <a:srgbClr val="ECEAAC"/>
          </a:solidFill>
          <a:ln w="9525">
            <a:solidFill>
              <a:schemeClr val="accent3">
                <a:lumMod val="75000"/>
              </a:schemeClr>
            </a:solidFill>
            <a:miter lim="800000"/>
            <a:headEnd/>
            <a:tailEnd/>
          </a:ln>
          <a:effectLst/>
        </p:spPr>
        <p:txBody>
          <a:bodyPr wrap="square">
            <a:spAutoFit/>
          </a:bodyPr>
          <a:lstStyle/>
          <a:p>
            <a:pPr>
              <a:defRPr/>
            </a:pPr>
            <a:r>
              <a:rPr lang="en-US" sz="2000" b="1" dirty="0">
                <a:latin typeface="Courier New" pitchFamily="49" charset="0"/>
                <a:cs typeface="Courier New" pitchFamily="49" charset="0"/>
              </a:rPr>
              <a:t>-</a:t>
            </a:r>
            <a:r>
              <a:rPr lang="en-US" sz="2000" b="1" dirty="0" err="1">
                <a:latin typeface="Courier New" pitchFamily="49" charset="0"/>
                <a:cs typeface="Courier New" pitchFamily="49" charset="0"/>
              </a:rPr>
              <a:t>rw</a:t>
            </a:r>
            <a:r>
              <a:rPr lang="en-US" sz="2000" b="1" dirty="0">
                <a:latin typeface="Courier New" pitchFamily="49" charset="0"/>
                <a:cs typeface="Courier New" pitchFamily="49" charset="0"/>
              </a:rPr>
              <a:t>-------  1 demo  students   317 Oct 19 04:35 backup.tar.gz</a:t>
            </a:r>
          </a:p>
          <a:p>
            <a:pPr>
              <a:defRPr/>
            </a:pPr>
            <a:r>
              <a:rPr lang="en-US" sz="2000" b="1" dirty="0" err="1">
                <a:latin typeface="Courier New" pitchFamily="49" charset="0"/>
                <a:cs typeface="Courier New" pitchFamily="49" charset="0"/>
              </a:rPr>
              <a:t>drwx</a:t>
            </a:r>
            <a:r>
              <a:rPr lang="en-US" sz="2000" b="1" dirty="0">
                <a:latin typeface="Courier New" pitchFamily="49" charset="0"/>
                <a:cs typeface="Courier New" pitchFamily="49" charset="0"/>
              </a:rPr>
              <a:t>------  2 demo  students  4096 Oct 19 04:31 bin</a:t>
            </a:r>
          </a:p>
          <a:p>
            <a:pPr>
              <a:defRPr/>
            </a:pPr>
            <a:r>
              <a:rPr lang="en-US" sz="2000" b="1" dirty="0">
                <a:latin typeface="Courier New" pitchFamily="49" charset="0"/>
                <a:cs typeface="Courier New" pitchFamily="49" charset="0"/>
              </a:rPr>
              <a:t>-</a:t>
            </a:r>
            <a:r>
              <a:rPr lang="en-US" sz="2000" b="1" dirty="0" err="1">
                <a:latin typeface="Courier New" pitchFamily="49" charset="0"/>
                <a:cs typeface="Courier New" pitchFamily="49" charset="0"/>
              </a:rPr>
              <a:t>rwxr</a:t>
            </a:r>
            <a:r>
              <a:rPr lang="en-US" sz="2000" b="1" dirty="0">
                <a:latin typeface="Courier New" pitchFamily="49" charset="0"/>
                <a:cs typeface="Courier New" pitchFamily="49" charset="0"/>
              </a:rPr>
              <a:t>-----  1 demo  students    35 Oct 19 13:46 </a:t>
            </a:r>
            <a:r>
              <a:rPr lang="en-US" sz="2000" b="1" dirty="0" err="1">
                <a:latin typeface="Courier New" pitchFamily="49" charset="0"/>
                <a:cs typeface="Courier New" pitchFamily="49" charset="0"/>
              </a:rPr>
              <a:t>create_backup</a:t>
            </a:r>
            <a:endParaRPr lang="en-US" sz="2000" b="1" dirty="0">
              <a:latin typeface="Courier New" pitchFamily="49" charset="0"/>
              <a:cs typeface="Courier New" pitchFamily="49" charset="0"/>
            </a:endParaRPr>
          </a:p>
          <a:p>
            <a:pPr>
              <a:defRPr/>
            </a:pPr>
            <a:r>
              <a:rPr lang="en-US" sz="2000" b="1" dirty="0" err="1">
                <a:latin typeface="Courier New" pitchFamily="49" charset="0"/>
                <a:cs typeface="Courier New" pitchFamily="49" charset="0"/>
              </a:rPr>
              <a:t>drwx</a:t>
            </a:r>
            <a:r>
              <a:rPr lang="en-US" sz="2000" b="1" dirty="0">
                <a:latin typeface="Courier New" pitchFamily="49" charset="0"/>
                <a:cs typeface="Courier New" pitchFamily="49" charset="0"/>
              </a:rPr>
              <a:t>------  2 demo  students  4096 Oct 19 04:30 </a:t>
            </a:r>
            <a:r>
              <a:rPr lang="en-US" sz="2000" b="1" dirty="0" err="1">
                <a:latin typeface="Courier New" pitchFamily="49" charset="0"/>
                <a:cs typeface="Courier New" pitchFamily="49" charset="0"/>
              </a:rPr>
              <a:t>my_documents</a:t>
            </a:r>
            <a:endParaRPr lang="en-US" sz="2000" b="1" dirty="0">
              <a:latin typeface="Courier New" pitchFamily="49" charset="0"/>
              <a:cs typeface="Courier New" pitchFamily="49" charset="0"/>
            </a:endParaRPr>
          </a:p>
          <a:p>
            <a:pPr>
              <a:defRPr/>
            </a:pPr>
            <a:r>
              <a:rPr lang="en-US" sz="2000" b="1" dirty="0">
                <a:latin typeface="Courier New" pitchFamily="49" charset="0"/>
                <a:cs typeface="Courier New" pitchFamily="49" charset="0"/>
              </a:rPr>
              <a:t>-</a:t>
            </a:r>
            <a:r>
              <a:rPr lang="en-US" sz="2000" b="1" dirty="0" err="1">
                <a:latin typeface="Courier New" pitchFamily="49" charset="0"/>
                <a:cs typeface="Courier New" pitchFamily="49" charset="0"/>
              </a:rPr>
              <a:t>rw</a:t>
            </a:r>
            <a:r>
              <a:rPr lang="en-US" sz="2000" b="1" dirty="0">
                <a:latin typeface="Courier New" pitchFamily="49" charset="0"/>
                <a:cs typeface="Courier New" pitchFamily="49" charset="0"/>
              </a:rPr>
              <a:t>-r--r--  1 demo  students    17 Oct 19 04:31 </a:t>
            </a:r>
            <a:r>
              <a:rPr lang="en-US" sz="2000" b="1" dirty="0" err="1">
                <a:latin typeface="Courier New" pitchFamily="49" charset="0"/>
                <a:cs typeface="Courier New" pitchFamily="49" charset="0"/>
              </a:rPr>
              <a:t>phone_list</a:t>
            </a:r>
            <a:endParaRPr lang="en-US" sz="2000" b="1" dirty="0">
              <a:latin typeface="Courier New" pitchFamily="49" charset="0"/>
              <a:cs typeface="Courier New" pitchFamily="49" charset="0"/>
            </a:endParaRPr>
          </a:p>
          <a:p>
            <a:pPr>
              <a:defRPr/>
            </a:pPr>
            <a:r>
              <a:rPr lang="en-US" sz="2000" b="1" dirty="0" err="1">
                <a:latin typeface="Courier New" pitchFamily="49" charset="0"/>
                <a:cs typeface="Courier New" pitchFamily="49" charset="0"/>
              </a:rPr>
              <a:t>drwx</a:t>
            </a:r>
            <a:r>
              <a:rPr lang="en-US" sz="2000" b="1" dirty="0">
                <a:latin typeface="Courier New" pitchFamily="49" charset="0"/>
                <a:cs typeface="Courier New" pitchFamily="49" charset="0"/>
              </a:rPr>
              <a:t>------  3 demo  students  4096 Oct 19 04:32 solutions</a:t>
            </a:r>
          </a:p>
          <a:p>
            <a:pPr>
              <a:defRPr/>
            </a:pPr>
            <a:r>
              <a:rPr lang="en-US" sz="2000" b="1" dirty="0">
                <a:latin typeface="Courier New" pitchFamily="49" charset="0"/>
                <a:cs typeface="Courier New" pitchFamily="49" charset="0"/>
              </a:rPr>
              <a:t>-</a:t>
            </a:r>
            <a:r>
              <a:rPr lang="en-US" sz="2000" b="1" dirty="0" err="1">
                <a:latin typeface="Courier New" pitchFamily="49" charset="0"/>
                <a:cs typeface="Courier New" pitchFamily="49" charset="0"/>
              </a:rPr>
              <a:t>rwxrw</a:t>
            </a:r>
            <a:r>
              <a:rPr lang="en-US" sz="2000" b="1" dirty="0">
                <a:latin typeface="Courier New" pitchFamily="49" charset="0"/>
                <a:cs typeface="Courier New" pitchFamily="49" charset="0"/>
              </a:rPr>
              <a:t>-r--  2 demo  students  4096 Oct 19 04:30 temp</a:t>
            </a:r>
          </a:p>
        </p:txBody>
      </p:sp>
      <p:sp>
        <p:nvSpPr>
          <p:cNvPr id="12" name="Text Box 7"/>
          <p:cNvSpPr txBox="1">
            <a:spLocks noChangeArrowheads="1"/>
          </p:cNvSpPr>
          <p:nvPr/>
        </p:nvSpPr>
        <p:spPr bwMode="auto">
          <a:xfrm>
            <a:off x="1217643" y="4894513"/>
            <a:ext cx="1670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a:spcBef>
                <a:spcPct val="50000"/>
              </a:spcBef>
            </a:pPr>
            <a:r>
              <a:rPr lang="en-US" altLang="en-US" b="1" dirty="0">
                <a:solidFill>
                  <a:schemeClr val="tx2"/>
                </a:solidFill>
                <a:latin typeface="Tahoma" panose="020B0604030504040204" pitchFamily="34" charset="0"/>
                <a:cs typeface="Tahoma" panose="020B0604030504040204" pitchFamily="34" charset="0"/>
              </a:rPr>
              <a:t>Permissions</a:t>
            </a:r>
          </a:p>
        </p:txBody>
      </p:sp>
      <p:sp>
        <p:nvSpPr>
          <p:cNvPr id="14" name="Text Box 9"/>
          <p:cNvSpPr txBox="1">
            <a:spLocks noChangeArrowheads="1"/>
          </p:cNvSpPr>
          <p:nvPr/>
        </p:nvSpPr>
        <p:spPr bwMode="auto">
          <a:xfrm>
            <a:off x="3221069" y="4894513"/>
            <a:ext cx="7588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a:spcBef>
                <a:spcPct val="50000"/>
              </a:spcBef>
            </a:pPr>
            <a:r>
              <a:rPr lang="en-US" altLang="en-US" b="1" dirty="0">
                <a:solidFill>
                  <a:schemeClr val="tx2"/>
                </a:solidFill>
                <a:latin typeface="Tahoma" panose="020B0604030504040204" pitchFamily="34" charset="0"/>
                <a:cs typeface="Tahoma" panose="020B0604030504040204" pitchFamily="34" charset="0"/>
              </a:rPr>
              <a:t>User</a:t>
            </a:r>
          </a:p>
        </p:txBody>
      </p:sp>
      <p:sp>
        <p:nvSpPr>
          <p:cNvPr id="16" name="Text Box 11"/>
          <p:cNvSpPr txBox="1">
            <a:spLocks noChangeArrowheads="1"/>
          </p:cNvSpPr>
          <p:nvPr/>
        </p:nvSpPr>
        <p:spPr bwMode="auto">
          <a:xfrm>
            <a:off x="4245006" y="4894513"/>
            <a:ext cx="9112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a:spcBef>
                <a:spcPct val="50000"/>
              </a:spcBef>
            </a:pPr>
            <a:r>
              <a:rPr lang="en-US" altLang="en-US" b="1" dirty="0">
                <a:solidFill>
                  <a:schemeClr val="tx2"/>
                </a:solidFill>
                <a:latin typeface="Tahoma" panose="020B0604030504040204" pitchFamily="34" charset="0"/>
                <a:cs typeface="Tahoma" panose="020B0604030504040204" pitchFamily="34" charset="0"/>
              </a:rPr>
              <a:t>Group</a:t>
            </a:r>
          </a:p>
        </p:txBody>
      </p:sp>
      <p:sp>
        <p:nvSpPr>
          <p:cNvPr id="18" name="Text Box 13"/>
          <p:cNvSpPr txBox="1">
            <a:spLocks noChangeArrowheads="1"/>
          </p:cNvSpPr>
          <p:nvPr/>
        </p:nvSpPr>
        <p:spPr bwMode="auto">
          <a:xfrm>
            <a:off x="5565806" y="4894513"/>
            <a:ext cx="7588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a:spcBef>
                <a:spcPct val="50000"/>
              </a:spcBef>
            </a:pPr>
            <a:r>
              <a:rPr lang="en-US" altLang="en-US" b="1" dirty="0">
                <a:solidFill>
                  <a:schemeClr val="tx2"/>
                </a:solidFill>
                <a:latin typeface="Tahoma" panose="020B0604030504040204" pitchFamily="34" charset="0"/>
                <a:cs typeface="Tahoma" panose="020B0604030504040204" pitchFamily="34" charset="0"/>
              </a:rPr>
              <a:t>Size</a:t>
            </a:r>
          </a:p>
        </p:txBody>
      </p:sp>
      <p:sp>
        <p:nvSpPr>
          <p:cNvPr id="20" name="Text Box 15"/>
          <p:cNvSpPr txBox="1">
            <a:spLocks noChangeArrowheads="1"/>
          </p:cNvSpPr>
          <p:nvPr/>
        </p:nvSpPr>
        <p:spPr bwMode="auto">
          <a:xfrm>
            <a:off x="6591330" y="4894513"/>
            <a:ext cx="1517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a:spcBef>
                <a:spcPct val="50000"/>
              </a:spcBef>
            </a:pPr>
            <a:r>
              <a:rPr lang="en-US" altLang="en-US" b="1" dirty="0">
                <a:solidFill>
                  <a:schemeClr val="tx2"/>
                </a:solidFill>
                <a:latin typeface="Tahoma" panose="020B0604030504040204" pitchFamily="34" charset="0"/>
                <a:cs typeface="Tahoma" panose="020B0604030504040204" pitchFamily="34" charset="0"/>
              </a:rPr>
              <a:t>Date/Time</a:t>
            </a:r>
          </a:p>
        </p:txBody>
      </p:sp>
      <p:sp>
        <p:nvSpPr>
          <p:cNvPr id="22" name="Text Box 17"/>
          <p:cNvSpPr txBox="1">
            <a:spLocks noChangeArrowheads="1"/>
          </p:cNvSpPr>
          <p:nvPr/>
        </p:nvSpPr>
        <p:spPr bwMode="auto">
          <a:xfrm>
            <a:off x="8336786" y="4895663"/>
            <a:ext cx="9858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a:spcBef>
                <a:spcPct val="50000"/>
              </a:spcBef>
            </a:pPr>
            <a:r>
              <a:rPr lang="en-US" altLang="en-US" b="1" dirty="0">
                <a:solidFill>
                  <a:schemeClr val="tx2"/>
                </a:solidFill>
                <a:latin typeface="Tahoma" panose="020B0604030504040204" pitchFamily="34" charset="0"/>
                <a:cs typeface="Tahoma" panose="020B0604030504040204" pitchFamily="34" charset="0"/>
              </a:rPr>
              <a:t>Name</a:t>
            </a:r>
          </a:p>
        </p:txBody>
      </p:sp>
      <p:pic>
        <p:nvPicPr>
          <p:cNvPr id="24" name="Picture 23">
            <a:extLst>
              <a:ext uri="{FF2B5EF4-FFF2-40B4-BE49-F238E27FC236}">
                <a16:creationId xmlns:a16="http://schemas.microsoft.com/office/drawing/2014/main" id="{BB5A1B11-D273-4F02-9132-967F3D74E7E2}"/>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cxnSp>
        <p:nvCxnSpPr>
          <p:cNvPr id="4" name="Straight Arrow Connector 3">
            <a:extLst>
              <a:ext uri="{FF2B5EF4-FFF2-40B4-BE49-F238E27FC236}">
                <a16:creationId xmlns:a16="http://schemas.microsoft.com/office/drawing/2014/main" id="{A450C37A-E98C-4A97-A0DE-2F37F89314AA}"/>
              </a:ext>
            </a:extLst>
          </p:cNvPr>
          <p:cNvCxnSpPr/>
          <p:nvPr/>
        </p:nvCxnSpPr>
        <p:spPr>
          <a:xfrm flipV="1">
            <a:off x="1914525" y="4676775"/>
            <a:ext cx="0" cy="2748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E73F7EF0-9E26-4C74-BCAE-496146BF7AC1}"/>
              </a:ext>
            </a:extLst>
          </p:cNvPr>
          <p:cNvCxnSpPr/>
          <p:nvPr/>
        </p:nvCxnSpPr>
        <p:spPr>
          <a:xfrm flipV="1">
            <a:off x="3552825" y="4686300"/>
            <a:ext cx="0" cy="2748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6AFFACC-AF6B-46BB-93CE-ACFB7F0965A2}"/>
              </a:ext>
            </a:extLst>
          </p:cNvPr>
          <p:cNvCxnSpPr/>
          <p:nvPr/>
        </p:nvCxnSpPr>
        <p:spPr>
          <a:xfrm flipV="1">
            <a:off x="4733925" y="4686300"/>
            <a:ext cx="0" cy="2748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EE3EC9A8-B661-4EAF-9BC0-66FCF663E0FB}"/>
              </a:ext>
            </a:extLst>
          </p:cNvPr>
          <p:cNvCxnSpPr/>
          <p:nvPr/>
        </p:nvCxnSpPr>
        <p:spPr>
          <a:xfrm flipV="1">
            <a:off x="5943600" y="4676775"/>
            <a:ext cx="0" cy="2748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62A0BED-3FC3-4DC3-808C-C862E572148B}"/>
              </a:ext>
            </a:extLst>
          </p:cNvPr>
          <p:cNvCxnSpPr/>
          <p:nvPr/>
        </p:nvCxnSpPr>
        <p:spPr>
          <a:xfrm flipV="1">
            <a:off x="7381875" y="4667250"/>
            <a:ext cx="0" cy="2748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63F0C2A-F997-4C64-BD9C-34B4708CE434}"/>
              </a:ext>
            </a:extLst>
          </p:cNvPr>
          <p:cNvCxnSpPr/>
          <p:nvPr/>
        </p:nvCxnSpPr>
        <p:spPr>
          <a:xfrm flipV="1">
            <a:off x="8791575" y="4667250"/>
            <a:ext cx="0" cy="2748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91639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p:txBody>
          <a:bodyPr/>
          <a:lstStyle/>
          <a:p>
            <a:pPr eaLnBrk="1" hangingPunct="1"/>
            <a:r>
              <a:rPr lang="en-US" altLang="en-US" b="1" dirty="0">
                <a:solidFill>
                  <a:schemeClr val="accent2">
                    <a:lumMod val="75000"/>
                  </a:schemeClr>
                </a:solidFill>
                <a:latin typeface="Arial" panose="020B0604020202020204" pitchFamily="34" charset="0"/>
                <a:cs typeface="Arial" panose="020B0604020202020204" pitchFamily="34" charset="0"/>
              </a:rPr>
              <a:t>File</a:t>
            </a:r>
            <a:r>
              <a:rPr lang="en-US" altLang="en-US" dirty="0"/>
              <a:t> </a:t>
            </a:r>
            <a:r>
              <a:rPr lang="en-US" altLang="en-US" b="1" dirty="0">
                <a:solidFill>
                  <a:schemeClr val="accent2">
                    <a:lumMod val="75000"/>
                  </a:schemeClr>
                </a:solidFill>
                <a:latin typeface="Arial" panose="020B0604020202020204" pitchFamily="34" charset="0"/>
                <a:cs typeface="Arial" panose="020B0604020202020204" pitchFamily="34" charset="0"/>
              </a:rPr>
              <a:t>permissions</a:t>
            </a:r>
          </a:p>
        </p:txBody>
      </p:sp>
      <p:sp>
        <p:nvSpPr>
          <p:cNvPr id="167939" name="Rectangle 3"/>
          <p:cNvSpPr>
            <a:spLocks noGrp="1" noChangeArrowheads="1"/>
          </p:cNvSpPr>
          <p:nvPr>
            <p:ph idx="1"/>
          </p:nvPr>
        </p:nvSpPr>
        <p:spPr>
          <a:xfrm>
            <a:off x="960120" y="1825625"/>
            <a:ext cx="9765475" cy="4351338"/>
          </a:xfrm>
        </p:spPr>
        <p:txBody>
          <a:bodyPr>
            <a:normAutofit/>
          </a:bodyPr>
          <a:lstStyle/>
          <a:p>
            <a:pPr eaLnBrk="1" hangingPunct="1">
              <a:lnSpc>
                <a:spcPct val="90000"/>
              </a:lnSpc>
            </a:pPr>
            <a:r>
              <a:rPr lang="en-US" altLang="en-US" sz="2000" dirty="0"/>
              <a:t>The permissions to a file have three types:</a:t>
            </a:r>
          </a:p>
          <a:p>
            <a:pPr lvl="1">
              <a:tabLst>
                <a:tab pos="1485900" algn="l"/>
              </a:tabLst>
            </a:pPr>
            <a:r>
              <a:rPr lang="en-US" altLang="en-US" sz="2000" dirty="0"/>
              <a:t>Read	(</a:t>
            </a:r>
            <a:r>
              <a:rPr lang="en-US" altLang="en-US" sz="2000" b="1" dirty="0">
                <a:solidFill>
                  <a:schemeClr val="tx2"/>
                </a:solidFill>
                <a:latin typeface="Courier New" panose="02070309020205020404" pitchFamily="49" charset="0"/>
                <a:cs typeface="Courier New" panose="02070309020205020404" pitchFamily="49" charset="0"/>
              </a:rPr>
              <a:t>r</a:t>
            </a:r>
            <a:r>
              <a:rPr lang="en-US" altLang="en-US" sz="2000" dirty="0"/>
              <a:t>)  –  file contents can be read and displayed</a:t>
            </a:r>
          </a:p>
          <a:p>
            <a:pPr lvl="1" defTabSz="742950"/>
            <a:r>
              <a:rPr lang="en-US" altLang="en-US" sz="2000" dirty="0"/>
              <a:t>Write	(</a:t>
            </a:r>
            <a:r>
              <a:rPr lang="en-US" altLang="en-US" sz="2000" b="1" dirty="0">
                <a:solidFill>
                  <a:schemeClr val="tx2"/>
                </a:solidFill>
                <a:latin typeface="Courier New" panose="02070309020205020404" pitchFamily="49" charset="0"/>
                <a:cs typeface="Courier New" panose="02070309020205020404" pitchFamily="49" charset="0"/>
              </a:rPr>
              <a:t>w</a:t>
            </a:r>
            <a:r>
              <a:rPr lang="en-US" altLang="en-US" sz="2000" dirty="0"/>
              <a:t>)  –  file contents can be changed + file can be moved or deleted</a:t>
            </a:r>
          </a:p>
          <a:p>
            <a:pPr lvl="1">
              <a:tabLst>
                <a:tab pos="1485900" algn="l"/>
              </a:tabLst>
            </a:pPr>
            <a:r>
              <a:rPr lang="en-US" altLang="en-US" sz="2000" dirty="0"/>
              <a:t>Execute	(</a:t>
            </a:r>
            <a:r>
              <a:rPr lang="en-US" altLang="en-US" sz="2000" b="1" dirty="0">
                <a:solidFill>
                  <a:schemeClr val="tx2"/>
                </a:solidFill>
                <a:latin typeface="Courier New" panose="02070309020205020404" pitchFamily="49" charset="0"/>
                <a:cs typeface="Courier New" panose="02070309020205020404" pitchFamily="49" charset="0"/>
              </a:rPr>
              <a:t>x</a:t>
            </a:r>
            <a:r>
              <a:rPr lang="en-US" altLang="en-US" sz="2000" dirty="0"/>
              <a:t>)  –  file can be executed as a program</a:t>
            </a:r>
            <a:br>
              <a:rPr lang="en-US" altLang="en-US" sz="2000" dirty="0"/>
            </a:br>
            <a:r>
              <a:rPr lang="en-US" altLang="en-US" sz="2000" dirty="0"/>
              <a:t>		 (</a:t>
            </a:r>
            <a:r>
              <a:rPr lang="en-US" altLang="en-US" sz="2000" dirty="0">
                <a:solidFill>
                  <a:schemeClr val="tx2">
                    <a:lumMod val="50000"/>
                  </a:schemeClr>
                </a:solidFill>
              </a:rPr>
              <a:t>directories </a:t>
            </a:r>
            <a:r>
              <a:rPr lang="en-US" altLang="en-US" sz="2000" dirty="0"/>
              <a:t>must be executable to be entered into)</a:t>
            </a:r>
          </a:p>
          <a:p>
            <a:pPr>
              <a:spcBef>
                <a:spcPts val="1800"/>
              </a:spcBef>
            </a:pPr>
            <a:r>
              <a:rPr lang="en-US" altLang="en-US" sz="2000" dirty="0"/>
              <a:t>Permissions are granted in three layers:</a:t>
            </a:r>
          </a:p>
          <a:p>
            <a:pPr lvl="1">
              <a:tabLst>
                <a:tab pos="1485900" algn="l"/>
              </a:tabLst>
            </a:pPr>
            <a:r>
              <a:rPr lang="en-US" altLang="en-US" sz="2000" dirty="0"/>
              <a:t>Owner	–  the user who created the file</a:t>
            </a:r>
          </a:p>
          <a:p>
            <a:pPr lvl="1">
              <a:tabLst>
                <a:tab pos="1485900" algn="l"/>
              </a:tabLst>
            </a:pPr>
            <a:r>
              <a:rPr lang="en-US" altLang="en-US" sz="2000" dirty="0"/>
              <a:t>Group 	</a:t>
            </a:r>
            <a:r>
              <a:rPr lang="en-US" altLang="en-US" sz="2000" dirty="0">
                <a:solidFill>
                  <a:prstClr val="black"/>
                </a:solidFill>
              </a:rPr>
              <a:t>–  </a:t>
            </a:r>
            <a:r>
              <a:rPr lang="en-US" altLang="en-US" sz="2000" dirty="0"/>
              <a:t>users within a specified group containing the owner</a:t>
            </a:r>
          </a:p>
          <a:p>
            <a:pPr lvl="1">
              <a:tabLst>
                <a:tab pos="1485900" algn="l"/>
              </a:tabLst>
            </a:pPr>
            <a:r>
              <a:rPr lang="en-US" altLang="en-US" sz="2000" dirty="0"/>
              <a:t>Others	</a:t>
            </a:r>
            <a:r>
              <a:rPr lang="en-US" altLang="en-US" sz="2000" dirty="0">
                <a:solidFill>
                  <a:prstClr val="black"/>
                </a:solidFill>
              </a:rPr>
              <a:t> –  all </a:t>
            </a:r>
            <a:r>
              <a:rPr lang="en-US" altLang="en-US" sz="2000" dirty="0"/>
              <a:t>users in the system</a:t>
            </a:r>
          </a:p>
          <a:p>
            <a:pPr>
              <a:spcBef>
                <a:spcPts val="1800"/>
              </a:spcBef>
            </a:pPr>
            <a:endParaRPr lang="en-US" altLang="en-US" sz="2000" dirty="0"/>
          </a:p>
          <a:p>
            <a:pPr>
              <a:spcBef>
                <a:spcPts val="1800"/>
              </a:spcBef>
            </a:pPr>
            <a:endParaRPr lang="en-US" altLang="en-US" sz="2000" dirty="0"/>
          </a:p>
        </p:txBody>
      </p:sp>
      <p:sp>
        <p:nvSpPr>
          <p:cNvPr id="4" name="Text Box 4"/>
          <p:cNvSpPr txBox="1">
            <a:spLocks noChangeArrowheads="1"/>
          </p:cNvSpPr>
          <p:nvPr/>
        </p:nvSpPr>
        <p:spPr bwMode="auto">
          <a:xfrm>
            <a:off x="3819151" y="4946901"/>
            <a:ext cx="2959905" cy="646331"/>
          </a:xfrm>
          <a:prstGeom prst="rect">
            <a:avLst/>
          </a:prstGeom>
          <a:solidFill>
            <a:srgbClr val="ECEAAC"/>
          </a:solidFill>
          <a:ln w="9525">
            <a:solidFill>
              <a:schemeClr val="accent3">
                <a:lumMod val="75000"/>
              </a:schemeClr>
            </a:solidFill>
            <a:miter lim="800000"/>
            <a:headEnd/>
            <a:tailEnd/>
          </a:ln>
          <a:effectLst/>
        </p:spPr>
        <p:txBody>
          <a:bodyPr wrap="square">
            <a:spAutoFit/>
          </a:bodyPr>
          <a:lstStyle/>
          <a:p>
            <a:pPr>
              <a:defRPr/>
            </a:pPr>
            <a:r>
              <a:rPr lang="en-US" sz="3600" b="1" dirty="0" err="1">
                <a:solidFill>
                  <a:schemeClr val="tx2"/>
                </a:solidFill>
                <a:latin typeface="Courier New" panose="02070309020205020404" pitchFamily="49" charset="0"/>
                <a:cs typeface="Courier New" panose="02070309020205020404" pitchFamily="49" charset="0"/>
              </a:rPr>
              <a:t>drwxrwxrwx</a:t>
            </a:r>
            <a:endParaRPr lang="en-US" sz="3600" b="1" dirty="0">
              <a:solidFill>
                <a:schemeClr val="tx2"/>
              </a:solidFill>
              <a:latin typeface="Courier New" panose="02070309020205020404" pitchFamily="49" charset="0"/>
              <a:cs typeface="Courier New" panose="02070309020205020404" pitchFamily="49" charset="0"/>
            </a:endParaRPr>
          </a:p>
        </p:txBody>
      </p:sp>
      <p:sp>
        <p:nvSpPr>
          <p:cNvPr id="5" name="Text Box 8"/>
          <p:cNvSpPr txBox="1">
            <a:spLocks noChangeArrowheads="1"/>
          </p:cNvSpPr>
          <p:nvPr/>
        </p:nvSpPr>
        <p:spPr bwMode="auto">
          <a:xfrm>
            <a:off x="4203613" y="5838931"/>
            <a:ext cx="91122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a:spcBef>
                <a:spcPct val="50000"/>
              </a:spcBef>
            </a:pPr>
            <a:r>
              <a:rPr lang="en-US" altLang="en-US" sz="1600" b="1" dirty="0">
                <a:solidFill>
                  <a:schemeClr val="accent2">
                    <a:lumMod val="75000"/>
                  </a:schemeClr>
                </a:solidFill>
                <a:latin typeface="Tahoma" panose="020B0604030504040204" pitchFamily="34" charset="0"/>
                <a:cs typeface="Tahoma" panose="020B0604030504040204" pitchFamily="34" charset="0"/>
              </a:rPr>
              <a:t>Owner</a:t>
            </a:r>
          </a:p>
        </p:txBody>
      </p:sp>
      <p:sp>
        <p:nvSpPr>
          <p:cNvPr id="6" name="Text Box 10"/>
          <p:cNvSpPr txBox="1">
            <a:spLocks noChangeArrowheads="1"/>
          </p:cNvSpPr>
          <p:nvPr/>
        </p:nvSpPr>
        <p:spPr bwMode="auto">
          <a:xfrm>
            <a:off x="5037099" y="5838670"/>
            <a:ext cx="8157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a:spcBef>
                <a:spcPct val="50000"/>
              </a:spcBef>
            </a:pPr>
            <a:r>
              <a:rPr lang="en-US" altLang="en-US" sz="1600" b="1" dirty="0">
                <a:solidFill>
                  <a:schemeClr val="accent2">
                    <a:lumMod val="75000"/>
                  </a:schemeClr>
                </a:solidFill>
                <a:latin typeface="Tahoma" panose="020B0604030504040204" pitchFamily="34" charset="0"/>
                <a:cs typeface="Tahoma" panose="020B0604030504040204" pitchFamily="34" charset="0"/>
              </a:rPr>
              <a:t>Group</a:t>
            </a:r>
          </a:p>
        </p:txBody>
      </p:sp>
      <p:sp>
        <p:nvSpPr>
          <p:cNvPr id="7" name="Text Box 12"/>
          <p:cNvSpPr txBox="1">
            <a:spLocks noChangeArrowheads="1"/>
          </p:cNvSpPr>
          <p:nvPr/>
        </p:nvSpPr>
        <p:spPr bwMode="auto">
          <a:xfrm>
            <a:off x="5871915" y="5838409"/>
            <a:ext cx="11191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a:spcBef>
                <a:spcPct val="50000"/>
              </a:spcBef>
            </a:pPr>
            <a:r>
              <a:rPr lang="en-US" altLang="en-US" sz="1600" b="1" dirty="0">
                <a:solidFill>
                  <a:schemeClr val="accent2">
                    <a:lumMod val="75000"/>
                  </a:schemeClr>
                </a:solidFill>
                <a:latin typeface="Tahoma" panose="020B0604030504040204" pitchFamily="34" charset="0"/>
                <a:cs typeface="Tahoma" panose="020B0604030504040204" pitchFamily="34" charset="0"/>
              </a:rPr>
              <a:t>Other</a:t>
            </a:r>
          </a:p>
        </p:txBody>
      </p:sp>
      <p:sp>
        <p:nvSpPr>
          <p:cNvPr id="8" name="AutoShape 20"/>
          <p:cNvSpPr>
            <a:spLocks/>
          </p:cNvSpPr>
          <p:nvPr/>
        </p:nvSpPr>
        <p:spPr bwMode="auto">
          <a:xfrm rot="16200000">
            <a:off x="4516876" y="5146726"/>
            <a:ext cx="168757" cy="722166"/>
          </a:xfrm>
          <a:prstGeom prst="leftBrace">
            <a:avLst>
              <a:gd name="adj1" fmla="val 26997"/>
              <a:gd name="adj2" fmla="val 50000"/>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endParaRPr lang="en-US" altLang="en-US" sz="1600" b="1">
              <a:solidFill>
                <a:schemeClr val="accent2">
                  <a:lumMod val="75000"/>
                </a:schemeClr>
              </a:solidFill>
            </a:endParaRPr>
          </a:p>
        </p:txBody>
      </p:sp>
      <p:sp>
        <p:nvSpPr>
          <p:cNvPr id="9" name="AutoShape 21"/>
          <p:cNvSpPr>
            <a:spLocks/>
          </p:cNvSpPr>
          <p:nvPr/>
        </p:nvSpPr>
        <p:spPr bwMode="auto">
          <a:xfrm rot="16200000">
            <a:off x="5349341" y="5146726"/>
            <a:ext cx="168757" cy="722166"/>
          </a:xfrm>
          <a:prstGeom prst="leftBrace">
            <a:avLst>
              <a:gd name="adj1" fmla="val 26997"/>
              <a:gd name="adj2" fmla="val 50000"/>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endParaRPr lang="en-US" altLang="en-US" sz="1600" b="1">
              <a:solidFill>
                <a:schemeClr val="accent2">
                  <a:lumMod val="75000"/>
                </a:schemeClr>
              </a:solidFill>
            </a:endParaRPr>
          </a:p>
        </p:txBody>
      </p:sp>
      <p:sp>
        <p:nvSpPr>
          <p:cNvPr id="10" name="AutoShape 22"/>
          <p:cNvSpPr>
            <a:spLocks/>
          </p:cNvSpPr>
          <p:nvPr/>
        </p:nvSpPr>
        <p:spPr bwMode="auto">
          <a:xfrm rot="16200000">
            <a:off x="6181806" y="5146726"/>
            <a:ext cx="168757" cy="722166"/>
          </a:xfrm>
          <a:prstGeom prst="leftBrace">
            <a:avLst>
              <a:gd name="adj1" fmla="val 26997"/>
              <a:gd name="adj2" fmla="val 50000"/>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endParaRPr lang="en-US" altLang="en-US" sz="1600" b="1">
              <a:solidFill>
                <a:schemeClr val="accent2">
                  <a:lumMod val="75000"/>
                </a:schemeClr>
              </a:solidFill>
            </a:endParaRPr>
          </a:p>
        </p:txBody>
      </p:sp>
      <p:sp>
        <p:nvSpPr>
          <p:cNvPr id="11" name="Line 26"/>
          <p:cNvSpPr>
            <a:spLocks noChangeShapeType="1"/>
          </p:cNvSpPr>
          <p:nvPr/>
        </p:nvSpPr>
        <p:spPr bwMode="auto">
          <a:xfrm flipV="1">
            <a:off x="4030958" y="5483449"/>
            <a:ext cx="2502" cy="444157"/>
          </a:xfrm>
          <a:prstGeom prst="line">
            <a:avLst/>
          </a:prstGeom>
          <a:noFill/>
          <a:ln w="28575">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 name="Text Box 8"/>
          <p:cNvSpPr txBox="1">
            <a:spLocks noChangeArrowheads="1"/>
          </p:cNvSpPr>
          <p:nvPr/>
        </p:nvSpPr>
        <p:spPr bwMode="auto">
          <a:xfrm>
            <a:off x="3027319" y="5868951"/>
            <a:ext cx="121285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algn="r">
              <a:spcBef>
                <a:spcPct val="50000"/>
              </a:spcBef>
            </a:pPr>
            <a:r>
              <a:rPr lang="en-US" altLang="en-US" sz="1600" b="1" dirty="0">
                <a:solidFill>
                  <a:schemeClr val="accent2">
                    <a:lumMod val="75000"/>
                  </a:schemeClr>
                </a:solidFill>
                <a:latin typeface="Tahoma" panose="020B0604030504040204" pitchFamily="34" charset="0"/>
                <a:cs typeface="Tahoma" panose="020B0604030504040204" pitchFamily="34" charset="0"/>
              </a:rPr>
              <a:t>Directory flag</a:t>
            </a:r>
          </a:p>
        </p:txBody>
      </p:sp>
      <p:pic>
        <p:nvPicPr>
          <p:cNvPr id="14" name="Picture 13">
            <a:extLst>
              <a:ext uri="{FF2B5EF4-FFF2-40B4-BE49-F238E27FC236}">
                <a16:creationId xmlns:a16="http://schemas.microsoft.com/office/drawing/2014/main" id="{06FF8B3C-38DA-45DF-B2D4-CD4E5DD59D3C}"/>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28107900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r>
              <a:rPr lang="en-US" altLang="en-US" b="1" dirty="0">
                <a:solidFill>
                  <a:schemeClr val="accent2">
                    <a:lumMod val="75000"/>
                  </a:schemeClr>
                </a:solidFill>
                <a:latin typeface="Arial" panose="020B0604020202020204" pitchFamily="34" charset="0"/>
                <a:cs typeface="Arial" panose="020B0604020202020204" pitchFamily="34" charset="0"/>
              </a:rPr>
              <a:t>File</a:t>
            </a:r>
            <a:r>
              <a:rPr lang="en-US" altLang="en-US" dirty="0"/>
              <a:t> </a:t>
            </a:r>
            <a:r>
              <a:rPr lang="en-US" altLang="en-US" b="1" dirty="0">
                <a:solidFill>
                  <a:schemeClr val="accent2">
                    <a:lumMod val="75000"/>
                  </a:schemeClr>
                </a:solidFill>
                <a:latin typeface="Arial" panose="020B0604020202020204" pitchFamily="34" charset="0"/>
                <a:cs typeface="Arial" panose="020B0604020202020204" pitchFamily="34" charset="0"/>
              </a:rPr>
              <a:t>permissions – examples</a:t>
            </a:r>
          </a:p>
        </p:txBody>
      </p:sp>
      <p:sp>
        <p:nvSpPr>
          <p:cNvPr id="114691" name="Rectangle 3"/>
          <p:cNvSpPr>
            <a:spLocks noGrp="1" noChangeArrowheads="1"/>
          </p:cNvSpPr>
          <p:nvPr>
            <p:ph idx="1"/>
          </p:nvPr>
        </p:nvSpPr>
        <p:spPr>
          <a:xfrm>
            <a:off x="1876214" y="2070025"/>
            <a:ext cx="608013" cy="1839128"/>
          </a:xfrm>
        </p:spPr>
        <p:txBody>
          <a:bodyPr>
            <a:noAutofit/>
          </a:bodyPr>
          <a:lstStyle/>
          <a:p>
            <a:pPr marL="0" indent="0">
              <a:spcBef>
                <a:spcPts val="200"/>
              </a:spcBef>
              <a:buNone/>
            </a:pPr>
            <a:r>
              <a:rPr lang="en-US" altLang="en-US" sz="1600" b="1" dirty="0">
                <a:solidFill>
                  <a:schemeClr val="accent2">
                    <a:lumMod val="75000"/>
                  </a:schemeClr>
                </a:solidFill>
              </a:rPr>
              <a:t>1)</a:t>
            </a:r>
          </a:p>
          <a:p>
            <a:pPr marL="0" indent="0">
              <a:spcBef>
                <a:spcPts val="200"/>
              </a:spcBef>
              <a:buNone/>
            </a:pPr>
            <a:r>
              <a:rPr lang="en-US" altLang="en-US" sz="1600" b="1" dirty="0">
                <a:solidFill>
                  <a:schemeClr val="accent2">
                    <a:lumMod val="75000"/>
                  </a:schemeClr>
                </a:solidFill>
              </a:rPr>
              <a:t>2)</a:t>
            </a:r>
          </a:p>
          <a:p>
            <a:pPr marL="0" indent="0">
              <a:spcBef>
                <a:spcPts val="200"/>
              </a:spcBef>
              <a:buNone/>
            </a:pPr>
            <a:r>
              <a:rPr lang="en-US" altLang="en-US" sz="1600" b="1" dirty="0">
                <a:solidFill>
                  <a:schemeClr val="accent2">
                    <a:lumMod val="75000"/>
                  </a:schemeClr>
                </a:solidFill>
              </a:rPr>
              <a:t>3)</a:t>
            </a:r>
          </a:p>
          <a:p>
            <a:pPr marL="0" indent="0">
              <a:spcBef>
                <a:spcPts val="200"/>
              </a:spcBef>
              <a:buNone/>
            </a:pPr>
            <a:r>
              <a:rPr lang="en-US" altLang="en-US" sz="1600" b="1" dirty="0">
                <a:solidFill>
                  <a:schemeClr val="accent2">
                    <a:lumMod val="75000"/>
                  </a:schemeClr>
                </a:solidFill>
              </a:rPr>
              <a:t>4)</a:t>
            </a:r>
          </a:p>
          <a:p>
            <a:pPr marL="0" indent="0">
              <a:spcBef>
                <a:spcPts val="200"/>
              </a:spcBef>
              <a:buNone/>
            </a:pPr>
            <a:r>
              <a:rPr lang="en-US" altLang="en-US" sz="1600" b="1" dirty="0">
                <a:solidFill>
                  <a:schemeClr val="accent2">
                    <a:lumMod val="75000"/>
                  </a:schemeClr>
                </a:solidFill>
              </a:rPr>
              <a:t>5)</a:t>
            </a:r>
          </a:p>
          <a:p>
            <a:pPr marL="0" indent="0">
              <a:spcBef>
                <a:spcPts val="200"/>
              </a:spcBef>
              <a:buNone/>
            </a:pPr>
            <a:r>
              <a:rPr lang="en-US" altLang="en-US" sz="1600" b="1" dirty="0">
                <a:solidFill>
                  <a:schemeClr val="accent2">
                    <a:lumMod val="75000"/>
                  </a:schemeClr>
                </a:solidFill>
              </a:rPr>
              <a:t>6)</a:t>
            </a:r>
          </a:p>
          <a:p>
            <a:pPr marL="0" indent="0">
              <a:spcBef>
                <a:spcPts val="200"/>
              </a:spcBef>
              <a:buNone/>
            </a:pPr>
            <a:r>
              <a:rPr lang="en-US" altLang="en-US" sz="1600" b="1" dirty="0">
                <a:solidFill>
                  <a:schemeClr val="accent2">
                    <a:lumMod val="75000"/>
                  </a:schemeClr>
                </a:solidFill>
              </a:rPr>
              <a:t>7)</a:t>
            </a:r>
          </a:p>
        </p:txBody>
      </p:sp>
      <p:sp>
        <p:nvSpPr>
          <p:cNvPr id="10" name="Text Box 5"/>
          <p:cNvSpPr txBox="1">
            <a:spLocks noChangeArrowheads="1"/>
          </p:cNvSpPr>
          <p:nvPr/>
        </p:nvSpPr>
        <p:spPr bwMode="auto">
          <a:xfrm>
            <a:off x="2225356" y="2062891"/>
            <a:ext cx="7666037" cy="1846263"/>
          </a:xfrm>
          <a:prstGeom prst="rect">
            <a:avLst/>
          </a:prstGeom>
          <a:solidFill>
            <a:srgbClr val="ECEAAC"/>
          </a:solidFill>
          <a:ln w="9525">
            <a:solidFill>
              <a:schemeClr val="accent3">
                <a:lumMod val="75000"/>
              </a:schemeClr>
            </a:solidFill>
            <a:miter lim="800000"/>
            <a:headEnd/>
            <a:tailEnd/>
          </a:ln>
          <a:effectLst/>
        </p:spPr>
        <p:txBody>
          <a:bodyPr>
            <a:spAutoFit/>
          </a:bodyPr>
          <a:lstStyle/>
          <a:p>
            <a:pPr>
              <a:defRPr/>
            </a:pPr>
            <a:r>
              <a:rPr lang="en-US" sz="1600" dirty="0">
                <a:latin typeface="Courier New" pitchFamily="49" charset="0"/>
                <a:cs typeface="Courier New" pitchFamily="49" charset="0"/>
              </a:rPr>
              <a:t>-</a:t>
            </a:r>
            <a:r>
              <a:rPr lang="en-US" sz="1600" dirty="0" err="1">
                <a:latin typeface="Courier New" pitchFamily="49" charset="0"/>
                <a:cs typeface="Courier New" pitchFamily="49" charset="0"/>
              </a:rPr>
              <a:t>rw</a:t>
            </a:r>
            <a:r>
              <a:rPr lang="en-US" sz="1600" dirty="0">
                <a:latin typeface="Courier New" pitchFamily="49" charset="0"/>
                <a:cs typeface="Courier New" pitchFamily="49" charset="0"/>
              </a:rPr>
              <a:t>-------  1 demo  students   317 Oct 19 04:35 backup.tar.gz</a:t>
            </a:r>
          </a:p>
          <a:p>
            <a:pPr>
              <a:defRPr/>
            </a:pPr>
            <a:r>
              <a:rPr lang="en-US" sz="1600" dirty="0" err="1">
                <a:latin typeface="Courier New" pitchFamily="49" charset="0"/>
                <a:cs typeface="Courier New" pitchFamily="49" charset="0"/>
              </a:rPr>
              <a:t>drwx</a:t>
            </a:r>
            <a:r>
              <a:rPr lang="en-US" sz="1600" dirty="0">
                <a:latin typeface="Courier New" pitchFamily="49" charset="0"/>
                <a:cs typeface="Courier New" pitchFamily="49" charset="0"/>
              </a:rPr>
              <a:t>------  2 demo  students  4096 Oct 19 04:31 bin</a:t>
            </a:r>
          </a:p>
          <a:p>
            <a:pPr>
              <a:defRPr/>
            </a:pPr>
            <a:r>
              <a:rPr lang="en-US" sz="1600" dirty="0">
                <a:latin typeface="Courier New" pitchFamily="49" charset="0"/>
                <a:cs typeface="Courier New" pitchFamily="49" charset="0"/>
              </a:rPr>
              <a:t>-</a:t>
            </a:r>
            <a:r>
              <a:rPr lang="en-US" sz="1600" dirty="0" err="1">
                <a:latin typeface="Courier New" pitchFamily="49" charset="0"/>
                <a:cs typeface="Courier New" pitchFamily="49" charset="0"/>
              </a:rPr>
              <a:t>rwxr</a:t>
            </a:r>
            <a:r>
              <a:rPr lang="en-US" sz="1600" dirty="0">
                <a:latin typeface="Courier New" pitchFamily="49" charset="0"/>
                <a:cs typeface="Courier New" pitchFamily="49" charset="0"/>
              </a:rPr>
              <a:t>-----  1 demo  students    35 Oct 19 13:46 </a:t>
            </a:r>
            <a:r>
              <a:rPr lang="en-US" sz="1600" dirty="0" err="1">
                <a:latin typeface="Courier New" pitchFamily="49" charset="0"/>
                <a:cs typeface="Courier New" pitchFamily="49" charset="0"/>
              </a:rPr>
              <a:t>create_backup</a:t>
            </a:r>
            <a:endParaRPr lang="en-US" sz="1600" dirty="0">
              <a:latin typeface="Courier New" pitchFamily="49" charset="0"/>
              <a:cs typeface="Courier New" pitchFamily="49" charset="0"/>
            </a:endParaRPr>
          </a:p>
          <a:p>
            <a:pPr>
              <a:defRPr/>
            </a:pPr>
            <a:r>
              <a:rPr lang="en-US" sz="1600" dirty="0" err="1">
                <a:latin typeface="Courier New" pitchFamily="49" charset="0"/>
                <a:cs typeface="Courier New" pitchFamily="49" charset="0"/>
              </a:rPr>
              <a:t>drwxr</a:t>
            </a:r>
            <a:r>
              <a:rPr lang="en-US" sz="1600" dirty="0">
                <a:latin typeface="Courier New" pitchFamily="49" charset="0"/>
                <a:cs typeface="Courier New" pitchFamily="49" charset="0"/>
              </a:rPr>
              <a:t>-----  2 demo  students  4096 Oct 19 04:30 </a:t>
            </a:r>
            <a:r>
              <a:rPr lang="en-US" sz="1600" dirty="0" err="1">
                <a:latin typeface="Courier New" pitchFamily="49" charset="0"/>
                <a:cs typeface="Courier New" pitchFamily="49" charset="0"/>
              </a:rPr>
              <a:t>my_documents</a:t>
            </a:r>
            <a:endParaRPr lang="en-US" sz="1600" dirty="0">
              <a:latin typeface="Courier New" pitchFamily="49" charset="0"/>
              <a:cs typeface="Courier New" pitchFamily="49" charset="0"/>
            </a:endParaRPr>
          </a:p>
          <a:p>
            <a:pPr>
              <a:defRPr/>
            </a:pPr>
            <a:r>
              <a:rPr lang="en-US" sz="1600" dirty="0">
                <a:latin typeface="Courier New" pitchFamily="49" charset="0"/>
                <a:cs typeface="Courier New" pitchFamily="49" charset="0"/>
              </a:rPr>
              <a:t>-</a:t>
            </a:r>
            <a:r>
              <a:rPr lang="en-US" sz="1600" dirty="0" err="1">
                <a:latin typeface="Courier New" pitchFamily="49" charset="0"/>
                <a:cs typeface="Courier New" pitchFamily="49" charset="0"/>
              </a:rPr>
              <a:t>rw</a:t>
            </a:r>
            <a:r>
              <a:rPr lang="en-US" sz="1600" dirty="0">
                <a:latin typeface="Courier New" pitchFamily="49" charset="0"/>
                <a:cs typeface="Courier New" pitchFamily="49" charset="0"/>
              </a:rPr>
              <a:t>-r--r--  1 demo  students    17 Oct 19 04:31 </a:t>
            </a:r>
            <a:r>
              <a:rPr lang="en-US" sz="1600" dirty="0" err="1">
                <a:latin typeface="Courier New" pitchFamily="49" charset="0"/>
                <a:cs typeface="Courier New" pitchFamily="49" charset="0"/>
              </a:rPr>
              <a:t>phone_list</a:t>
            </a:r>
            <a:endParaRPr lang="en-US" sz="1600" dirty="0">
              <a:latin typeface="Courier New" pitchFamily="49" charset="0"/>
              <a:cs typeface="Courier New" pitchFamily="49" charset="0"/>
            </a:endParaRPr>
          </a:p>
          <a:p>
            <a:pPr>
              <a:defRPr/>
            </a:pPr>
            <a:r>
              <a:rPr lang="en-US" sz="1600" dirty="0" err="1">
                <a:latin typeface="Courier New" pitchFamily="49" charset="0"/>
                <a:cs typeface="Courier New" pitchFamily="49" charset="0"/>
              </a:rPr>
              <a:t>drwxr</a:t>
            </a:r>
            <a:r>
              <a:rPr lang="en-US" sz="1600" dirty="0">
                <a:latin typeface="Courier New" pitchFamily="49" charset="0"/>
                <a:cs typeface="Courier New" pitchFamily="49" charset="0"/>
              </a:rPr>
              <a:t>-x---  3 demo  students  4096 Oct 19 04:32 solutions</a:t>
            </a:r>
          </a:p>
          <a:p>
            <a:pPr>
              <a:defRPr/>
            </a:pPr>
            <a:r>
              <a:rPr lang="en-US" sz="1600" dirty="0">
                <a:latin typeface="Courier New" pitchFamily="49" charset="0"/>
                <a:cs typeface="Courier New" pitchFamily="49" charset="0"/>
              </a:rPr>
              <a:t>-</a:t>
            </a:r>
            <a:r>
              <a:rPr lang="en-US" sz="1600" dirty="0" err="1">
                <a:latin typeface="Courier New" pitchFamily="49" charset="0"/>
                <a:cs typeface="Courier New" pitchFamily="49" charset="0"/>
              </a:rPr>
              <a:t>rwxrw</a:t>
            </a:r>
            <a:r>
              <a:rPr lang="en-US" sz="1600" dirty="0">
                <a:latin typeface="Courier New" pitchFamily="49" charset="0"/>
                <a:cs typeface="Courier New" pitchFamily="49" charset="0"/>
              </a:rPr>
              <a:t>-r--  2 demo  students  4096 Oct 19 04:30 temp</a:t>
            </a:r>
          </a:p>
        </p:txBody>
      </p:sp>
      <p:sp>
        <p:nvSpPr>
          <p:cNvPr id="12" name="Text Box 7"/>
          <p:cNvSpPr txBox="1">
            <a:spLocks noChangeArrowheads="1"/>
          </p:cNvSpPr>
          <p:nvPr/>
        </p:nvSpPr>
        <p:spPr bwMode="auto">
          <a:xfrm>
            <a:off x="2176251" y="1532480"/>
            <a:ext cx="1670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a:spcBef>
                <a:spcPct val="50000"/>
              </a:spcBef>
            </a:pPr>
            <a:r>
              <a:rPr lang="en-US" altLang="en-US" b="1" dirty="0">
                <a:solidFill>
                  <a:schemeClr val="tx2"/>
                </a:solidFill>
                <a:latin typeface="Tahoma" panose="020B0604030504040204" pitchFamily="34" charset="0"/>
                <a:cs typeface="Tahoma" panose="020B0604030504040204" pitchFamily="34" charset="0"/>
              </a:rPr>
              <a:t>Permissions</a:t>
            </a:r>
          </a:p>
        </p:txBody>
      </p:sp>
      <p:sp>
        <p:nvSpPr>
          <p:cNvPr id="14" name="Text Box 9"/>
          <p:cNvSpPr txBox="1">
            <a:spLocks noChangeArrowheads="1"/>
          </p:cNvSpPr>
          <p:nvPr/>
        </p:nvSpPr>
        <p:spPr bwMode="auto">
          <a:xfrm>
            <a:off x="3998702" y="1532480"/>
            <a:ext cx="7588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a:spcBef>
                <a:spcPct val="50000"/>
              </a:spcBef>
            </a:pPr>
            <a:r>
              <a:rPr lang="en-US" altLang="en-US" b="1">
                <a:solidFill>
                  <a:schemeClr val="tx2"/>
                </a:solidFill>
                <a:latin typeface="Tahoma" panose="020B0604030504040204" pitchFamily="34" charset="0"/>
                <a:cs typeface="Tahoma" panose="020B0604030504040204" pitchFamily="34" charset="0"/>
              </a:rPr>
              <a:t>User</a:t>
            </a:r>
          </a:p>
        </p:txBody>
      </p:sp>
      <p:sp>
        <p:nvSpPr>
          <p:cNvPr id="16" name="Text Box 11"/>
          <p:cNvSpPr txBox="1">
            <a:spLocks noChangeArrowheads="1"/>
          </p:cNvSpPr>
          <p:nvPr/>
        </p:nvSpPr>
        <p:spPr bwMode="auto">
          <a:xfrm>
            <a:off x="4908339" y="1532480"/>
            <a:ext cx="9112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a:spcBef>
                <a:spcPct val="50000"/>
              </a:spcBef>
            </a:pPr>
            <a:r>
              <a:rPr lang="en-US" altLang="en-US" b="1" dirty="0">
                <a:solidFill>
                  <a:schemeClr val="tx2"/>
                </a:solidFill>
                <a:latin typeface="Tahoma" panose="020B0604030504040204" pitchFamily="34" charset="0"/>
                <a:cs typeface="Tahoma" panose="020B0604030504040204" pitchFamily="34" charset="0"/>
              </a:rPr>
              <a:t>Group</a:t>
            </a:r>
          </a:p>
        </p:txBody>
      </p:sp>
      <p:sp>
        <p:nvSpPr>
          <p:cNvPr id="18" name="Text Box 13"/>
          <p:cNvSpPr txBox="1">
            <a:spLocks noChangeArrowheads="1"/>
          </p:cNvSpPr>
          <p:nvPr/>
        </p:nvSpPr>
        <p:spPr bwMode="auto">
          <a:xfrm>
            <a:off x="6124364" y="1532480"/>
            <a:ext cx="7588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a:spcBef>
                <a:spcPct val="50000"/>
              </a:spcBef>
            </a:pPr>
            <a:r>
              <a:rPr lang="en-US" altLang="en-US" b="1">
                <a:solidFill>
                  <a:schemeClr val="tx2"/>
                </a:solidFill>
                <a:latin typeface="Tahoma" panose="020B0604030504040204" pitchFamily="34" charset="0"/>
                <a:cs typeface="Tahoma" panose="020B0604030504040204" pitchFamily="34" charset="0"/>
              </a:rPr>
              <a:t>Size</a:t>
            </a:r>
          </a:p>
        </p:txBody>
      </p:sp>
      <p:sp>
        <p:nvSpPr>
          <p:cNvPr id="20" name="Text Box 15"/>
          <p:cNvSpPr txBox="1">
            <a:spLocks noChangeArrowheads="1"/>
          </p:cNvSpPr>
          <p:nvPr/>
        </p:nvSpPr>
        <p:spPr bwMode="auto">
          <a:xfrm>
            <a:off x="6959388" y="1532480"/>
            <a:ext cx="1517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a:spcBef>
                <a:spcPct val="50000"/>
              </a:spcBef>
            </a:pPr>
            <a:r>
              <a:rPr lang="en-US" altLang="en-US" b="1">
                <a:solidFill>
                  <a:schemeClr val="tx2"/>
                </a:solidFill>
                <a:latin typeface="Tahoma" panose="020B0604030504040204" pitchFamily="34" charset="0"/>
                <a:cs typeface="Tahoma" panose="020B0604030504040204" pitchFamily="34" charset="0"/>
              </a:rPr>
              <a:t>Date/Time</a:t>
            </a:r>
          </a:p>
        </p:txBody>
      </p:sp>
      <p:grpSp>
        <p:nvGrpSpPr>
          <p:cNvPr id="2" name="Group 1"/>
          <p:cNvGrpSpPr/>
          <p:nvPr/>
        </p:nvGrpSpPr>
        <p:grpSpPr>
          <a:xfrm flipV="1">
            <a:off x="2823157" y="1854833"/>
            <a:ext cx="6146800" cy="327018"/>
            <a:chOff x="1384300" y="5046663"/>
            <a:chExt cx="6146800" cy="682625"/>
          </a:xfrm>
        </p:grpSpPr>
        <p:sp>
          <p:nvSpPr>
            <p:cNvPr id="11" name="Line 6"/>
            <p:cNvSpPr>
              <a:spLocks noChangeShapeType="1"/>
            </p:cNvSpPr>
            <p:nvPr/>
          </p:nvSpPr>
          <p:spPr bwMode="auto">
            <a:xfrm flipV="1">
              <a:off x="1384300" y="5046663"/>
              <a:ext cx="0" cy="682625"/>
            </a:xfrm>
            <a:prstGeom prst="line">
              <a:avLst/>
            </a:prstGeom>
            <a:noFill/>
            <a:ln w="28575">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3" name="Line 8"/>
            <p:cNvSpPr>
              <a:spLocks noChangeShapeType="1"/>
            </p:cNvSpPr>
            <p:nvPr/>
          </p:nvSpPr>
          <p:spPr bwMode="auto">
            <a:xfrm flipV="1">
              <a:off x="2901950" y="5046663"/>
              <a:ext cx="1588" cy="682625"/>
            </a:xfrm>
            <a:prstGeom prst="line">
              <a:avLst/>
            </a:prstGeom>
            <a:noFill/>
            <a:ln w="28575">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5" name="Line 10"/>
            <p:cNvSpPr>
              <a:spLocks noChangeShapeType="1"/>
            </p:cNvSpPr>
            <p:nvPr/>
          </p:nvSpPr>
          <p:spPr bwMode="auto">
            <a:xfrm flipV="1">
              <a:off x="4040188" y="5046663"/>
              <a:ext cx="1587" cy="682625"/>
            </a:xfrm>
            <a:prstGeom prst="line">
              <a:avLst/>
            </a:prstGeom>
            <a:noFill/>
            <a:ln w="28575">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7" name="Line 12"/>
            <p:cNvSpPr>
              <a:spLocks noChangeShapeType="1"/>
            </p:cNvSpPr>
            <p:nvPr/>
          </p:nvSpPr>
          <p:spPr bwMode="auto">
            <a:xfrm flipV="1">
              <a:off x="5027613" y="5046663"/>
              <a:ext cx="0" cy="682625"/>
            </a:xfrm>
            <a:prstGeom prst="line">
              <a:avLst/>
            </a:prstGeom>
            <a:noFill/>
            <a:ln w="28575">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9" name="Line 14"/>
            <p:cNvSpPr>
              <a:spLocks noChangeShapeType="1"/>
            </p:cNvSpPr>
            <p:nvPr/>
          </p:nvSpPr>
          <p:spPr bwMode="auto">
            <a:xfrm flipH="1" flipV="1">
              <a:off x="6318250" y="5046663"/>
              <a:ext cx="0" cy="682625"/>
            </a:xfrm>
            <a:prstGeom prst="line">
              <a:avLst/>
            </a:prstGeom>
            <a:noFill/>
            <a:ln w="28575">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1" name="Line 16"/>
            <p:cNvSpPr>
              <a:spLocks noChangeShapeType="1"/>
            </p:cNvSpPr>
            <p:nvPr/>
          </p:nvSpPr>
          <p:spPr bwMode="auto">
            <a:xfrm flipH="1" flipV="1">
              <a:off x="7531100" y="5046663"/>
              <a:ext cx="0" cy="682625"/>
            </a:xfrm>
            <a:prstGeom prst="line">
              <a:avLst/>
            </a:prstGeom>
            <a:noFill/>
            <a:ln w="28575">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22" name="Text Box 17"/>
          <p:cNvSpPr txBox="1">
            <a:spLocks noChangeArrowheads="1"/>
          </p:cNvSpPr>
          <p:nvPr/>
        </p:nvSpPr>
        <p:spPr bwMode="auto">
          <a:xfrm>
            <a:off x="8477038" y="1532480"/>
            <a:ext cx="9858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a:spcBef>
                <a:spcPct val="50000"/>
              </a:spcBef>
            </a:pPr>
            <a:r>
              <a:rPr lang="en-US" altLang="en-US" b="1">
                <a:solidFill>
                  <a:schemeClr val="tx2"/>
                </a:solidFill>
                <a:latin typeface="Tahoma" panose="020B0604030504040204" pitchFamily="34" charset="0"/>
                <a:cs typeface="Tahoma" panose="020B0604030504040204" pitchFamily="34" charset="0"/>
              </a:rPr>
              <a:t>Name</a:t>
            </a:r>
          </a:p>
        </p:txBody>
      </p:sp>
      <p:sp>
        <p:nvSpPr>
          <p:cNvPr id="32" name="Rectangle 3"/>
          <p:cNvSpPr txBox="1">
            <a:spLocks noChangeArrowheads="1"/>
          </p:cNvSpPr>
          <p:nvPr/>
        </p:nvSpPr>
        <p:spPr>
          <a:xfrm>
            <a:off x="1876213" y="4112055"/>
            <a:ext cx="8242223" cy="2125060"/>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200"/>
              </a:spcBef>
              <a:buNone/>
            </a:pPr>
            <a:r>
              <a:rPr lang="en-US" altLang="en-US" sz="1800" b="1" dirty="0">
                <a:solidFill>
                  <a:schemeClr val="accent2">
                    <a:lumMod val="75000"/>
                  </a:schemeClr>
                </a:solidFill>
              </a:rPr>
              <a:t>1) </a:t>
            </a:r>
            <a:r>
              <a:rPr lang="en-US" altLang="en-US" sz="1800" dirty="0">
                <a:solidFill>
                  <a:prstClr val="black"/>
                </a:solidFill>
              </a:rPr>
              <a:t>File can be read/modified only by owner</a:t>
            </a:r>
            <a:endParaRPr lang="en-US" altLang="en-US" sz="1800" b="1" dirty="0">
              <a:solidFill>
                <a:schemeClr val="accent2">
                  <a:lumMod val="75000"/>
                </a:schemeClr>
              </a:solidFill>
            </a:endParaRPr>
          </a:p>
          <a:p>
            <a:pPr marL="0" indent="0" defTabSz="914400" eaLnBrk="0" hangingPunct="0">
              <a:lnSpc>
                <a:spcPct val="100000"/>
              </a:lnSpc>
              <a:spcBef>
                <a:spcPts val="200"/>
              </a:spcBef>
              <a:buNone/>
            </a:pPr>
            <a:r>
              <a:rPr lang="en-US" altLang="en-US" sz="1800" b="1" dirty="0">
                <a:solidFill>
                  <a:schemeClr val="accent2">
                    <a:lumMod val="75000"/>
                  </a:schemeClr>
                </a:solidFill>
              </a:rPr>
              <a:t>2)</a:t>
            </a:r>
            <a:r>
              <a:rPr lang="en-US" altLang="en-US" sz="1800" b="1" dirty="0">
                <a:solidFill>
                  <a:srgbClr val="ED7D31">
                    <a:lumMod val="75000"/>
                  </a:srgbClr>
                </a:solidFill>
                <a:latin typeface="Arial" panose="020B0604020202020204" pitchFamily="34" charset="0"/>
                <a:cs typeface="Times New Roman" panose="02020603050405020304" pitchFamily="18" charset="0"/>
              </a:rPr>
              <a:t> </a:t>
            </a:r>
            <a:r>
              <a:rPr lang="en-US" altLang="en-US" sz="1800" dirty="0">
                <a:solidFill>
                  <a:prstClr val="black"/>
                </a:solidFill>
              </a:rPr>
              <a:t>Directory can be read/modified/entered by owner</a:t>
            </a:r>
          </a:p>
          <a:p>
            <a:pPr marL="0" indent="0">
              <a:spcBef>
                <a:spcPts val="200"/>
              </a:spcBef>
              <a:buNone/>
            </a:pPr>
            <a:r>
              <a:rPr lang="en-US" altLang="en-US" sz="1800" b="1" dirty="0">
                <a:solidFill>
                  <a:schemeClr val="accent2">
                    <a:lumMod val="75000"/>
                  </a:schemeClr>
                </a:solidFill>
              </a:rPr>
              <a:t>3)</a:t>
            </a:r>
            <a:r>
              <a:rPr lang="en-US" altLang="en-US" sz="1800" b="1" dirty="0">
                <a:solidFill>
                  <a:srgbClr val="ED7D31">
                    <a:lumMod val="75000"/>
                  </a:srgbClr>
                </a:solidFill>
                <a:latin typeface="Arial" panose="020B0604020202020204" pitchFamily="34" charset="0"/>
                <a:cs typeface="Times New Roman" panose="02020603050405020304" pitchFamily="18" charset="0"/>
              </a:rPr>
              <a:t> </a:t>
            </a:r>
            <a:r>
              <a:rPr lang="en-US" altLang="en-US" sz="1800" dirty="0">
                <a:solidFill>
                  <a:prstClr val="black"/>
                </a:solidFill>
              </a:rPr>
              <a:t>File can be read/modified/executed by owner + read by group (all users in students)</a:t>
            </a:r>
            <a:endParaRPr lang="en-US" altLang="en-US" sz="1800" b="1" dirty="0">
              <a:solidFill>
                <a:schemeClr val="accent2">
                  <a:lumMod val="75000"/>
                </a:schemeClr>
              </a:solidFill>
            </a:endParaRPr>
          </a:p>
          <a:p>
            <a:pPr marL="0" indent="0" defTabSz="914400" eaLnBrk="0" hangingPunct="0">
              <a:lnSpc>
                <a:spcPct val="100000"/>
              </a:lnSpc>
              <a:spcBef>
                <a:spcPts val="200"/>
              </a:spcBef>
              <a:buNone/>
            </a:pPr>
            <a:r>
              <a:rPr lang="en-US" altLang="en-US" sz="1800" b="1" dirty="0">
                <a:solidFill>
                  <a:schemeClr val="accent2">
                    <a:lumMod val="75000"/>
                  </a:schemeClr>
                </a:solidFill>
              </a:rPr>
              <a:t>4)</a:t>
            </a:r>
            <a:r>
              <a:rPr lang="en-US" altLang="en-US" sz="1800" b="1" dirty="0">
                <a:solidFill>
                  <a:srgbClr val="ED7D31">
                    <a:lumMod val="75000"/>
                  </a:srgbClr>
                </a:solidFill>
                <a:latin typeface="Arial" panose="020B0604020202020204" pitchFamily="34" charset="0"/>
                <a:cs typeface="Times New Roman" panose="02020603050405020304" pitchFamily="18" charset="0"/>
              </a:rPr>
              <a:t> </a:t>
            </a:r>
            <a:r>
              <a:rPr lang="en-US" altLang="en-US" sz="1800" dirty="0">
                <a:solidFill>
                  <a:prstClr val="black"/>
                </a:solidFill>
              </a:rPr>
              <a:t>Directory has full access by owner + contents can only be read by group</a:t>
            </a:r>
          </a:p>
          <a:p>
            <a:pPr marL="0" indent="0" defTabSz="914400" eaLnBrk="0" hangingPunct="0">
              <a:lnSpc>
                <a:spcPct val="100000"/>
              </a:lnSpc>
              <a:spcBef>
                <a:spcPts val="200"/>
              </a:spcBef>
              <a:buNone/>
            </a:pPr>
            <a:r>
              <a:rPr lang="en-US" altLang="en-US" sz="1800" b="1" dirty="0">
                <a:solidFill>
                  <a:schemeClr val="accent2">
                    <a:lumMod val="75000"/>
                  </a:schemeClr>
                </a:solidFill>
              </a:rPr>
              <a:t>5) </a:t>
            </a:r>
            <a:r>
              <a:rPr lang="en-US" altLang="en-US" sz="1800" dirty="0">
                <a:solidFill>
                  <a:prstClr val="black"/>
                </a:solidFill>
              </a:rPr>
              <a:t>File can be read by anyone + modified only by owner</a:t>
            </a:r>
          </a:p>
          <a:p>
            <a:pPr marL="0" indent="0">
              <a:spcBef>
                <a:spcPts val="200"/>
              </a:spcBef>
              <a:buNone/>
            </a:pPr>
            <a:r>
              <a:rPr lang="en-US" altLang="en-US" sz="1800" b="1" dirty="0">
                <a:solidFill>
                  <a:schemeClr val="accent2">
                    <a:lumMod val="75000"/>
                  </a:schemeClr>
                </a:solidFill>
              </a:rPr>
              <a:t>6) </a:t>
            </a:r>
            <a:r>
              <a:rPr lang="en-US" altLang="en-US" sz="1800" dirty="0">
                <a:solidFill>
                  <a:prstClr val="black"/>
                </a:solidFill>
              </a:rPr>
              <a:t>Directory has full access by owner + it can be read and entered by group</a:t>
            </a:r>
            <a:endParaRPr lang="en-US" altLang="en-US" sz="1800" b="1" dirty="0">
              <a:solidFill>
                <a:schemeClr val="accent2">
                  <a:lumMod val="75000"/>
                </a:schemeClr>
              </a:solidFill>
            </a:endParaRPr>
          </a:p>
          <a:p>
            <a:pPr marL="0" indent="0">
              <a:spcBef>
                <a:spcPts val="200"/>
              </a:spcBef>
              <a:buNone/>
            </a:pPr>
            <a:r>
              <a:rPr lang="en-US" altLang="en-US" sz="1800" b="1" dirty="0">
                <a:solidFill>
                  <a:schemeClr val="accent2">
                    <a:lumMod val="75000"/>
                  </a:schemeClr>
                </a:solidFill>
              </a:rPr>
              <a:t>7) </a:t>
            </a:r>
            <a:r>
              <a:rPr lang="en-US" altLang="en-US" sz="1800" dirty="0">
                <a:solidFill>
                  <a:prstClr val="black"/>
                </a:solidFill>
              </a:rPr>
              <a:t>File can be read by anyone + modified by owner and group + executed by owner</a:t>
            </a:r>
            <a:endParaRPr lang="en-US" altLang="en-US" sz="1800" b="1" dirty="0">
              <a:solidFill>
                <a:schemeClr val="accent2">
                  <a:lumMod val="75000"/>
                </a:schemeClr>
              </a:solidFill>
            </a:endParaRPr>
          </a:p>
        </p:txBody>
      </p:sp>
      <p:pic>
        <p:nvPicPr>
          <p:cNvPr id="24" name="Picture 23">
            <a:extLst>
              <a:ext uri="{FF2B5EF4-FFF2-40B4-BE49-F238E27FC236}">
                <a16:creationId xmlns:a16="http://schemas.microsoft.com/office/drawing/2014/main" id="{E34B2C50-8772-470F-8FF6-0A60ECE4584D}"/>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6467867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1" name="Rectangle 3"/>
          <p:cNvSpPr>
            <a:spLocks noGrp="1" noChangeArrowheads="1"/>
          </p:cNvSpPr>
          <p:nvPr>
            <p:ph idx="1"/>
          </p:nvPr>
        </p:nvSpPr>
        <p:spPr>
          <a:xfrm>
            <a:off x="2152650" y="1825625"/>
            <a:ext cx="7886700" cy="4942755"/>
          </a:xfrm>
        </p:spPr>
        <p:txBody>
          <a:bodyPr>
            <a:normAutofit/>
          </a:bodyPr>
          <a:lstStyle/>
          <a:p>
            <a:r>
              <a:rPr lang="en-US" altLang="en-US" sz="2000" dirty="0"/>
              <a:t>The </a:t>
            </a:r>
            <a:r>
              <a:rPr lang="en-US" altLang="en-US" sz="2000" b="1" dirty="0" err="1">
                <a:solidFill>
                  <a:schemeClr val="tx2"/>
                </a:solidFill>
                <a:latin typeface="Courier New" panose="02070309020205020404" pitchFamily="49" charset="0"/>
                <a:cs typeface="Courier New" panose="02070309020205020404" pitchFamily="49" charset="0"/>
              </a:rPr>
              <a:t>chmod</a:t>
            </a:r>
            <a:r>
              <a:rPr lang="en-US" altLang="en-US" sz="2000" dirty="0"/>
              <a:t> command changes the permissions associated with a file or directory</a:t>
            </a:r>
          </a:p>
          <a:p>
            <a:pPr eaLnBrk="1" hangingPunct="1"/>
            <a:endParaRPr lang="en-US" altLang="en-US" sz="2000" dirty="0"/>
          </a:p>
          <a:p>
            <a:pPr marL="0" indent="0">
              <a:buNone/>
            </a:pPr>
            <a:endParaRPr lang="en-US" altLang="en-US" sz="2000" dirty="0"/>
          </a:p>
          <a:p>
            <a:pPr>
              <a:spcBef>
                <a:spcPts val="1800"/>
              </a:spcBef>
            </a:pPr>
            <a:r>
              <a:rPr lang="en-US" altLang="en-US" sz="2000" dirty="0"/>
              <a:t>The format of the mode is:</a:t>
            </a:r>
            <a:endParaRPr lang="en-US" altLang="en-US" sz="2000" dirty="0">
              <a:latin typeface="Courier New" panose="02070309020205020404" pitchFamily="49" charset="0"/>
              <a:cs typeface="Courier New" panose="02070309020205020404" pitchFamily="49" charset="0"/>
            </a:endParaRPr>
          </a:p>
          <a:p>
            <a:pPr lvl="1">
              <a:spcBef>
                <a:spcPts val="1800"/>
              </a:spcBef>
            </a:pPr>
            <a:r>
              <a:rPr lang="en-US" altLang="en-US" sz="2000" b="1" dirty="0" err="1">
                <a:solidFill>
                  <a:schemeClr val="tx2"/>
                </a:solidFill>
                <a:latin typeface="Courier New" panose="02070309020205020404" pitchFamily="49" charset="0"/>
                <a:cs typeface="Courier New" panose="02070309020205020404" pitchFamily="49" charset="0"/>
              </a:rPr>
              <a:t>ugoa</a:t>
            </a:r>
            <a:r>
              <a:rPr lang="en-US" altLang="en-US" sz="2000" dirty="0"/>
              <a:t>		user (a.k.a. owner), group, other or all</a:t>
            </a:r>
          </a:p>
          <a:p>
            <a:pPr lvl="1" eaLnBrk="1" hangingPunct="1"/>
            <a:r>
              <a:rPr lang="en-US" altLang="en-US" sz="2000" b="1" dirty="0">
                <a:solidFill>
                  <a:schemeClr val="tx2"/>
                </a:solidFill>
                <a:latin typeface="Courier New" panose="02070309020205020404" pitchFamily="49" charset="0"/>
                <a:cs typeface="Courier New" panose="02070309020205020404" pitchFamily="49" charset="0"/>
              </a:rPr>
              <a:t>+-</a:t>
            </a:r>
            <a:r>
              <a:rPr lang="en-US" altLang="en-US" sz="2000" dirty="0"/>
              <a:t>		add or remove permission</a:t>
            </a:r>
          </a:p>
          <a:p>
            <a:pPr lvl="1" eaLnBrk="1" hangingPunct="1"/>
            <a:r>
              <a:rPr lang="en-US" altLang="en-US" sz="2000" b="1" dirty="0" err="1">
                <a:solidFill>
                  <a:schemeClr val="tx2"/>
                </a:solidFill>
                <a:latin typeface="Courier New" panose="02070309020205020404" pitchFamily="49" charset="0"/>
                <a:cs typeface="Courier New" panose="02070309020205020404" pitchFamily="49" charset="0"/>
              </a:rPr>
              <a:t>rwx</a:t>
            </a:r>
            <a:r>
              <a:rPr lang="en-US" altLang="en-US" sz="2000" dirty="0"/>
              <a:t>		read, write or execute</a:t>
            </a:r>
          </a:p>
        </p:txBody>
      </p:sp>
      <p:sp>
        <p:nvSpPr>
          <p:cNvPr id="176132" name="Text Box 4"/>
          <p:cNvSpPr txBox="1">
            <a:spLocks noChangeArrowheads="1"/>
          </p:cNvSpPr>
          <p:nvPr/>
        </p:nvSpPr>
        <p:spPr bwMode="auto">
          <a:xfrm>
            <a:off x="2452688" y="2517552"/>
            <a:ext cx="7286625" cy="466725"/>
          </a:xfrm>
          <a:prstGeom prst="rect">
            <a:avLst/>
          </a:prstGeom>
          <a:solidFill>
            <a:schemeClr val="accent1"/>
          </a:solidFill>
          <a:ln w="9525">
            <a:solidFill>
              <a:schemeClr val="hlink"/>
            </a:solidFill>
            <a:miter lim="800000"/>
            <a:headEnd/>
            <a:tailEnd/>
          </a:ln>
        </p:spPr>
        <p:txBody>
          <a:bodyPr>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r>
              <a:rPr lang="en-US" altLang="en-US" sz="2400" b="1" dirty="0" err="1">
                <a:solidFill>
                  <a:schemeClr val="tx2"/>
                </a:solidFill>
                <a:highlight>
                  <a:srgbClr val="FFFF00"/>
                </a:highlight>
                <a:latin typeface="Courier New" panose="02070309020205020404" pitchFamily="49" charset="0"/>
                <a:cs typeface="Courier New" panose="02070309020205020404" pitchFamily="49" charset="0"/>
              </a:rPr>
              <a:t>chmod</a:t>
            </a:r>
            <a:r>
              <a:rPr lang="en-US" altLang="en-US" sz="2400" b="1" dirty="0">
                <a:solidFill>
                  <a:schemeClr val="tx2"/>
                </a:solidFill>
                <a:highlight>
                  <a:srgbClr val="FFFF00"/>
                </a:highlight>
                <a:latin typeface="Courier New" panose="02070309020205020404" pitchFamily="49" charset="0"/>
                <a:cs typeface="Courier New" panose="02070309020205020404" pitchFamily="49" charset="0"/>
              </a:rPr>
              <a:t> [options] mode file...</a:t>
            </a:r>
          </a:p>
        </p:txBody>
      </p:sp>
      <p:sp>
        <p:nvSpPr>
          <p:cNvPr id="176133" name="Text Box 6"/>
          <p:cNvSpPr txBox="1">
            <a:spLocks noChangeArrowheads="1"/>
          </p:cNvSpPr>
          <p:nvPr/>
        </p:nvSpPr>
        <p:spPr bwMode="auto">
          <a:xfrm>
            <a:off x="5337050" y="3277211"/>
            <a:ext cx="2959100" cy="466725"/>
          </a:xfrm>
          <a:prstGeom prst="rect">
            <a:avLst/>
          </a:prstGeom>
          <a:solidFill>
            <a:schemeClr val="accent1"/>
          </a:solidFill>
          <a:ln w="9525">
            <a:solidFill>
              <a:schemeClr val="hlink"/>
            </a:solidFill>
            <a:miter lim="800000"/>
            <a:headEnd/>
            <a:tailEnd/>
          </a:ln>
        </p:spPr>
        <p:txBody>
          <a:bodyPr>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r>
              <a:rPr lang="en-US" altLang="en-US" sz="2400" b="1" dirty="0">
                <a:solidFill>
                  <a:schemeClr val="tx2"/>
                </a:solidFill>
                <a:highlight>
                  <a:srgbClr val="FFFF00"/>
                </a:highlight>
                <a:latin typeface="Courier New" panose="02070309020205020404" pitchFamily="49" charset="0"/>
                <a:cs typeface="Courier New" panose="02070309020205020404" pitchFamily="49" charset="0"/>
              </a:rPr>
              <a:t>[</a:t>
            </a:r>
            <a:r>
              <a:rPr lang="en-US" altLang="en-US" sz="2400" b="1" dirty="0" err="1">
                <a:solidFill>
                  <a:schemeClr val="tx2"/>
                </a:solidFill>
                <a:highlight>
                  <a:srgbClr val="FFFF00"/>
                </a:highlight>
                <a:latin typeface="Courier New" panose="02070309020205020404" pitchFamily="49" charset="0"/>
                <a:cs typeface="Courier New" panose="02070309020205020404" pitchFamily="49" charset="0"/>
              </a:rPr>
              <a:t>ugoa</a:t>
            </a:r>
            <a:r>
              <a:rPr lang="en-US" altLang="en-US" sz="2400" b="1" dirty="0">
                <a:solidFill>
                  <a:schemeClr val="tx2"/>
                </a:solidFill>
                <a:highlight>
                  <a:srgbClr val="FFFF00"/>
                </a:highlight>
                <a:latin typeface="Courier New" panose="02070309020205020404" pitchFamily="49" charset="0"/>
                <a:cs typeface="Courier New" panose="02070309020205020404" pitchFamily="49" charset="0"/>
              </a:rPr>
              <a:t>][+-][</a:t>
            </a:r>
            <a:r>
              <a:rPr lang="en-US" altLang="en-US" sz="2400" b="1" dirty="0" err="1">
                <a:solidFill>
                  <a:schemeClr val="tx2"/>
                </a:solidFill>
                <a:highlight>
                  <a:srgbClr val="FFFF00"/>
                </a:highlight>
                <a:latin typeface="Courier New" panose="02070309020205020404" pitchFamily="49" charset="0"/>
                <a:cs typeface="Courier New" panose="02070309020205020404" pitchFamily="49" charset="0"/>
              </a:rPr>
              <a:t>rwx</a:t>
            </a:r>
            <a:r>
              <a:rPr lang="en-US" altLang="en-US" sz="2400" b="1" dirty="0">
                <a:solidFill>
                  <a:schemeClr val="tx2"/>
                </a:solidFill>
                <a:highlight>
                  <a:srgbClr val="FFFF00"/>
                </a:highlight>
                <a:latin typeface="Courier New" panose="02070309020205020404" pitchFamily="49" charset="0"/>
                <a:cs typeface="Courier New" panose="02070309020205020404" pitchFamily="49" charset="0"/>
              </a:rPr>
              <a:t>]</a:t>
            </a:r>
          </a:p>
        </p:txBody>
      </p:sp>
      <p:sp>
        <p:nvSpPr>
          <p:cNvPr id="8" name="Rectangle 2"/>
          <p:cNvSpPr>
            <a:spLocks noGrp="1" noChangeArrowheads="1"/>
          </p:cNvSpPr>
          <p:nvPr>
            <p:ph type="title"/>
          </p:nvPr>
        </p:nvSpPr>
        <p:spPr>
          <a:xfrm>
            <a:off x="833120" y="365127"/>
            <a:ext cx="9611360" cy="1325563"/>
          </a:xfrm>
        </p:spPr>
        <p:txBody>
          <a:bodyPr/>
          <a:lstStyle/>
          <a:p>
            <a:r>
              <a:rPr lang="en-US" altLang="en-US" b="1" dirty="0" err="1">
                <a:solidFill>
                  <a:schemeClr val="accent2">
                    <a:lumMod val="75000"/>
                  </a:schemeClr>
                </a:solidFill>
                <a:latin typeface="Courier New" panose="02070309020205020404" pitchFamily="49" charset="0"/>
                <a:cs typeface="Courier New" panose="02070309020205020404" pitchFamily="49" charset="0"/>
              </a:rPr>
              <a:t>chmod</a:t>
            </a:r>
            <a:r>
              <a:rPr lang="en-US" altLang="en-US" b="1" dirty="0">
                <a:solidFill>
                  <a:schemeClr val="accent2">
                    <a:lumMod val="75000"/>
                  </a:schemeClr>
                </a:solidFill>
                <a:latin typeface="Arial" panose="020B0604020202020204" pitchFamily="34" charset="0"/>
                <a:cs typeface="Arial" panose="020B0604020202020204" pitchFamily="34" charset="0"/>
              </a:rPr>
              <a:t> – Changing file permissions</a:t>
            </a:r>
            <a:endParaRPr lang="en-US" altLang="en-US" b="1" dirty="0">
              <a:solidFill>
                <a:schemeClr val="accent2">
                  <a:lumMod val="75000"/>
                </a:schemeClr>
              </a:solidFill>
              <a:latin typeface="Courier New" panose="02070309020205020404" pitchFamily="49" charset="0"/>
              <a:cs typeface="Courier New" panose="02070309020205020404" pitchFamily="49" charset="0"/>
            </a:endParaRPr>
          </a:p>
        </p:txBody>
      </p:sp>
      <p:pic>
        <p:nvPicPr>
          <p:cNvPr id="7" name="Picture 6">
            <a:extLst>
              <a:ext uri="{FF2B5EF4-FFF2-40B4-BE49-F238E27FC236}">
                <a16:creationId xmlns:a16="http://schemas.microsoft.com/office/drawing/2014/main" id="{5DA3D8D9-57F7-487B-AA8F-8BD626000E3A}"/>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26842405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3AB41-F45F-4301-B9C7-FC4724AD0792}"/>
              </a:ext>
            </a:extLst>
          </p:cNvPr>
          <p:cNvSpPr>
            <a:spLocks noGrp="1"/>
          </p:cNvSpPr>
          <p:nvPr>
            <p:ph type="title"/>
          </p:nvPr>
        </p:nvSpPr>
        <p:spPr/>
        <p:txBody>
          <a:bodyPr/>
          <a:lstStyle/>
          <a:p>
            <a:r>
              <a:rPr lang="en-US" sz="3300" b="1" dirty="0">
                <a:solidFill>
                  <a:srgbClr val="C55A11"/>
                </a:solidFill>
                <a:latin typeface="Arial"/>
                <a:cs typeface="Arial"/>
                <a:sym typeface="Calibri"/>
              </a:rPr>
              <a:t>Task 8</a:t>
            </a:r>
            <a:endParaRPr lang="en-IL" sz="3300" b="1" dirty="0">
              <a:solidFill>
                <a:srgbClr val="C55A11"/>
              </a:solidFill>
              <a:latin typeface="Arial"/>
              <a:cs typeface="Arial"/>
              <a:sym typeface="Calibri"/>
            </a:endParaRPr>
          </a:p>
        </p:txBody>
      </p:sp>
      <p:sp>
        <p:nvSpPr>
          <p:cNvPr id="3" name="Content Placeholder 2">
            <a:extLst>
              <a:ext uri="{FF2B5EF4-FFF2-40B4-BE49-F238E27FC236}">
                <a16:creationId xmlns:a16="http://schemas.microsoft.com/office/drawing/2014/main" id="{D3DF166F-1FCB-4E36-A9D4-78522B2A3A40}"/>
              </a:ext>
            </a:extLst>
          </p:cNvPr>
          <p:cNvSpPr>
            <a:spLocks noGrp="1"/>
          </p:cNvSpPr>
          <p:nvPr>
            <p:ph idx="1"/>
          </p:nvPr>
        </p:nvSpPr>
        <p:spPr/>
        <p:txBody>
          <a:bodyPr/>
          <a:lstStyle/>
          <a:p>
            <a:r>
              <a:rPr lang="en-US" dirty="0"/>
              <a:t>Change permissions to file </a:t>
            </a:r>
            <a:r>
              <a:rPr lang="en-US" dirty="0" err="1">
                <a:latin typeface="Courier New" panose="02070309020205020404" pitchFamily="49" charset="0"/>
                <a:cs typeface="Courier New" panose="02070309020205020404" pitchFamily="49" charset="0"/>
              </a:rPr>
              <a:t>myfile</a:t>
            </a:r>
            <a:r>
              <a:rPr lang="en-US" dirty="0"/>
              <a:t> such that all users (you, your group, and others) have read permissions, only you and your group have writing permissions, and only you have executing permissions. Use an octal permission mode for this.</a:t>
            </a:r>
            <a:endParaRPr lang="en-IL" dirty="0"/>
          </a:p>
        </p:txBody>
      </p:sp>
      <p:pic>
        <p:nvPicPr>
          <p:cNvPr id="4" name="Picture 3">
            <a:extLst>
              <a:ext uri="{FF2B5EF4-FFF2-40B4-BE49-F238E27FC236}">
                <a16:creationId xmlns:a16="http://schemas.microsoft.com/office/drawing/2014/main" id="{DA5C3C4C-8399-46E4-90EE-19673D713C8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37225656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6C147-1B1E-4322-B3E3-A77863ED15AE}"/>
              </a:ext>
            </a:extLst>
          </p:cNvPr>
          <p:cNvSpPr>
            <a:spLocks noGrp="1"/>
          </p:cNvSpPr>
          <p:nvPr>
            <p:ph type="title"/>
          </p:nvPr>
        </p:nvSpPr>
        <p:spPr/>
        <p:txBody>
          <a:bodyPr>
            <a:normAutofit/>
          </a:bodyPr>
          <a:lstStyle/>
          <a:p>
            <a:r>
              <a:rPr lang="en-US" altLang="en-US" b="1" dirty="0">
                <a:solidFill>
                  <a:schemeClr val="accent2">
                    <a:lumMod val="75000"/>
                  </a:schemeClr>
                </a:solidFill>
                <a:latin typeface="Arial" panose="020B0604020202020204" pitchFamily="34" charset="0"/>
                <a:cs typeface="Arial" panose="020B0604020202020204" pitchFamily="34" charset="0"/>
              </a:rPr>
              <a:t>Reminder for numeric representation</a:t>
            </a:r>
            <a:r>
              <a:rPr lang="en-US" dirty="0">
                <a:latin typeface="Arial" panose="020B0604020202020204" pitchFamily="34" charset="0"/>
                <a:cs typeface="Arial" panose="020B0604020202020204" pitchFamily="34" charset="0"/>
              </a:rPr>
              <a:t> </a:t>
            </a:r>
            <a:endParaRPr lang="en-IL"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89A284E-819D-42B0-BAA3-68F32196B2D3}"/>
              </a:ext>
            </a:extLst>
          </p:cNvPr>
          <p:cNvSpPr>
            <a:spLocks noGrp="1"/>
          </p:cNvSpPr>
          <p:nvPr>
            <p:ph idx="1"/>
          </p:nvPr>
        </p:nvSpPr>
        <p:spPr/>
        <p:txBody>
          <a:bodyPr>
            <a:normAutofit fontScale="85000" lnSpcReduction="20000"/>
          </a:bodyPr>
          <a:lstStyle/>
          <a:p>
            <a:r>
              <a:rPr lang="en-US" dirty="0"/>
              <a:t>Base 10 (decimal):</a:t>
            </a:r>
          </a:p>
          <a:p>
            <a:pPr marL="0" indent="0">
              <a:buNone/>
            </a:pPr>
            <a:r>
              <a:rPr lang="en-US" dirty="0"/>
              <a:t>(</a:t>
            </a:r>
            <a:r>
              <a:rPr lang="en-IL" dirty="0"/>
              <a:t>84</a:t>
            </a:r>
            <a:r>
              <a:rPr lang="en-US" dirty="0"/>
              <a:t>)</a:t>
            </a:r>
            <a:r>
              <a:rPr lang="en-US" baseline="-25000" dirty="0"/>
              <a:t>10</a:t>
            </a:r>
            <a:r>
              <a:rPr lang="en-IL" dirty="0"/>
              <a:t> = </a:t>
            </a:r>
            <a:r>
              <a:rPr lang="en-IL" u="sng" dirty="0"/>
              <a:t>8</a:t>
            </a:r>
            <a:r>
              <a:rPr lang="en-IL" dirty="0"/>
              <a:t>*10</a:t>
            </a:r>
            <a:r>
              <a:rPr lang="en-IL" baseline="30000" dirty="0"/>
              <a:t>1</a:t>
            </a:r>
            <a:r>
              <a:rPr lang="en-IL" dirty="0"/>
              <a:t> + </a:t>
            </a:r>
            <a:r>
              <a:rPr lang="en-IL" u="sng" dirty="0"/>
              <a:t>4</a:t>
            </a:r>
            <a:r>
              <a:rPr lang="en-IL" dirty="0"/>
              <a:t>*10</a:t>
            </a:r>
            <a:r>
              <a:rPr lang="en-IL" baseline="30000" dirty="0"/>
              <a:t>0</a:t>
            </a:r>
          </a:p>
          <a:p>
            <a:endParaRPr lang="en-US" dirty="0"/>
          </a:p>
          <a:p>
            <a:r>
              <a:rPr lang="en-US" dirty="0"/>
              <a:t>Base 2 (binary):</a:t>
            </a:r>
          </a:p>
          <a:p>
            <a:pPr marL="0" indent="0">
              <a:buNone/>
            </a:pPr>
            <a:r>
              <a:rPr lang="en-US" dirty="0"/>
              <a:t>(</a:t>
            </a:r>
            <a:r>
              <a:rPr lang="en-IL" dirty="0"/>
              <a:t>84</a:t>
            </a:r>
            <a:r>
              <a:rPr lang="en-US" dirty="0"/>
              <a:t>)</a:t>
            </a:r>
            <a:r>
              <a:rPr lang="en-US" baseline="-25000" dirty="0"/>
              <a:t>2   </a:t>
            </a:r>
            <a:r>
              <a:rPr lang="en-US" dirty="0"/>
              <a:t>=  1010100  =  </a:t>
            </a:r>
            <a:r>
              <a:rPr lang="en-US" u="sng" dirty="0"/>
              <a:t>1</a:t>
            </a:r>
            <a:r>
              <a:rPr lang="en-US" dirty="0"/>
              <a:t>*2</a:t>
            </a:r>
            <a:r>
              <a:rPr lang="en-US" baseline="30000" dirty="0"/>
              <a:t>6</a:t>
            </a:r>
            <a:r>
              <a:rPr lang="en-US" dirty="0"/>
              <a:t> + </a:t>
            </a:r>
            <a:r>
              <a:rPr lang="en-US" u="sng" dirty="0"/>
              <a:t>0</a:t>
            </a:r>
            <a:r>
              <a:rPr lang="en-US" dirty="0"/>
              <a:t>*2</a:t>
            </a:r>
            <a:r>
              <a:rPr lang="en-US" baseline="30000" dirty="0"/>
              <a:t>5</a:t>
            </a:r>
            <a:r>
              <a:rPr lang="en-US" dirty="0"/>
              <a:t> + </a:t>
            </a:r>
            <a:r>
              <a:rPr lang="en-US" u="sng" dirty="0"/>
              <a:t>1</a:t>
            </a:r>
            <a:r>
              <a:rPr lang="en-US" dirty="0"/>
              <a:t>*2</a:t>
            </a:r>
            <a:r>
              <a:rPr lang="en-US" baseline="30000" dirty="0"/>
              <a:t>4</a:t>
            </a:r>
            <a:r>
              <a:rPr lang="en-US" dirty="0"/>
              <a:t> + </a:t>
            </a:r>
            <a:r>
              <a:rPr lang="en-US" u="sng" dirty="0"/>
              <a:t>0</a:t>
            </a:r>
            <a:r>
              <a:rPr lang="en-US" dirty="0"/>
              <a:t>*2</a:t>
            </a:r>
            <a:r>
              <a:rPr lang="en-US" baseline="30000" dirty="0"/>
              <a:t>3</a:t>
            </a:r>
            <a:r>
              <a:rPr lang="en-US" dirty="0"/>
              <a:t> + </a:t>
            </a:r>
            <a:r>
              <a:rPr lang="en-US" u="sng" dirty="0"/>
              <a:t>1</a:t>
            </a:r>
            <a:r>
              <a:rPr lang="en-US" dirty="0"/>
              <a:t>*2</a:t>
            </a:r>
            <a:r>
              <a:rPr lang="en-US" baseline="30000" dirty="0"/>
              <a:t>2</a:t>
            </a:r>
            <a:r>
              <a:rPr lang="en-US" dirty="0"/>
              <a:t> + </a:t>
            </a:r>
            <a:r>
              <a:rPr lang="en-US" u="sng" dirty="0"/>
              <a:t>0</a:t>
            </a:r>
            <a:r>
              <a:rPr lang="en-US" dirty="0"/>
              <a:t>*2</a:t>
            </a:r>
            <a:r>
              <a:rPr lang="en-US" baseline="30000" dirty="0"/>
              <a:t>1</a:t>
            </a:r>
            <a:r>
              <a:rPr lang="en-US" dirty="0"/>
              <a:t> + </a:t>
            </a:r>
            <a:r>
              <a:rPr lang="en-US" u="sng" dirty="0"/>
              <a:t>0</a:t>
            </a:r>
            <a:r>
              <a:rPr lang="en-US" dirty="0"/>
              <a:t>*2</a:t>
            </a:r>
            <a:r>
              <a:rPr lang="en-US" baseline="30000" dirty="0"/>
              <a:t>0</a:t>
            </a:r>
          </a:p>
          <a:p>
            <a:pPr marL="0" indent="0">
              <a:buNone/>
            </a:pPr>
            <a:endParaRPr lang="en-US" dirty="0"/>
          </a:p>
          <a:p>
            <a:r>
              <a:rPr lang="en-US" dirty="0"/>
              <a:t>Base 8 (octal):</a:t>
            </a:r>
          </a:p>
          <a:p>
            <a:pPr marL="0" indent="0">
              <a:buNone/>
            </a:pPr>
            <a:r>
              <a:rPr lang="en-US" dirty="0"/>
              <a:t>(84)</a:t>
            </a:r>
            <a:r>
              <a:rPr lang="en-US" baseline="-25000" dirty="0"/>
              <a:t>8   </a:t>
            </a:r>
            <a:r>
              <a:rPr lang="en-US" dirty="0"/>
              <a:t>=  112 = </a:t>
            </a:r>
            <a:r>
              <a:rPr lang="en-US" u="sng" dirty="0"/>
              <a:t>1</a:t>
            </a:r>
            <a:r>
              <a:rPr lang="en-US" dirty="0"/>
              <a:t>*8</a:t>
            </a:r>
            <a:r>
              <a:rPr lang="en-US" baseline="30000" dirty="0"/>
              <a:t>2</a:t>
            </a:r>
            <a:r>
              <a:rPr lang="en-US" dirty="0"/>
              <a:t> + </a:t>
            </a:r>
            <a:r>
              <a:rPr lang="en-US" u="sng" dirty="0"/>
              <a:t>1</a:t>
            </a:r>
            <a:r>
              <a:rPr lang="en-US" dirty="0"/>
              <a:t>*8</a:t>
            </a:r>
            <a:r>
              <a:rPr lang="en-US" baseline="30000" dirty="0"/>
              <a:t>1</a:t>
            </a:r>
            <a:r>
              <a:rPr lang="en-US" dirty="0"/>
              <a:t> + </a:t>
            </a:r>
            <a:r>
              <a:rPr lang="en-US" u="sng" dirty="0"/>
              <a:t>2</a:t>
            </a:r>
            <a:r>
              <a:rPr lang="en-US" dirty="0"/>
              <a:t>*8</a:t>
            </a:r>
            <a:r>
              <a:rPr lang="en-US" baseline="30000" dirty="0"/>
              <a:t>0</a:t>
            </a:r>
          </a:p>
          <a:p>
            <a:pPr marL="0" indent="0">
              <a:buNone/>
            </a:pPr>
            <a:endParaRPr lang="en-US" dirty="0"/>
          </a:p>
          <a:p>
            <a:r>
              <a:rPr lang="en-US" dirty="0"/>
              <a:t>Base 16 (hexadecimal):</a:t>
            </a:r>
          </a:p>
          <a:p>
            <a:pPr marL="0" indent="0">
              <a:buNone/>
            </a:pPr>
            <a:r>
              <a:rPr lang="en-US" dirty="0"/>
              <a:t>(84)</a:t>
            </a:r>
            <a:r>
              <a:rPr lang="en-US" baseline="-25000" dirty="0"/>
              <a:t>16</a:t>
            </a:r>
            <a:r>
              <a:rPr lang="en-US" dirty="0"/>
              <a:t>  =  54  = </a:t>
            </a:r>
            <a:r>
              <a:rPr lang="en-US" u="sng" dirty="0"/>
              <a:t>5</a:t>
            </a:r>
            <a:r>
              <a:rPr lang="en-US" dirty="0"/>
              <a:t>*16</a:t>
            </a:r>
            <a:r>
              <a:rPr lang="en-US" baseline="30000" dirty="0"/>
              <a:t>1</a:t>
            </a:r>
            <a:r>
              <a:rPr lang="en-US" dirty="0"/>
              <a:t> + </a:t>
            </a:r>
            <a:r>
              <a:rPr lang="en-US" u="sng" dirty="0"/>
              <a:t>4</a:t>
            </a:r>
            <a:r>
              <a:rPr lang="en-US" dirty="0"/>
              <a:t>*16</a:t>
            </a:r>
            <a:r>
              <a:rPr lang="en-US" baseline="30000" dirty="0"/>
              <a:t>0</a:t>
            </a:r>
          </a:p>
        </p:txBody>
      </p:sp>
      <p:pic>
        <p:nvPicPr>
          <p:cNvPr id="4" name="Picture 3">
            <a:extLst>
              <a:ext uri="{FF2B5EF4-FFF2-40B4-BE49-F238E27FC236}">
                <a16:creationId xmlns:a16="http://schemas.microsoft.com/office/drawing/2014/main" id="{678E3260-0ED3-424A-A9EF-7F09D73DB97C}"/>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24759725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lstStyle/>
          <a:p>
            <a:r>
              <a:rPr lang="en-US" altLang="en-US" b="1" dirty="0">
                <a:solidFill>
                  <a:schemeClr val="accent2">
                    <a:lumMod val="75000"/>
                  </a:schemeClr>
                </a:solidFill>
                <a:latin typeface="Arial" panose="020B0604020202020204" pitchFamily="34" charset="0"/>
                <a:cs typeface="Arial" panose="020B0604020202020204" pitchFamily="34" charset="0"/>
              </a:rPr>
              <a:t>File permissions</a:t>
            </a:r>
            <a:endParaRPr lang="en-US" altLang="en-US" dirty="0"/>
          </a:p>
        </p:txBody>
      </p:sp>
      <p:sp>
        <p:nvSpPr>
          <p:cNvPr id="4" name="Rectangle 3"/>
          <p:cNvSpPr>
            <a:spLocks noGrp="1" noChangeArrowheads="1"/>
          </p:cNvSpPr>
          <p:nvPr>
            <p:ph idx="1"/>
          </p:nvPr>
        </p:nvSpPr>
        <p:spPr>
          <a:xfrm>
            <a:off x="2152650" y="1825625"/>
            <a:ext cx="8117575" cy="920320"/>
          </a:xfrm>
        </p:spPr>
        <p:txBody>
          <a:bodyPr>
            <a:normAutofit/>
          </a:bodyPr>
          <a:lstStyle/>
          <a:p>
            <a:pPr marL="0" indent="0">
              <a:buNone/>
            </a:pPr>
            <a:r>
              <a:rPr lang="en-US" altLang="en-US" sz="2400" dirty="0">
                <a:solidFill>
                  <a:prstClr val="black"/>
                </a:solidFill>
              </a:rPr>
              <a:t>The permission setting of a given file or directory can be represented by a binary vector of length 9</a:t>
            </a:r>
            <a:endParaRPr lang="en-US" altLang="en-US" sz="2000" dirty="0"/>
          </a:p>
        </p:txBody>
      </p:sp>
      <p:sp>
        <p:nvSpPr>
          <p:cNvPr id="5" name="Text Box 5">
            <a:extLst>
              <a:ext uri="{FF2B5EF4-FFF2-40B4-BE49-F238E27FC236}">
                <a16:creationId xmlns:a16="http://schemas.microsoft.com/office/drawing/2014/main" id="{6AF7DD41-0537-4E7C-BEF6-6C63583C3CB6}"/>
              </a:ext>
            </a:extLst>
          </p:cNvPr>
          <p:cNvSpPr txBox="1">
            <a:spLocks noChangeArrowheads="1"/>
          </p:cNvSpPr>
          <p:nvPr/>
        </p:nvSpPr>
        <p:spPr bwMode="auto">
          <a:xfrm>
            <a:off x="2262982" y="2594156"/>
            <a:ext cx="7666037" cy="1323439"/>
          </a:xfrm>
          <a:prstGeom prst="rect">
            <a:avLst/>
          </a:prstGeom>
          <a:solidFill>
            <a:srgbClr val="ECEAAC"/>
          </a:solidFill>
          <a:ln w="9525">
            <a:solidFill>
              <a:schemeClr val="accent3">
                <a:lumMod val="75000"/>
              </a:schemeClr>
            </a:solidFill>
            <a:miter lim="800000"/>
            <a:headEnd/>
            <a:tailEnd/>
          </a:ln>
          <a:effectLst/>
        </p:spPr>
        <p:txBody>
          <a:bodyPr>
            <a:spAutoFit/>
          </a:bodyPr>
          <a:lstStyle/>
          <a:p>
            <a:pPr>
              <a:defRPr/>
            </a:pPr>
            <a:r>
              <a:rPr lang="en-US" sz="1600" dirty="0">
                <a:latin typeface="Courier New" pitchFamily="49" charset="0"/>
                <a:cs typeface="Courier New" pitchFamily="49" charset="0"/>
              </a:rPr>
              <a:t>-</a:t>
            </a:r>
            <a:r>
              <a:rPr lang="en-US" sz="1600" dirty="0" err="1">
                <a:latin typeface="Courier New" pitchFamily="49" charset="0"/>
                <a:cs typeface="Courier New" pitchFamily="49" charset="0"/>
              </a:rPr>
              <a:t>rw</a:t>
            </a:r>
            <a:r>
              <a:rPr lang="en-US" sz="1600" dirty="0">
                <a:latin typeface="Courier New" pitchFamily="49" charset="0"/>
                <a:cs typeface="Courier New" pitchFamily="49" charset="0"/>
              </a:rPr>
              <a:t>-------  1 demo  students   317 Oct 19 04:35 backup.tar.gz</a:t>
            </a:r>
            <a:br>
              <a:rPr lang="en-US" sz="1600" dirty="0">
                <a:latin typeface="Courier New" pitchFamily="49" charset="0"/>
                <a:cs typeface="Courier New" pitchFamily="49" charset="0"/>
              </a:rPr>
            </a:br>
            <a:r>
              <a:rPr lang="en-US" sz="1600" b="1" dirty="0">
                <a:solidFill>
                  <a:srgbClr val="C00000"/>
                </a:solidFill>
                <a:latin typeface="Courier New" pitchFamily="49" charset="0"/>
                <a:cs typeface="Courier New" pitchFamily="49" charset="0"/>
              </a:rPr>
              <a:t> 110000000</a:t>
            </a:r>
          </a:p>
          <a:p>
            <a:pPr>
              <a:defRPr/>
            </a:pPr>
            <a:endParaRPr lang="en-US" sz="1600" dirty="0">
              <a:latin typeface="Courier New" pitchFamily="49" charset="0"/>
              <a:cs typeface="Courier New" pitchFamily="49" charset="0"/>
            </a:endParaRPr>
          </a:p>
          <a:p>
            <a:pPr>
              <a:defRPr/>
            </a:pPr>
            <a:r>
              <a:rPr lang="en-US" sz="1600" dirty="0" err="1">
                <a:latin typeface="Courier New" pitchFamily="49" charset="0"/>
                <a:cs typeface="Courier New" pitchFamily="49" charset="0"/>
              </a:rPr>
              <a:t>drwxr</a:t>
            </a:r>
            <a:r>
              <a:rPr lang="en-US" sz="1600" dirty="0">
                <a:latin typeface="Courier New" pitchFamily="49" charset="0"/>
                <a:cs typeface="Courier New" pitchFamily="49" charset="0"/>
              </a:rPr>
              <a:t>-x---  3 demo  students  4096 Oct 19 04:32 solutions</a:t>
            </a:r>
          </a:p>
          <a:p>
            <a:pPr>
              <a:defRPr/>
            </a:pPr>
            <a:r>
              <a:rPr lang="en-US" sz="1600" b="1" dirty="0">
                <a:solidFill>
                  <a:srgbClr val="C00000"/>
                </a:solidFill>
                <a:latin typeface="Courier New" pitchFamily="49" charset="0"/>
                <a:cs typeface="Courier New" pitchFamily="49" charset="0"/>
              </a:rPr>
              <a:t> 111101000</a:t>
            </a:r>
          </a:p>
        </p:txBody>
      </p:sp>
      <p:sp>
        <p:nvSpPr>
          <p:cNvPr id="6" name="Rectangle 3">
            <a:extLst>
              <a:ext uri="{FF2B5EF4-FFF2-40B4-BE49-F238E27FC236}">
                <a16:creationId xmlns:a16="http://schemas.microsoft.com/office/drawing/2014/main" id="{2779CA28-FDE4-4666-A7FC-6939D30EBD7D}"/>
              </a:ext>
            </a:extLst>
          </p:cNvPr>
          <p:cNvSpPr txBox="1">
            <a:spLocks noChangeArrowheads="1"/>
          </p:cNvSpPr>
          <p:nvPr/>
        </p:nvSpPr>
        <p:spPr>
          <a:xfrm>
            <a:off x="2228546" y="3917594"/>
            <a:ext cx="7700473" cy="1958645"/>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en-US" sz="2000" dirty="0">
                <a:solidFill>
                  <a:prstClr val="black"/>
                </a:solidFill>
              </a:rPr>
              <a:t>We can directly specify the permission of a given file or directory by specifying this binary vector using “octal digits” (base 8)</a:t>
            </a:r>
          </a:p>
          <a:p>
            <a:r>
              <a:rPr lang="en-US" altLang="en-US" sz="2000" dirty="0">
                <a:solidFill>
                  <a:prstClr val="black"/>
                </a:solidFill>
              </a:rPr>
              <a:t>Each octal digit (0-7) represents 3 binary flags for the r/w/x/ permissions of owner, group, or others.</a:t>
            </a:r>
          </a:p>
          <a:p>
            <a:pPr marL="0" indent="0">
              <a:spcBef>
                <a:spcPts val="1800"/>
              </a:spcBef>
              <a:buNone/>
            </a:pPr>
            <a:r>
              <a:rPr lang="en-US" altLang="en-US" sz="2400" dirty="0">
                <a:solidFill>
                  <a:srgbClr val="C00000"/>
                </a:solidFill>
              </a:rPr>
              <a:t>Example:</a:t>
            </a:r>
          </a:p>
        </p:txBody>
      </p:sp>
      <p:sp>
        <p:nvSpPr>
          <p:cNvPr id="7" name="Text Box 7">
            <a:extLst>
              <a:ext uri="{FF2B5EF4-FFF2-40B4-BE49-F238E27FC236}">
                <a16:creationId xmlns:a16="http://schemas.microsoft.com/office/drawing/2014/main" id="{A24FB373-60AC-44FC-B158-EB806A33A37B}"/>
              </a:ext>
            </a:extLst>
          </p:cNvPr>
          <p:cNvSpPr txBox="1">
            <a:spLocks noChangeArrowheads="1"/>
          </p:cNvSpPr>
          <p:nvPr/>
        </p:nvSpPr>
        <p:spPr bwMode="auto">
          <a:xfrm>
            <a:off x="2262982" y="5915050"/>
            <a:ext cx="2557393" cy="376237"/>
          </a:xfrm>
          <a:prstGeom prst="rect">
            <a:avLst/>
          </a:prstGeom>
          <a:solidFill>
            <a:schemeClr val="accent1"/>
          </a:solidFill>
          <a:ln w="9525">
            <a:solidFill>
              <a:schemeClr val="hlink"/>
            </a:solidFill>
            <a:miter lim="800000"/>
            <a:headEnd/>
            <a:tailEnd/>
          </a:ln>
        </p:spPr>
        <p:txBody>
          <a:bodyPr wrap="square">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r>
              <a:rPr lang="en-US" altLang="en-US" b="1" dirty="0" err="1">
                <a:latin typeface="Courier New" panose="02070309020205020404" pitchFamily="49" charset="0"/>
                <a:cs typeface="Courier New" panose="02070309020205020404" pitchFamily="49" charset="0"/>
              </a:rPr>
              <a:t>chmod</a:t>
            </a:r>
            <a:r>
              <a:rPr lang="en-US" altLang="en-US" b="1" dirty="0">
                <a:latin typeface="Courier New" panose="02070309020205020404" pitchFamily="49" charset="0"/>
                <a:cs typeface="Courier New" panose="02070309020205020404" pitchFamily="49" charset="0"/>
              </a:rPr>
              <a:t> 644 phones</a:t>
            </a:r>
          </a:p>
        </p:txBody>
      </p:sp>
      <p:sp>
        <p:nvSpPr>
          <p:cNvPr id="8" name="Text Box 4">
            <a:extLst>
              <a:ext uri="{FF2B5EF4-FFF2-40B4-BE49-F238E27FC236}">
                <a16:creationId xmlns:a16="http://schemas.microsoft.com/office/drawing/2014/main" id="{E8BE69CE-BEF1-461C-8324-E8F615389813}"/>
              </a:ext>
            </a:extLst>
          </p:cNvPr>
          <p:cNvSpPr txBox="1">
            <a:spLocks noChangeArrowheads="1"/>
          </p:cNvSpPr>
          <p:nvPr/>
        </p:nvSpPr>
        <p:spPr bwMode="auto">
          <a:xfrm>
            <a:off x="7088161" y="5494954"/>
            <a:ext cx="2200955" cy="1154162"/>
          </a:xfrm>
          <a:prstGeom prst="rect">
            <a:avLst/>
          </a:prstGeom>
          <a:solidFill>
            <a:srgbClr val="ECEAAC"/>
          </a:solidFill>
          <a:ln w="9525">
            <a:solidFill>
              <a:schemeClr val="accent3">
                <a:lumMod val="75000"/>
              </a:schemeClr>
            </a:solidFill>
            <a:miter lim="800000"/>
            <a:headEnd/>
            <a:tailEnd/>
          </a:ln>
          <a:effectLst/>
        </p:spPr>
        <p:txBody>
          <a:bodyPr wrap="square" tIns="0" bIns="0">
            <a:spAutoFit/>
          </a:bodyPr>
          <a:lstStyle/>
          <a:p>
            <a:pPr>
              <a:lnSpc>
                <a:spcPts val="3000"/>
              </a:lnSpc>
              <a:defRPr/>
            </a:pPr>
            <a:r>
              <a:rPr lang="en-US" sz="2800" b="1" dirty="0">
                <a:solidFill>
                  <a:schemeClr val="tx2"/>
                </a:solidFill>
                <a:latin typeface="Courier New" panose="02070309020205020404" pitchFamily="49" charset="0"/>
                <a:cs typeface="Courier New" panose="02070309020205020404" pitchFamily="49" charset="0"/>
              </a:rPr>
              <a:t> </a:t>
            </a:r>
            <a:r>
              <a:rPr lang="en-US" sz="2400" b="1" dirty="0" err="1">
                <a:solidFill>
                  <a:schemeClr val="tx2"/>
                </a:solidFill>
                <a:latin typeface="Courier New" panose="02070309020205020404" pitchFamily="49" charset="0"/>
                <a:cs typeface="Courier New" panose="02070309020205020404" pitchFamily="49" charset="0"/>
              </a:rPr>
              <a:t>rw</a:t>
            </a:r>
            <a:r>
              <a:rPr lang="en-US" sz="2400" b="1" dirty="0">
                <a:solidFill>
                  <a:schemeClr val="tx2"/>
                </a:solidFill>
                <a:latin typeface="Courier New" panose="02070309020205020404" pitchFamily="49" charset="0"/>
                <a:cs typeface="Courier New" panose="02070309020205020404" pitchFamily="49" charset="0"/>
              </a:rPr>
              <a:t>-r--r--</a:t>
            </a:r>
          </a:p>
          <a:p>
            <a:pPr>
              <a:lnSpc>
                <a:spcPts val="3000"/>
              </a:lnSpc>
              <a:defRPr/>
            </a:pPr>
            <a:r>
              <a:rPr lang="en-US" sz="2400" b="1" dirty="0">
                <a:solidFill>
                  <a:schemeClr val="tx2"/>
                </a:solidFill>
                <a:latin typeface="Courier New" panose="02070309020205020404" pitchFamily="49" charset="0"/>
                <a:cs typeface="Courier New" panose="02070309020205020404" pitchFamily="49" charset="0"/>
              </a:rPr>
              <a:t> 110100100</a:t>
            </a:r>
          </a:p>
          <a:p>
            <a:pPr>
              <a:lnSpc>
                <a:spcPts val="3000"/>
              </a:lnSpc>
              <a:defRPr/>
            </a:pPr>
            <a:r>
              <a:rPr lang="en-US" sz="2400" b="1" dirty="0">
                <a:solidFill>
                  <a:schemeClr val="tx2"/>
                </a:solidFill>
                <a:latin typeface="Courier New" panose="02070309020205020404" pitchFamily="49" charset="0"/>
                <a:cs typeface="Courier New" panose="02070309020205020404" pitchFamily="49" charset="0"/>
              </a:rPr>
              <a:t>  6  4  4</a:t>
            </a:r>
            <a:endParaRPr lang="en-US" sz="2800" b="1" dirty="0">
              <a:solidFill>
                <a:schemeClr val="tx2"/>
              </a:solidFill>
              <a:latin typeface="Courier New" panose="02070309020205020404" pitchFamily="49" charset="0"/>
              <a:cs typeface="Courier New" panose="02070309020205020404" pitchFamily="49" charset="0"/>
            </a:endParaRPr>
          </a:p>
        </p:txBody>
      </p:sp>
      <p:sp>
        <p:nvSpPr>
          <p:cNvPr id="9" name="Text Box 8">
            <a:extLst>
              <a:ext uri="{FF2B5EF4-FFF2-40B4-BE49-F238E27FC236}">
                <a16:creationId xmlns:a16="http://schemas.microsoft.com/office/drawing/2014/main" id="{664103E7-66CA-414A-9848-66D4425962F5}"/>
              </a:ext>
            </a:extLst>
          </p:cNvPr>
          <p:cNvSpPr txBox="1">
            <a:spLocks noChangeArrowheads="1"/>
          </p:cNvSpPr>
          <p:nvPr/>
        </p:nvSpPr>
        <p:spPr bwMode="auto">
          <a:xfrm>
            <a:off x="7012265" y="5175107"/>
            <a:ext cx="91122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a:spcBef>
                <a:spcPct val="50000"/>
              </a:spcBef>
            </a:pPr>
            <a:r>
              <a:rPr lang="en-US" altLang="en-US" sz="1600" b="1" dirty="0">
                <a:solidFill>
                  <a:schemeClr val="accent2">
                    <a:lumMod val="75000"/>
                  </a:schemeClr>
                </a:solidFill>
                <a:latin typeface="Tahoma" panose="020B0604030504040204" pitchFamily="34" charset="0"/>
                <a:cs typeface="Tahoma" panose="020B0604030504040204" pitchFamily="34" charset="0"/>
              </a:rPr>
              <a:t>Owner</a:t>
            </a:r>
          </a:p>
        </p:txBody>
      </p:sp>
      <p:sp>
        <p:nvSpPr>
          <p:cNvPr id="10" name="Text Box 10">
            <a:extLst>
              <a:ext uri="{FF2B5EF4-FFF2-40B4-BE49-F238E27FC236}">
                <a16:creationId xmlns:a16="http://schemas.microsoft.com/office/drawing/2014/main" id="{C536DDFF-9395-4D91-A176-E191AC16FBD8}"/>
              </a:ext>
            </a:extLst>
          </p:cNvPr>
          <p:cNvSpPr txBox="1">
            <a:spLocks noChangeArrowheads="1"/>
          </p:cNvSpPr>
          <p:nvPr/>
        </p:nvSpPr>
        <p:spPr bwMode="auto">
          <a:xfrm>
            <a:off x="7847110" y="5174846"/>
            <a:ext cx="8157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a:spcBef>
                <a:spcPct val="50000"/>
              </a:spcBef>
            </a:pPr>
            <a:r>
              <a:rPr lang="en-US" altLang="en-US" sz="1600" b="1" dirty="0">
                <a:solidFill>
                  <a:schemeClr val="accent2">
                    <a:lumMod val="75000"/>
                  </a:schemeClr>
                </a:solidFill>
                <a:latin typeface="Tahoma" panose="020B0604030504040204" pitchFamily="34" charset="0"/>
                <a:cs typeface="Tahoma" panose="020B0604030504040204" pitchFamily="34" charset="0"/>
              </a:rPr>
              <a:t>Group</a:t>
            </a:r>
          </a:p>
        </p:txBody>
      </p:sp>
      <p:sp>
        <p:nvSpPr>
          <p:cNvPr id="11" name="Text Box 12">
            <a:extLst>
              <a:ext uri="{FF2B5EF4-FFF2-40B4-BE49-F238E27FC236}">
                <a16:creationId xmlns:a16="http://schemas.microsoft.com/office/drawing/2014/main" id="{162273F9-E9BA-4652-83BA-1EC506781E8A}"/>
              </a:ext>
            </a:extLst>
          </p:cNvPr>
          <p:cNvSpPr txBox="1">
            <a:spLocks noChangeArrowheads="1"/>
          </p:cNvSpPr>
          <p:nvPr/>
        </p:nvSpPr>
        <p:spPr bwMode="auto">
          <a:xfrm>
            <a:off x="8543877" y="5174585"/>
            <a:ext cx="11191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a:spcBef>
                <a:spcPct val="50000"/>
              </a:spcBef>
            </a:pPr>
            <a:r>
              <a:rPr lang="en-US" altLang="en-US" sz="1600" b="1" dirty="0">
                <a:solidFill>
                  <a:schemeClr val="accent2">
                    <a:lumMod val="75000"/>
                  </a:schemeClr>
                </a:solidFill>
                <a:latin typeface="Tahoma" panose="020B0604030504040204" pitchFamily="34" charset="0"/>
                <a:cs typeface="Tahoma" panose="020B0604030504040204" pitchFamily="34" charset="0"/>
              </a:rPr>
              <a:t>Other</a:t>
            </a:r>
          </a:p>
        </p:txBody>
      </p:sp>
      <p:grpSp>
        <p:nvGrpSpPr>
          <p:cNvPr id="2" name="Group 1">
            <a:extLst>
              <a:ext uri="{FF2B5EF4-FFF2-40B4-BE49-F238E27FC236}">
                <a16:creationId xmlns:a16="http://schemas.microsoft.com/office/drawing/2014/main" id="{D4AF8F69-C76F-4501-95EE-9AA36C1250F1}"/>
              </a:ext>
            </a:extLst>
          </p:cNvPr>
          <p:cNvGrpSpPr/>
          <p:nvPr/>
        </p:nvGrpSpPr>
        <p:grpSpPr>
          <a:xfrm>
            <a:off x="7444245" y="6179820"/>
            <a:ext cx="1465396" cy="57295"/>
            <a:chOff x="3486079" y="6179820"/>
            <a:chExt cx="2171837" cy="45720"/>
          </a:xfrm>
        </p:grpSpPr>
        <p:sp>
          <p:nvSpPr>
            <p:cNvPr id="12" name="Right Bracket 11">
              <a:extLst>
                <a:ext uri="{FF2B5EF4-FFF2-40B4-BE49-F238E27FC236}">
                  <a16:creationId xmlns:a16="http://schemas.microsoft.com/office/drawing/2014/main" id="{B2DCCCFE-BE79-48A7-9ADA-DD5FBD298AFD}"/>
                </a:ext>
              </a:extLst>
            </p:cNvPr>
            <p:cNvSpPr/>
            <p:nvPr/>
          </p:nvSpPr>
          <p:spPr>
            <a:xfrm rot="5400000">
              <a:off x="3795857" y="5870042"/>
              <a:ext cx="45719" cy="665276"/>
            </a:xfrm>
            <a:prstGeom prst="rightBracket">
              <a:avLst/>
            </a:prstGeom>
            <a:ln w="28575">
              <a:solidFill>
                <a:schemeClr val="accent5">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ight Bracket 12">
              <a:extLst>
                <a:ext uri="{FF2B5EF4-FFF2-40B4-BE49-F238E27FC236}">
                  <a16:creationId xmlns:a16="http://schemas.microsoft.com/office/drawing/2014/main" id="{348C315A-BEE1-4283-8ADE-C0C032E0DBA1}"/>
                </a:ext>
              </a:extLst>
            </p:cNvPr>
            <p:cNvSpPr/>
            <p:nvPr/>
          </p:nvSpPr>
          <p:spPr>
            <a:xfrm rot="5400000">
              <a:off x="4549138" y="5870043"/>
              <a:ext cx="45719" cy="665276"/>
            </a:xfrm>
            <a:prstGeom prst="rightBracket">
              <a:avLst/>
            </a:prstGeom>
            <a:ln w="28575">
              <a:solidFill>
                <a:schemeClr val="accent5">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ight Bracket 13">
              <a:extLst>
                <a:ext uri="{FF2B5EF4-FFF2-40B4-BE49-F238E27FC236}">
                  <a16:creationId xmlns:a16="http://schemas.microsoft.com/office/drawing/2014/main" id="{CFA7A572-8674-4AC5-BE58-099AEA188AD0}"/>
                </a:ext>
              </a:extLst>
            </p:cNvPr>
            <p:cNvSpPr/>
            <p:nvPr/>
          </p:nvSpPr>
          <p:spPr>
            <a:xfrm rot="5400000">
              <a:off x="5302418" y="5870043"/>
              <a:ext cx="45719" cy="665276"/>
            </a:xfrm>
            <a:prstGeom prst="rightBracket">
              <a:avLst/>
            </a:prstGeom>
            <a:ln w="28575">
              <a:solidFill>
                <a:schemeClr val="accent5">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pic>
        <p:nvPicPr>
          <p:cNvPr id="16" name="Picture 15">
            <a:extLst>
              <a:ext uri="{FF2B5EF4-FFF2-40B4-BE49-F238E27FC236}">
                <a16:creationId xmlns:a16="http://schemas.microsoft.com/office/drawing/2014/main" id="{F851E0C7-187D-472C-BAC2-5A997E8224B5}"/>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3103310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P spid="10" grpId="0"/>
      <p:bldP spid="1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r>
              <a:rPr lang="en-US" altLang="en-US" b="1" dirty="0">
                <a:solidFill>
                  <a:schemeClr val="accent2">
                    <a:lumMod val="75000"/>
                  </a:schemeClr>
                </a:solidFill>
                <a:latin typeface="Arial" panose="020B0604020202020204" pitchFamily="34" charset="0"/>
                <a:cs typeface="Arial" panose="020B0604020202020204" pitchFamily="34" charset="0"/>
              </a:rPr>
              <a:t>File</a:t>
            </a:r>
            <a:r>
              <a:rPr lang="en-US" altLang="en-US" dirty="0"/>
              <a:t> </a:t>
            </a:r>
            <a:r>
              <a:rPr lang="en-US" altLang="en-US" b="1" dirty="0">
                <a:solidFill>
                  <a:schemeClr val="accent2">
                    <a:lumMod val="75000"/>
                  </a:schemeClr>
                </a:solidFill>
                <a:latin typeface="Arial" panose="020B0604020202020204" pitchFamily="34" charset="0"/>
                <a:cs typeface="Arial" panose="020B0604020202020204" pitchFamily="34" charset="0"/>
              </a:rPr>
              <a:t>permissions – examples</a:t>
            </a:r>
          </a:p>
        </p:txBody>
      </p:sp>
      <p:pic>
        <p:nvPicPr>
          <p:cNvPr id="1026" name="Picture 2" descr="command line - Understanding chmod Symbolic Notation and use of ...">
            <a:extLst>
              <a:ext uri="{FF2B5EF4-FFF2-40B4-BE49-F238E27FC236}">
                <a16:creationId xmlns:a16="http://schemas.microsoft.com/office/drawing/2014/main" id="{C9D9691F-4C8C-4CBB-B864-DE4CF55090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6362" y="3881694"/>
            <a:ext cx="3974388" cy="2817590"/>
          </a:xfrm>
          <a:prstGeom prst="rect">
            <a:avLst/>
          </a:prstGeom>
          <a:noFill/>
          <a:extLst>
            <a:ext uri="{909E8E84-426E-40DD-AFC4-6F175D3DCCD1}">
              <a14:hiddenFill xmlns:a14="http://schemas.microsoft.com/office/drawing/2010/main">
                <a:solidFill>
                  <a:srgbClr val="FFFFFF"/>
                </a:solidFill>
              </a14:hiddenFill>
            </a:ext>
          </a:extLst>
        </p:spPr>
      </p:pic>
      <p:sp>
        <p:nvSpPr>
          <p:cNvPr id="12" name="Text Box 5">
            <a:extLst>
              <a:ext uri="{FF2B5EF4-FFF2-40B4-BE49-F238E27FC236}">
                <a16:creationId xmlns:a16="http://schemas.microsoft.com/office/drawing/2014/main" id="{16986EF5-548A-40C8-A5A9-0701083F7F47}"/>
              </a:ext>
            </a:extLst>
          </p:cNvPr>
          <p:cNvSpPr txBox="1">
            <a:spLocks noChangeArrowheads="1"/>
          </p:cNvSpPr>
          <p:nvPr/>
        </p:nvSpPr>
        <p:spPr bwMode="auto">
          <a:xfrm>
            <a:off x="2301250" y="2035432"/>
            <a:ext cx="4098330" cy="1846263"/>
          </a:xfrm>
          <a:prstGeom prst="rect">
            <a:avLst/>
          </a:prstGeom>
          <a:solidFill>
            <a:srgbClr val="ECEAAC"/>
          </a:solidFill>
          <a:ln w="9525">
            <a:solidFill>
              <a:schemeClr val="accent3">
                <a:lumMod val="75000"/>
              </a:schemeClr>
            </a:solidFill>
            <a:miter lim="800000"/>
            <a:headEnd/>
            <a:tailEnd/>
          </a:ln>
          <a:effectLst/>
        </p:spPr>
        <p:txBody>
          <a:bodyPr wrap="square">
            <a:spAutoFit/>
          </a:bodyPr>
          <a:lstStyle/>
          <a:p>
            <a:pPr>
              <a:defRPr/>
            </a:pPr>
            <a:r>
              <a:rPr lang="en-US" sz="1600" dirty="0">
                <a:latin typeface="Courier New" pitchFamily="49" charset="0"/>
                <a:cs typeface="Courier New" pitchFamily="49" charset="0"/>
              </a:rPr>
              <a:t>-</a:t>
            </a:r>
            <a:r>
              <a:rPr lang="en-US" sz="1600" dirty="0" err="1">
                <a:latin typeface="Courier New" pitchFamily="49" charset="0"/>
                <a:cs typeface="Courier New" pitchFamily="49" charset="0"/>
              </a:rPr>
              <a:t>rw</a:t>
            </a:r>
            <a:r>
              <a:rPr lang="en-US" sz="1600" dirty="0">
                <a:latin typeface="Courier New" pitchFamily="49" charset="0"/>
                <a:cs typeface="Courier New" pitchFamily="49" charset="0"/>
              </a:rPr>
              <a:t>-------  . . . backup.tar.gz</a:t>
            </a:r>
          </a:p>
          <a:p>
            <a:pPr>
              <a:defRPr/>
            </a:pPr>
            <a:r>
              <a:rPr lang="en-US" sz="1600" dirty="0" err="1">
                <a:latin typeface="Courier New" pitchFamily="49" charset="0"/>
                <a:cs typeface="Courier New" pitchFamily="49" charset="0"/>
              </a:rPr>
              <a:t>drwx</a:t>
            </a:r>
            <a:r>
              <a:rPr lang="en-US" sz="1600" dirty="0">
                <a:latin typeface="Courier New" pitchFamily="49" charset="0"/>
                <a:cs typeface="Courier New" pitchFamily="49" charset="0"/>
              </a:rPr>
              <a:t>------  . . . bin</a:t>
            </a:r>
          </a:p>
          <a:p>
            <a:pPr>
              <a:defRPr/>
            </a:pPr>
            <a:r>
              <a:rPr lang="en-US" sz="1600" dirty="0">
                <a:latin typeface="Courier New" pitchFamily="49" charset="0"/>
                <a:cs typeface="Courier New" pitchFamily="49" charset="0"/>
              </a:rPr>
              <a:t>-</a:t>
            </a:r>
            <a:r>
              <a:rPr lang="en-US" sz="1600" dirty="0" err="1">
                <a:latin typeface="Courier New" pitchFamily="49" charset="0"/>
                <a:cs typeface="Courier New" pitchFamily="49" charset="0"/>
              </a:rPr>
              <a:t>rwxr</a:t>
            </a:r>
            <a:r>
              <a:rPr lang="en-US" sz="1600" dirty="0">
                <a:latin typeface="Courier New" pitchFamily="49" charset="0"/>
                <a:cs typeface="Courier New" pitchFamily="49" charset="0"/>
              </a:rPr>
              <a:t>-----  . . . </a:t>
            </a:r>
            <a:r>
              <a:rPr lang="en-US" sz="1600" dirty="0" err="1">
                <a:latin typeface="Courier New" pitchFamily="49" charset="0"/>
                <a:cs typeface="Courier New" pitchFamily="49" charset="0"/>
              </a:rPr>
              <a:t>create_backup</a:t>
            </a:r>
            <a:endParaRPr lang="en-US" sz="1600" dirty="0">
              <a:latin typeface="Courier New" pitchFamily="49" charset="0"/>
              <a:cs typeface="Courier New" pitchFamily="49" charset="0"/>
            </a:endParaRPr>
          </a:p>
          <a:p>
            <a:pPr>
              <a:defRPr/>
            </a:pPr>
            <a:r>
              <a:rPr lang="en-US" sz="1600" dirty="0" err="1">
                <a:latin typeface="Courier New" pitchFamily="49" charset="0"/>
                <a:cs typeface="Courier New" pitchFamily="49" charset="0"/>
              </a:rPr>
              <a:t>drwxr</a:t>
            </a:r>
            <a:r>
              <a:rPr lang="en-US" sz="1600" dirty="0">
                <a:latin typeface="Courier New" pitchFamily="49" charset="0"/>
                <a:cs typeface="Courier New" pitchFamily="49" charset="0"/>
              </a:rPr>
              <a:t>-----  . . . </a:t>
            </a:r>
            <a:r>
              <a:rPr lang="en-US" sz="1600" dirty="0" err="1">
                <a:latin typeface="Courier New" pitchFamily="49" charset="0"/>
                <a:cs typeface="Courier New" pitchFamily="49" charset="0"/>
              </a:rPr>
              <a:t>my_documents</a:t>
            </a:r>
            <a:endParaRPr lang="en-US" sz="1600" dirty="0">
              <a:latin typeface="Courier New" pitchFamily="49" charset="0"/>
              <a:cs typeface="Courier New" pitchFamily="49" charset="0"/>
            </a:endParaRPr>
          </a:p>
          <a:p>
            <a:pPr>
              <a:defRPr/>
            </a:pPr>
            <a:r>
              <a:rPr lang="en-US" sz="1600" dirty="0">
                <a:latin typeface="Courier New" pitchFamily="49" charset="0"/>
                <a:cs typeface="Courier New" pitchFamily="49" charset="0"/>
              </a:rPr>
              <a:t>-</a:t>
            </a:r>
            <a:r>
              <a:rPr lang="en-US" sz="1600" dirty="0" err="1">
                <a:latin typeface="Courier New" pitchFamily="49" charset="0"/>
                <a:cs typeface="Courier New" pitchFamily="49" charset="0"/>
              </a:rPr>
              <a:t>rw</a:t>
            </a:r>
            <a:r>
              <a:rPr lang="en-US" sz="1600" dirty="0">
                <a:latin typeface="Courier New" pitchFamily="49" charset="0"/>
                <a:cs typeface="Courier New" pitchFamily="49" charset="0"/>
              </a:rPr>
              <a:t>-r--r--  . . . </a:t>
            </a:r>
            <a:r>
              <a:rPr lang="en-US" sz="1600" dirty="0" err="1">
                <a:latin typeface="Courier New" pitchFamily="49" charset="0"/>
                <a:cs typeface="Courier New" pitchFamily="49" charset="0"/>
              </a:rPr>
              <a:t>phone_list</a:t>
            </a:r>
            <a:endParaRPr lang="en-US" sz="1600" dirty="0">
              <a:latin typeface="Courier New" pitchFamily="49" charset="0"/>
              <a:cs typeface="Courier New" pitchFamily="49" charset="0"/>
            </a:endParaRPr>
          </a:p>
          <a:p>
            <a:pPr>
              <a:defRPr/>
            </a:pPr>
            <a:r>
              <a:rPr lang="en-US" sz="1600" dirty="0" err="1">
                <a:latin typeface="Courier New" pitchFamily="49" charset="0"/>
                <a:cs typeface="Courier New" pitchFamily="49" charset="0"/>
              </a:rPr>
              <a:t>drwxr</a:t>
            </a:r>
            <a:r>
              <a:rPr lang="en-US" sz="1600" dirty="0">
                <a:latin typeface="Courier New" pitchFamily="49" charset="0"/>
                <a:cs typeface="Courier New" pitchFamily="49" charset="0"/>
              </a:rPr>
              <a:t>-x---  . . . solutions</a:t>
            </a:r>
          </a:p>
          <a:p>
            <a:pPr>
              <a:defRPr/>
            </a:pPr>
            <a:r>
              <a:rPr lang="en-US" sz="1600" dirty="0">
                <a:latin typeface="Courier New" pitchFamily="49" charset="0"/>
                <a:cs typeface="Courier New" pitchFamily="49" charset="0"/>
              </a:rPr>
              <a:t>-</a:t>
            </a:r>
            <a:r>
              <a:rPr lang="en-US" sz="1600" dirty="0" err="1">
                <a:latin typeface="Courier New" pitchFamily="49" charset="0"/>
                <a:cs typeface="Courier New" pitchFamily="49" charset="0"/>
              </a:rPr>
              <a:t>rwxrw</a:t>
            </a:r>
            <a:r>
              <a:rPr lang="en-US" sz="1600" dirty="0">
                <a:latin typeface="Courier New" pitchFamily="49" charset="0"/>
                <a:cs typeface="Courier New" pitchFamily="49" charset="0"/>
              </a:rPr>
              <a:t>-r--  . . . temp</a:t>
            </a:r>
          </a:p>
        </p:txBody>
      </p:sp>
      <p:sp>
        <p:nvSpPr>
          <p:cNvPr id="13" name="Text Box 11">
            <a:extLst>
              <a:ext uri="{FF2B5EF4-FFF2-40B4-BE49-F238E27FC236}">
                <a16:creationId xmlns:a16="http://schemas.microsoft.com/office/drawing/2014/main" id="{DBC1A94F-519A-4B7F-B6D8-F7A989EE6F85}"/>
              </a:ext>
            </a:extLst>
          </p:cNvPr>
          <p:cNvSpPr txBox="1">
            <a:spLocks noChangeArrowheads="1"/>
          </p:cNvSpPr>
          <p:nvPr/>
        </p:nvSpPr>
        <p:spPr bwMode="auto">
          <a:xfrm>
            <a:off x="6702675" y="1663230"/>
            <a:ext cx="9112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a:spcBef>
                <a:spcPct val="50000"/>
              </a:spcBef>
            </a:pPr>
            <a:r>
              <a:rPr lang="en-US" altLang="en-US" b="1" dirty="0">
                <a:solidFill>
                  <a:schemeClr val="tx2"/>
                </a:solidFill>
                <a:latin typeface="Tahoma" panose="020B0604030504040204" pitchFamily="34" charset="0"/>
                <a:cs typeface="Tahoma" panose="020B0604030504040204" pitchFamily="34" charset="0"/>
              </a:rPr>
              <a:t>binary</a:t>
            </a:r>
          </a:p>
        </p:txBody>
      </p:sp>
      <p:sp>
        <p:nvSpPr>
          <p:cNvPr id="14" name="Text Box 11">
            <a:extLst>
              <a:ext uri="{FF2B5EF4-FFF2-40B4-BE49-F238E27FC236}">
                <a16:creationId xmlns:a16="http://schemas.microsoft.com/office/drawing/2014/main" id="{F6B5176B-B65D-41A7-A443-D733EB7ADF79}"/>
              </a:ext>
            </a:extLst>
          </p:cNvPr>
          <p:cNvSpPr txBox="1">
            <a:spLocks noChangeArrowheads="1"/>
          </p:cNvSpPr>
          <p:nvPr/>
        </p:nvSpPr>
        <p:spPr bwMode="auto">
          <a:xfrm>
            <a:off x="8042900" y="1663230"/>
            <a:ext cx="9112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Times New Roman" panose="02020603050405020304" pitchFamily="18" charset="0"/>
              </a:defRPr>
            </a:lvl1pPr>
            <a:lvl2pPr marL="742950" indent="-285750">
              <a:defRPr>
                <a:solidFill>
                  <a:schemeClr val="tx1"/>
                </a:solidFill>
                <a:latin typeface="Arial" panose="020B0604020202020204" pitchFamily="34" charset="0"/>
                <a:cs typeface="Times New Roman" panose="02020603050405020304" pitchFamily="18" charset="0"/>
              </a:defRPr>
            </a:lvl2pPr>
            <a:lvl3pPr marL="1143000" indent="-228600">
              <a:defRPr>
                <a:solidFill>
                  <a:schemeClr val="tx1"/>
                </a:solidFill>
                <a:latin typeface="Arial" panose="020B0604020202020204" pitchFamily="34" charset="0"/>
                <a:cs typeface="Times New Roman" panose="02020603050405020304" pitchFamily="18" charset="0"/>
              </a:defRPr>
            </a:lvl3pPr>
            <a:lvl4pPr marL="1600200" indent="-228600">
              <a:defRPr>
                <a:solidFill>
                  <a:schemeClr val="tx1"/>
                </a:solidFill>
                <a:latin typeface="Arial" panose="020B0604020202020204" pitchFamily="34" charset="0"/>
                <a:cs typeface="Times New Roman" panose="02020603050405020304" pitchFamily="18" charset="0"/>
              </a:defRPr>
            </a:lvl4pPr>
            <a:lvl5pPr marL="2057400" indent="-228600">
              <a:defRPr>
                <a:solidFill>
                  <a:schemeClr val="tx1"/>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Times New Roman" panose="02020603050405020304" pitchFamily="18" charset="0"/>
              </a:defRPr>
            </a:lvl9pPr>
          </a:lstStyle>
          <a:p>
            <a:pPr>
              <a:spcBef>
                <a:spcPct val="50000"/>
              </a:spcBef>
            </a:pPr>
            <a:r>
              <a:rPr lang="en-US" altLang="en-US" b="1" dirty="0">
                <a:solidFill>
                  <a:schemeClr val="tx2"/>
                </a:solidFill>
                <a:latin typeface="Tahoma" panose="020B0604030504040204" pitchFamily="34" charset="0"/>
                <a:cs typeface="Tahoma" panose="020B0604030504040204" pitchFamily="34" charset="0"/>
              </a:rPr>
              <a:t>octal</a:t>
            </a:r>
          </a:p>
        </p:txBody>
      </p:sp>
      <p:sp>
        <p:nvSpPr>
          <p:cNvPr id="15" name="Text Box 5">
            <a:extLst>
              <a:ext uri="{FF2B5EF4-FFF2-40B4-BE49-F238E27FC236}">
                <a16:creationId xmlns:a16="http://schemas.microsoft.com/office/drawing/2014/main" id="{87826C13-EF61-4323-BE78-6090F89CCDE1}"/>
              </a:ext>
            </a:extLst>
          </p:cNvPr>
          <p:cNvSpPr txBox="1">
            <a:spLocks noChangeArrowheads="1"/>
          </p:cNvSpPr>
          <p:nvPr/>
        </p:nvSpPr>
        <p:spPr bwMode="auto">
          <a:xfrm>
            <a:off x="6447736" y="2098506"/>
            <a:ext cx="1593795" cy="1815882"/>
          </a:xfrm>
          <a:prstGeom prst="rect">
            <a:avLst/>
          </a:prstGeom>
          <a:noFill/>
          <a:ln w="9525">
            <a:noFill/>
            <a:miter lim="800000"/>
            <a:headEnd/>
            <a:tailEnd/>
          </a:ln>
          <a:effectLst/>
        </p:spPr>
        <p:txBody>
          <a:bodyPr wrap="square">
            <a:spAutoFit/>
          </a:bodyPr>
          <a:lstStyle/>
          <a:p>
            <a:pPr>
              <a:defRPr/>
            </a:pPr>
            <a:r>
              <a:rPr lang="en-US" sz="1600" b="1" dirty="0">
                <a:solidFill>
                  <a:srgbClr val="C00000"/>
                </a:solidFill>
                <a:latin typeface="Courier New" pitchFamily="49" charset="0"/>
                <a:cs typeface="Courier New" pitchFamily="49" charset="0"/>
              </a:rPr>
              <a:t>110</a:t>
            </a:r>
            <a:r>
              <a:rPr lang="en-US" sz="1050" b="1" dirty="0">
                <a:solidFill>
                  <a:srgbClr val="C00000"/>
                </a:solidFill>
                <a:latin typeface="Courier New" pitchFamily="49" charset="0"/>
                <a:cs typeface="Courier New" pitchFamily="49" charset="0"/>
              </a:rPr>
              <a:t> </a:t>
            </a:r>
            <a:r>
              <a:rPr lang="en-US" sz="1600" b="1" dirty="0">
                <a:solidFill>
                  <a:srgbClr val="C00000"/>
                </a:solidFill>
                <a:latin typeface="Courier New" pitchFamily="49" charset="0"/>
                <a:cs typeface="Courier New" pitchFamily="49" charset="0"/>
              </a:rPr>
              <a:t>000</a:t>
            </a:r>
            <a:r>
              <a:rPr lang="en-US" sz="1050" b="1" dirty="0">
                <a:solidFill>
                  <a:srgbClr val="C00000"/>
                </a:solidFill>
                <a:latin typeface="Courier New" pitchFamily="49" charset="0"/>
                <a:cs typeface="Courier New" pitchFamily="49" charset="0"/>
              </a:rPr>
              <a:t> </a:t>
            </a:r>
            <a:r>
              <a:rPr lang="en-US" sz="1600" b="1" dirty="0">
                <a:solidFill>
                  <a:srgbClr val="C00000"/>
                </a:solidFill>
                <a:latin typeface="Courier New" pitchFamily="49" charset="0"/>
                <a:cs typeface="Courier New" pitchFamily="49" charset="0"/>
              </a:rPr>
              <a:t>000</a:t>
            </a:r>
          </a:p>
          <a:p>
            <a:pPr>
              <a:defRPr/>
            </a:pPr>
            <a:r>
              <a:rPr lang="en-US" sz="1600" b="1" dirty="0">
                <a:solidFill>
                  <a:srgbClr val="C00000"/>
                </a:solidFill>
                <a:latin typeface="Courier New" pitchFamily="49" charset="0"/>
                <a:cs typeface="Courier New" pitchFamily="49" charset="0"/>
              </a:rPr>
              <a:t>111</a:t>
            </a:r>
            <a:r>
              <a:rPr lang="en-US" sz="1050" b="1" dirty="0">
                <a:solidFill>
                  <a:srgbClr val="C00000"/>
                </a:solidFill>
                <a:latin typeface="Courier New" pitchFamily="49" charset="0"/>
                <a:cs typeface="Courier New" pitchFamily="49" charset="0"/>
              </a:rPr>
              <a:t> </a:t>
            </a:r>
            <a:r>
              <a:rPr lang="en-US" sz="1600" b="1" dirty="0">
                <a:solidFill>
                  <a:srgbClr val="C00000"/>
                </a:solidFill>
                <a:latin typeface="Courier New" pitchFamily="49" charset="0"/>
                <a:cs typeface="Courier New" pitchFamily="49" charset="0"/>
              </a:rPr>
              <a:t>000</a:t>
            </a:r>
            <a:r>
              <a:rPr lang="en-US" sz="1050" b="1" dirty="0">
                <a:solidFill>
                  <a:srgbClr val="C00000"/>
                </a:solidFill>
                <a:latin typeface="Courier New" pitchFamily="49" charset="0"/>
                <a:cs typeface="Courier New" pitchFamily="49" charset="0"/>
              </a:rPr>
              <a:t> </a:t>
            </a:r>
            <a:r>
              <a:rPr lang="en-US" sz="1600" b="1" dirty="0">
                <a:solidFill>
                  <a:srgbClr val="C00000"/>
                </a:solidFill>
                <a:latin typeface="Courier New" pitchFamily="49" charset="0"/>
                <a:cs typeface="Courier New" pitchFamily="49" charset="0"/>
              </a:rPr>
              <a:t>000</a:t>
            </a:r>
          </a:p>
          <a:p>
            <a:pPr>
              <a:defRPr/>
            </a:pPr>
            <a:r>
              <a:rPr lang="en-US" sz="1600" b="1" dirty="0">
                <a:solidFill>
                  <a:srgbClr val="C00000"/>
                </a:solidFill>
                <a:latin typeface="Courier New" pitchFamily="49" charset="0"/>
                <a:cs typeface="Courier New" pitchFamily="49" charset="0"/>
              </a:rPr>
              <a:t>111</a:t>
            </a:r>
            <a:r>
              <a:rPr lang="en-US" sz="1050" b="1" dirty="0">
                <a:solidFill>
                  <a:srgbClr val="C00000"/>
                </a:solidFill>
                <a:latin typeface="Courier New" pitchFamily="49" charset="0"/>
                <a:cs typeface="Courier New" pitchFamily="49" charset="0"/>
              </a:rPr>
              <a:t> </a:t>
            </a:r>
            <a:r>
              <a:rPr lang="en-US" sz="1600" b="1" dirty="0">
                <a:solidFill>
                  <a:srgbClr val="C00000"/>
                </a:solidFill>
                <a:latin typeface="Courier New" pitchFamily="49" charset="0"/>
                <a:cs typeface="Courier New" pitchFamily="49" charset="0"/>
              </a:rPr>
              <a:t>100</a:t>
            </a:r>
            <a:r>
              <a:rPr lang="en-US" sz="1050" b="1" dirty="0">
                <a:solidFill>
                  <a:srgbClr val="C00000"/>
                </a:solidFill>
                <a:latin typeface="Courier New" pitchFamily="49" charset="0"/>
                <a:cs typeface="Courier New" pitchFamily="49" charset="0"/>
              </a:rPr>
              <a:t> </a:t>
            </a:r>
            <a:r>
              <a:rPr lang="en-US" sz="1600" b="1" dirty="0">
                <a:solidFill>
                  <a:srgbClr val="C00000"/>
                </a:solidFill>
                <a:latin typeface="Courier New" pitchFamily="49" charset="0"/>
                <a:cs typeface="Courier New" pitchFamily="49" charset="0"/>
              </a:rPr>
              <a:t>000</a:t>
            </a:r>
          </a:p>
          <a:p>
            <a:pPr>
              <a:defRPr/>
            </a:pPr>
            <a:r>
              <a:rPr lang="en-US" sz="1600" b="1" dirty="0">
                <a:solidFill>
                  <a:srgbClr val="C00000"/>
                </a:solidFill>
                <a:latin typeface="Courier New" pitchFamily="49" charset="0"/>
                <a:cs typeface="Courier New" pitchFamily="49" charset="0"/>
              </a:rPr>
              <a:t>111</a:t>
            </a:r>
            <a:r>
              <a:rPr lang="en-US" sz="1050" b="1" dirty="0">
                <a:solidFill>
                  <a:srgbClr val="C00000"/>
                </a:solidFill>
                <a:latin typeface="Courier New" pitchFamily="49" charset="0"/>
                <a:cs typeface="Courier New" pitchFamily="49" charset="0"/>
              </a:rPr>
              <a:t> </a:t>
            </a:r>
            <a:r>
              <a:rPr lang="en-US" sz="1600" b="1" dirty="0">
                <a:solidFill>
                  <a:srgbClr val="C00000"/>
                </a:solidFill>
                <a:latin typeface="Courier New" pitchFamily="49" charset="0"/>
                <a:cs typeface="Courier New" pitchFamily="49" charset="0"/>
              </a:rPr>
              <a:t>100</a:t>
            </a:r>
            <a:r>
              <a:rPr lang="en-US" sz="1050" b="1" dirty="0">
                <a:solidFill>
                  <a:srgbClr val="C00000"/>
                </a:solidFill>
                <a:latin typeface="Courier New" pitchFamily="49" charset="0"/>
                <a:cs typeface="Courier New" pitchFamily="49" charset="0"/>
              </a:rPr>
              <a:t> </a:t>
            </a:r>
            <a:r>
              <a:rPr lang="en-US" sz="1600" b="1" dirty="0">
                <a:solidFill>
                  <a:srgbClr val="C00000"/>
                </a:solidFill>
                <a:latin typeface="Courier New" pitchFamily="49" charset="0"/>
                <a:cs typeface="Courier New" pitchFamily="49" charset="0"/>
              </a:rPr>
              <a:t>000</a:t>
            </a:r>
          </a:p>
          <a:p>
            <a:pPr>
              <a:defRPr/>
            </a:pPr>
            <a:r>
              <a:rPr lang="en-US" sz="1600" b="1" dirty="0">
                <a:solidFill>
                  <a:srgbClr val="C00000"/>
                </a:solidFill>
                <a:latin typeface="Courier New" pitchFamily="49" charset="0"/>
                <a:cs typeface="Courier New" pitchFamily="49" charset="0"/>
              </a:rPr>
              <a:t>110</a:t>
            </a:r>
            <a:r>
              <a:rPr lang="en-US" sz="1050" b="1" dirty="0">
                <a:solidFill>
                  <a:srgbClr val="C00000"/>
                </a:solidFill>
                <a:latin typeface="Courier New" pitchFamily="49" charset="0"/>
                <a:cs typeface="Courier New" pitchFamily="49" charset="0"/>
              </a:rPr>
              <a:t> </a:t>
            </a:r>
            <a:r>
              <a:rPr lang="en-US" sz="1600" b="1" dirty="0">
                <a:solidFill>
                  <a:srgbClr val="C00000"/>
                </a:solidFill>
                <a:latin typeface="Courier New" pitchFamily="49" charset="0"/>
                <a:cs typeface="Courier New" pitchFamily="49" charset="0"/>
              </a:rPr>
              <a:t>100</a:t>
            </a:r>
            <a:r>
              <a:rPr lang="en-US" sz="1050" b="1" dirty="0">
                <a:solidFill>
                  <a:srgbClr val="C00000"/>
                </a:solidFill>
                <a:latin typeface="Courier New" pitchFamily="49" charset="0"/>
                <a:cs typeface="Courier New" pitchFamily="49" charset="0"/>
              </a:rPr>
              <a:t> </a:t>
            </a:r>
            <a:r>
              <a:rPr lang="en-US" sz="1600" b="1" dirty="0">
                <a:solidFill>
                  <a:srgbClr val="C00000"/>
                </a:solidFill>
                <a:latin typeface="Courier New" pitchFamily="49" charset="0"/>
                <a:cs typeface="Courier New" pitchFamily="49" charset="0"/>
              </a:rPr>
              <a:t>100</a:t>
            </a:r>
          </a:p>
          <a:p>
            <a:pPr>
              <a:defRPr/>
            </a:pPr>
            <a:r>
              <a:rPr lang="en-US" sz="1600" b="1" dirty="0">
                <a:solidFill>
                  <a:srgbClr val="C00000"/>
                </a:solidFill>
                <a:latin typeface="Courier New" pitchFamily="49" charset="0"/>
                <a:cs typeface="Courier New" pitchFamily="49" charset="0"/>
              </a:rPr>
              <a:t>111</a:t>
            </a:r>
            <a:r>
              <a:rPr lang="en-US" sz="1050" b="1" dirty="0">
                <a:solidFill>
                  <a:srgbClr val="C00000"/>
                </a:solidFill>
                <a:latin typeface="Courier New" pitchFamily="49" charset="0"/>
                <a:cs typeface="Courier New" pitchFamily="49" charset="0"/>
              </a:rPr>
              <a:t> </a:t>
            </a:r>
            <a:r>
              <a:rPr lang="en-US" sz="1600" b="1" dirty="0">
                <a:solidFill>
                  <a:srgbClr val="C00000"/>
                </a:solidFill>
                <a:latin typeface="Courier New" pitchFamily="49" charset="0"/>
                <a:cs typeface="Courier New" pitchFamily="49" charset="0"/>
              </a:rPr>
              <a:t>101</a:t>
            </a:r>
            <a:r>
              <a:rPr lang="en-US" sz="1050" b="1" dirty="0">
                <a:solidFill>
                  <a:srgbClr val="C00000"/>
                </a:solidFill>
                <a:latin typeface="Courier New" pitchFamily="49" charset="0"/>
                <a:cs typeface="Courier New" pitchFamily="49" charset="0"/>
              </a:rPr>
              <a:t> </a:t>
            </a:r>
            <a:r>
              <a:rPr lang="en-US" sz="1600" b="1" dirty="0">
                <a:solidFill>
                  <a:srgbClr val="C00000"/>
                </a:solidFill>
                <a:latin typeface="Courier New" pitchFamily="49" charset="0"/>
                <a:cs typeface="Courier New" pitchFamily="49" charset="0"/>
              </a:rPr>
              <a:t>000</a:t>
            </a:r>
          </a:p>
          <a:p>
            <a:pPr>
              <a:defRPr/>
            </a:pPr>
            <a:r>
              <a:rPr lang="en-US" sz="1600" b="1" dirty="0">
                <a:solidFill>
                  <a:srgbClr val="C00000"/>
                </a:solidFill>
                <a:latin typeface="Courier New" pitchFamily="49" charset="0"/>
                <a:cs typeface="Courier New" pitchFamily="49" charset="0"/>
              </a:rPr>
              <a:t>111</a:t>
            </a:r>
            <a:r>
              <a:rPr lang="en-US" sz="1050" b="1" dirty="0">
                <a:solidFill>
                  <a:srgbClr val="C00000"/>
                </a:solidFill>
                <a:latin typeface="Courier New" pitchFamily="49" charset="0"/>
                <a:cs typeface="Courier New" pitchFamily="49" charset="0"/>
              </a:rPr>
              <a:t> </a:t>
            </a:r>
            <a:r>
              <a:rPr lang="en-US" sz="1600" b="1" dirty="0">
                <a:solidFill>
                  <a:srgbClr val="C00000"/>
                </a:solidFill>
                <a:latin typeface="Courier New" pitchFamily="49" charset="0"/>
                <a:cs typeface="Courier New" pitchFamily="49" charset="0"/>
              </a:rPr>
              <a:t>110</a:t>
            </a:r>
            <a:r>
              <a:rPr lang="en-US" sz="1050" b="1" dirty="0">
                <a:solidFill>
                  <a:srgbClr val="C00000"/>
                </a:solidFill>
                <a:latin typeface="Courier New" pitchFamily="49" charset="0"/>
                <a:cs typeface="Courier New" pitchFamily="49" charset="0"/>
              </a:rPr>
              <a:t> </a:t>
            </a:r>
            <a:r>
              <a:rPr lang="en-US" sz="1600" b="1" dirty="0">
                <a:solidFill>
                  <a:srgbClr val="C00000"/>
                </a:solidFill>
                <a:latin typeface="Courier New" pitchFamily="49" charset="0"/>
                <a:cs typeface="Courier New" pitchFamily="49" charset="0"/>
              </a:rPr>
              <a:t>100</a:t>
            </a:r>
          </a:p>
        </p:txBody>
      </p:sp>
      <p:sp>
        <p:nvSpPr>
          <p:cNvPr id="16" name="Text Box 5">
            <a:extLst>
              <a:ext uri="{FF2B5EF4-FFF2-40B4-BE49-F238E27FC236}">
                <a16:creationId xmlns:a16="http://schemas.microsoft.com/office/drawing/2014/main" id="{BA022E3D-B9A1-46E7-B254-D684586CCE4A}"/>
              </a:ext>
            </a:extLst>
          </p:cNvPr>
          <p:cNvSpPr txBox="1">
            <a:spLocks noChangeArrowheads="1"/>
          </p:cNvSpPr>
          <p:nvPr/>
        </p:nvSpPr>
        <p:spPr bwMode="auto">
          <a:xfrm>
            <a:off x="8145164" y="2080852"/>
            <a:ext cx="607160" cy="1815882"/>
          </a:xfrm>
          <a:prstGeom prst="rect">
            <a:avLst/>
          </a:prstGeom>
          <a:noFill/>
          <a:ln w="9525">
            <a:noFill/>
            <a:miter lim="800000"/>
            <a:headEnd/>
            <a:tailEnd/>
          </a:ln>
          <a:effectLst/>
        </p:spPr>
        <p:txBody>
          <a:bodyPr wrap="square">
            <a:spAutoFit/>
          </a:bodyPr>
          <a:lstStyle/>
          <a:p>
            <a:pPr>
              <a:defRPr/>
            </a:pPr>
            <a:r>
              <a:rPr lang="en-US" sz="1600" b="1" dirty="0">
                <a:solidFill>
                  <a:srgbClr val="C00000"/>
                </a:solidFill>
                <a:latin typeface="Courier New" pitchFamily="49" charset="0"/>
                <a:cs typeface="Courier New" pitchFamily="49" charset="0"/>
              </a:rPr>
              <a:t>600</a:t>
            </a:r>
          </a:p>
          <a:p>
            <a:pPr>
              <a:defRPr/>
            </a:pPr>
            <a:r>
              <a:rPr lang="en-US" sz="1600" b="1" dirty="0">
                <a:solidFill>
                  <a:srgbClr val="C00000"/>
                </a:solidFill>
                <a:latin typeface="Courier New" pitchFamily="49" charset="0"/>
                <a:cs typeface="Courier New" pitchFamily="49" charset="0"/>
              </a:rPr>
              <a:t>700</a:t>
            </a:r>
          </a:p>
          <a:p>
            <a:pPr>
              <a:defRPr/>
            </a:pPr>
            <a:r>
              <a:rPr lang="en-US" sz="1600" b="1" dirty="0">
                <a:solidFill>
                  <a:srgbClr val="C00000"/>
                </a:solidFill>
                <a:latin typeface="Courier New" pitchFamily="49" charset="0"/>
                <a:cs typeface="Courier New" pitchFamily="49" charset="0"/>
              </a:rPr>
              <a:t>740</a:t>
            </a:r>
          </a:p>
          <a:p>
            <a:pPr>
              <a:defRPr/>
            </a:pPr>
            <a:r>
              <a:rPr lang="en-US" sz="1600" b="1" dirty="0">
                <a:solidFill>
                  <a:srgbClr val="C00000"/>
                </a:solidFill>
                <a:latin typeface="Courier New" pitchFamily="49" charset="0"/>
                <a:cs typeface="Courier New" pitchFamily="49" charset="0"/>
              </a:rPr>
              <a:t>740</a:t>
            </a:r>
          </a:p>
          <a:p>
            <a:pPr>
              <a:defRPr/>
            </a:pPr>
            <a:r>
              <a:rPr lang="en-US" sz="1600" b="1" dirty="0">
                <a:solidFill>
                  <a:srgbClr val="C00000"/>
                </a:solidFill>
                <a:latin typeface="Courier New" pitchFamily="49" charset="0"/>
                <a:cs typeface="Courier New" pitchFamily="49" charset="0"/>
              </a:rPr>
              <a:t>644</a:t>
            </a:r>
          </a:p>
          <a:p>
            <a:pPr>
              <a:defRPr/>
            </a:pPr>
            <a:r>
              <a:rPr lang="en-US" sz="1600" b="1" dirty="0">
                <a:solidFill>
                  <a:srgbClr val="C00000"/>
                </a:solidFill>
                <a:latin typeface="Courier New" pitchFamily="49" charset="0"/>
                <a:cs typeface="Courier New" pitchFamily="49" charset="0"/>
              </a:rPr>
              <a:t>750</a:t>
            </a:r>
          </a:p>
          <a:p>
            <a:pPr>
              <a:defRPr/>
            </a:pPr>
            <a:r>
              <a:rPr lang="en-US" sz="1600" b="1" dirty="0">
                <a:solidFill>
                  <a:srgbClr val="C00000"/>
                </a:solidFill>
                <a:latin typeface="Courier New" pitchFamily="49" charset="0"/>
                <a:cs typeface="Courier New" pitchFamily="49" charset="0"/>
              </a:rPr>
              <a:t>764</a:t>
            </a:r>
          </a:p>
        </p:txBody>
      </p:sp>
      <p:pic>
        <p:nvPicPr>
          <p:cNvPr id="10" name="Picture 9">
            <a:extLst>
              <a:ext uri="{FF2B5EF4-FFF2-40B4-BE49-F238E27FC236}">
                <a16:creationId xmlns:a16="http://schemas.microsoft.com/office/drawing/2014/main" id="{9AE4A6D3-63DE-4B85-BEC7-1A9F03246C14}"/>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1447678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5">
                                            <p:txEl>
                                              <p:pRg st="5" end="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6">
                                            <p:txEl>
                                              <p:pRg st="5" end="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5">
                                            <p:txEl>
                                              <p:pRg st="6" end="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lstStyle/>
          <a:p>
            <a:r>
              <a:rPr lang="en-US" altLang="en-US" b="1" dirty="0" err="1">
                <a:solidFill>
                  <a:schemeClr val="accent2">
                    <a:lumMod val="75000"/>
                  </a:schemeClr>
                </a:solidFill>
                <a:latin typeface="Courier New" panose="02070309020205020404" pitchFamily="49" charset="0"/>
                <a:cs typeface="Courier New" panose="02070309020205020404" pitchFamily="49" charset="0"/>
              </a:rPr>
              <a:t>chmod</a:t>
            </a:r>
            <a:r>
              <a:rPr lang="en-US" altLang="en-US" b="1" dirty="0">
                <a:solidFill>
                  <a:schemeClr val="accent2">
                    <a:lumMod val="75000"/>
                  </a:schemeClr>
                </a:solidFill>
                <a:latin typeface="Arial" panose="020B0604020202020204" pitchFamily="34" charset="0"/>
                <a:cs typeface="Arial" panose="020B0604020202020204" pitchFamily="34" charset="0"/>
              </a:rPr>
              <a:t> – common octal modes</a:t>
            </a:r>
            <a:endParaRPr lang="en-US" altLang="en-US" dirty="0"/>
          </a:p>
        </p:txBody>
      </p:sp>
      <p:graphicFrame>
        <p:nvGraphicFramePr>
          <p:cNvPr id="710719" name="Group 63"/>
          <p:cNvGraphicFramePr>
            <a:graphicFrameLocks noGrp="1"/>
          </p:cNvGraphicFramePr>
          <p:nvPr/>
        </p:nvGraphicFramePr>
        <p:xfrm>
          <a:off x="2073276" y="1987551"/>
          <a:ext cx="8348663" cy="4206875"/>
        </p:xfrm>
        <a:graphic>
          <a:graphicData uri="http://schemas.openxmlformats.org/drawingml/2006/table">
            <a:tbl>
              <a:tblPr/>
              <a:tblGrid>
                <a:gridCol w="1063625">
                  <a:extLst>
                    <a:ext uri="{9D8B030D-6E8A-4147-A177-3AD203B41FA5}">
                      <a16:colId xmlns:a16="http://schemas.microsoft.com/office/drawing/2014/main" val="20000"/>
                    </a:ext>
                  </a:extLst>
                </a:gridCol>
                <a:gridCol w="7285038">
                  <a:extLst>
                    <a:ext uri="{9D8B030D-6E8A-4147-A177-3AD203B41FA5}">
                      <a16:colId xmlns:a16="http://schemas.microsoft.com/office/drawing/2014/main" val="20001"/>
                    </a:ext>
                  </a:extLst>
                </a:gridCol>
              </a:tblGrid>
              <a:tr h="548723">
                <a:tc>
                  <a:txBody>
                    <a:bodyPr/>
                    <a:lstStyle/>
                    <a:p>
                      <a:pPr marL="0" marR="0" lvl="0" indent="0" algn="ctr" defTabSz="914400" rtl="0" eaLnBrk="1" fontAlgn="base" latinLnBrk="0" hangingPunct="1">
                        <a:lnSpc>
                          <a:spcPct val="100000"/>
                        </a:lnSpc>
                        <a:spcBef>
                          <a:spcPct val="30000"/>
                        </a:spcBef>
                        <a:spcAft>
                          <a:spcPct val="10000"/>
                        </a:spcAft>
                        <a:buClr>
                          <a:schemeClr val="folHlink"/>
                        </a:buClr>
                        <a:buSzPct val="60000"/>
                        <a:buFont typeface="Wingdings" pitchFamily="2" charset="2"/>
                        <a:buNone/>
                        <a:tabLst/>
                      </a:pPr>
                      <a:r>
                        <a:rPr kumimoji="0" lang="en-US" sz="2400" b="1" i="0" u="none" strike="noStrike" cap="none" normalizeH="0" baseline="0" dirty="0">
                          <a:ln>
                            <a:noFill/>
                          </a:ln>
                          <a:solidFill>
                            <a:schemeClr val="bg1"/>
                          </a:solidFill>
                          <a:effectLst/>
                          <a:latin typeface="Tahoma" pitchFamily="34" charset="0"/>
                          <a:cs typeface="Tahoma" pitchFamily="34" charset="0"/>
                        </a:rPr>
                        <a:t>Mode</a:t>
                      </a:r>
                    </a:p>
                  </a:txBody>
                  <a:tcPr marT="91454" marB="91454" horzOverflow="overflow">
                    <a:lnL w="28575" cap="flat" cmpd="sng" algn="ctr">
                      <a:solidFill>
                        <a:schemeClr val="hlink"/>
                      </a:solidFill>
                      <a:prstDash val="solid"/>
                      <a:miter lim="800000"/>
                      <a:headEnd type="none" w="med" len="med"/>
                      <a:tailEnd type="none" w="med" len="med"/>
                    </a:lnL>
                    <a:lnR w="12700" cap="flat" cmpd="sng" algn="ctr">
                      <a:solidFill>
                        <a:schemeClr val="hlink"/>
                      </a:solid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30000"/>
                        </a:spcBef>
                        <a:spcAft>
                          <a:spcPct val="10000"/>
                        </a:spcAft>
                        <a:buClr>
                          <a:schemeClr val="folHlink"/>
                        </a:buClr>
                        <a:buSzPct val="60000"/>
                        <a:buFont typeface="Wingdings" pitchFamily="2" charset="2"/>
                        <a:buNone/>
                        <a:tabLst/>
                      </a:pPr>
                      <a:r>
                        <a:rPr kumimoji="0" lang="en-US" sz="2400" b="1" i="0" u="none" strike="noStrike" cap="none" normalizeH="0" baseline="0">
                          <a:ln>
                            <a:noFill/>
                          </a:ln>
                          <a:solidFill>
                            <a:schemeClr val="bg1"/>
                          </a:solidFill>
                          <a:effectLst/>
                          <a:latin typeface="Tahoma" pitchFamily="34" charset="0"/>
                          <a:cs typeface="Tahoma" pitchFamily="34" charset="0"/>
                        </a:rPr>
                        <a:t>Meaning</a:t>
                      </a:r>
                    </a:p>
                  </a:txBody>
                  <a:tcPr marT="91454" marB="91454" horzOverflow="overflow">
                    <a:lnL w="12700" cap="flat" cmpd="sng" algn="ctr">
                      <a:solidFill>
                        <a:schemeClr val="hlink"/>
                      </a:solidFill>
                      <a:prstDash val="solid"/>
                      <a:miter lim="800000"/>
                      <a:headEnd type="none" w="med" len="med"/>
                      <a:tailEnd type="none" w="med" len="med"/>
                    </a:lnL>
                    <a:lnR w="28575" cap="flat" cmpd="sng" algn="ctr">
                      <a:solidFill>
                        <a:schemeClr val="hlink"/>
                      </a:solid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chemeClr val="tx2"/>
                    </a:solidFill>
                  </a:tcPr>
                </a:tc>
                <a:extLst>
                  <a:ext uri="{0D108BD9-81ED-4DB2-BD59-A6C34878D82A}">
                    <a16:rowId xmlns:a16="http://schemas.microsoft.com/office/drawing/2014/main" val="10000"/>
                  </a:ext>
                </a:extLst>
              </a:tr>
              <a:tr h="914538">
                <a:tc>
                  <a:txBody>
                    <a:bodyPr/>
                    <a:lstStyle/>
                    <a:p>
                      <a:pPr marL="0" marR="0" lvl="0" indent="0" algn="ctr" defTabSz="914400" rtl="0" eaLnBrk="1" fontAlgn="base" latinLnBrk="0" hangingPunct="1">
                        <a:lnSpc>
                          <a:spcPct val="100000"/>
                        </a:lnSpc>
                        <a:spcBef>
                          <a:spcPct val="30000"/>
                        </a:spcBef>
                        <a:spcAft>
                          <a:spcPct val="10000"/>
                        </a:spcAft>
                        <a:buClr>
                          <a:schemeClr val="folHlink"/>
                        </a:buClr>
                        <a:buSzPct val="60000"/>
                        <a:buFont typeface="Wingdings" pitchFamily="2" charset="2"/>
                        <a:buNone/>
                        <a:tabLst/>
                      </a:pPr>
                      <a:r>
                        <a:rPr kumimoji="0" lang="en-US" sz="2400" b="1" i="0" u="none" strike="noStrike" cap="none" normalizeH="0" baseline="0">
                          <a:ln>
                            <a:noFill/>
                          </a:ln>
                          <a:solidFill>
                            <a:schemeClr val="tx1"/>
                          </a:solidFill>
                          <a:effectLst/>
                          <a:latin typeface="Courier New" pitchFamily="49" charset="0"/>
                          <a:cs typeface="Courier New" pitchFamily="49" charset="0"/>
                        </a:rPr>
                        <a:t>777</a:t>
                      </a:r>
                    </a:p>
                  </a:txBody>
                  <a:tcPr marT="91454" marB="91454" anchor="ctr" horzOverflow="overflow">
                    <a:lnL w="28575" cap="flat" cmpd="sng" algn="ctr">
                      <a:solidFill>
                        <a:schemeClr val="hlink"/>
                      </a:solidFill>
                      <a:prstDash val="solid"/>
                      <a:miter lim="800000"/>
                      <a:headEnd type="none" w="med" len="med"/>
                      <a:tailEnd type="none" w="med" len="med"/>
                    </a:lnL>
                    <a:lnR w="12700" cap="flat" cmpd="sng" algn="ctr">
                      <a:solidFill>
                        <a:schemeClr val="hlink"/>
                      </a:solid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30000"/>
                        </a:spcBef>
                        <a:spcAft>
                          <a:spcPct val="10000"/>
                        </a:spcAft>
                        <a:buClr>
                          <a:schemeClr val="folHlink"/>
                        </a:buClr>
                        <a:buSzPct val="60000"/>
                        <a:buFont typeface="Wingdings" pitchFamily="2" charset="2"/>
                        <a:buNone/>
                        <a:tabLst/>
                      </a:pPr>
                      <a:r>
                        <a:rPr kumimoji="0" lang="en-US" sz="2400" b="0" i="0" u="none" strike="noStrike" cap="none" normalizeH="0" baseline="0">
                          <a:ln>
                            <a:noFill/>
                          </a:ln>
                          <a:solidFill>
                            <a:schemeClr val="tx2"/>
                          </a:solidFill>
                          <a:effectLst/>
                          <a:latin typeface="Tahoma" pitchFamily="34" charset="0"/>
                          <a:cs typeface="Tahoma" pitchFamily="34" charset="0"/>
                        </a:rPr>
                        <a:t>Owner, group and public can read, write and execute file</a:t>
                      </a:r>
                    </a:p>
                  </a:txBody>
                  <a:tcPr marT="91454" marB="91454" horzOverflow="overflow">
                    <a:lnL w="12700" cap="flat" cmpd="sng" algn="ctr">
                      <a:solidFill>
                        <a:schemeClr val="hlink"/>
                      </a:solidFill>
                      <a:prstDash val="solid"/>
                      <a:miter lim="800000"/>
                      <a:headEnd type="none" w="med" len="med"/>
                      <a:tailEnd type="none" w="med" len="med"/>
                    </a:lnL>
                    <a:lnR w="28575" cap="flat" cmpd="sng" algn="ctr">
                      <a:solidFill>
                        <a:schemeClr val="hlink"/>
                      </a:solid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914538">
                <a:tc>
                  <a:txBody>
                    <a:bodyPr/>
                    <a:lstStyle/>
                    <a:p>
                      <a:pPr marL="0" marR="0" lvl="0" indent="0" algn="ctr" defTabSz="914400" rtl="0" eaLnBrk="1" fontAlgn="base" latinLnBrk="0" hangingPunct="1">
                        <a:lnSpc>
                          <a:spcPct val="100000"/>
                        </a:lnSpc>
                        <a:spcBef>
                          <a:spcPct val="30000"/>
                        </a:spcBef>
                        <a:spcAft>
                          <a:spcPct val="10000"/>
                        </a:spcAft>
                        <a:buClr>
                          <a:schemeClr val="folHlink"/>
                        </a:buClr>
                        <a:buSzPct val="60000"/>
                        <a:buFont typeface="Wingdings" pitchFamily="2" charset="2"/>
                        <a:buNone/>
                        <a:tabLst/>
                      </a:pPr>
                      <a:r>
                        <a:rPr kumimoji="0" lang="en-US" sz="2400" b="1" i="0" u="none" strike="noStrike" cap="none" normalizeH="0" baseline="0" dirty="0">
                          <a:ln>
                            <a:noFill/>
                          </a:ln>
                          <a:solidFill>
                            <a:schemeClr val="tx1"/>
                          </a:solidFill>
                          <a:effectLst/>
                          <a:latin typeface="Courier New" pitchFamily="49" charset="0"/>
                          <a:cs typeface="Courier New" pitchFamily="49" charset="0"/>
                        </a:rPr>
                        <a:t>755</a:t>
                      </a:r>
                    </a:p>
                  </a:txBody>
                  <a:tcPr marT="91454" marB="91454" anchor="ctr" horzOverflow="overflow">
                    <a:lnL w="28575" cap="flat" cmpd="sng" algn="ctr">
                      <a:solidFill>
                        <a:schemeClr val="hlink"/>
                      </a:solidFill>
                      <a:prstDash val="solid"/>
                      <a:miter lim="800000"/>
                      <a:headEnd type="none" w="med" len="med"/>
                      <a:tailEnd type="none" w="med" len="med"/>
                    </a:lnL>
                    <a:lnR w="12700" cap="flat" cmpd="sng" algn="ctr">
                      <a:solidFill>
                        <a:schemeClr val="hlink"/>
                      </a:solid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30000"/>
                        </a:spcBef>
                        <a:spcAft>
                          <a:spcPct val="10000"/>
                        </a:spcAft>
                        <a:buClr>
                          <a:schemeClr val="folHlink"/>
                        </a:buClr>
                        <a:buSzPct val="60000"/>
                        <a:buFont typeface="Wingdings" pitchFamily="2" charset="2"/>
                        <a:buNone/>
                        <a:tabLst/>
                      </a:pPr>
                      <a:r>
                        <a:rPr kumimoji="0" lang="en-US" sz="2400" b="0" i="0" u="none" strike="noStrike" cap="none" normalizeH="0" baseline="0">
                          <a:ln>
                            <a:noFill/>
                          </a:ln>
                          <a:solidFill>
                            <a:schemeClr val="tx2"/>
                          </a:solidFill>
                          <a:effectLst/>
                          <a:latin typeface="Tahoma" pitchFamily="34" charset="0"/>
                          <a:cs typeface="Tahoma" pitchFamily="34" charset="0"/>
                        </a:rPr>
                        <a:t>Owner can read, write and execute file;</a:t>
                      </a:r>
                      <a:br>
                        <a:rPr kumimoji="0" lang="en-US" sz="2400" b="0" i="0" u="none" strike="noStrike" cap="none" normalizeH="0" baseline="0">
                          <a:ln>
                            <a:noFill/>
                          </a:ln>
                          <a:solidFill>
                            <a:schemeClr val="tx2"/>
                          </a:solidFill>
                          <a:effectLst/>
                          <a:latin typeface="Tahoma" pitchFamily="34" charset="0"/>
                          <a:cs typeface="Tahoma" pitchFamily="34" charset="0"/>
                        </a:rPr>
                      </a:br>
                      <a:r>
                        <a:rPr kumimoji="0" lang="en-US" sz="2400" b="0" i="0" u="none" strike="noStrike" cap="none" normalizeH="0" baseline="0">
                          <a:ln>
                            <a:noFill/>
                          </a:ln>
                          <a:solidFill>
                            <a:schemeClr val="tx2"/>
                          </a:solidFill>
                          <a:effectLst/>
                          <a:latin typeface="Tahoma" pitchFamily="34" charset="0"/>
                          <a:cs typeface="Tahoma" pitchFamily="34" charset="0"/>
                        </a:rPr>
                        <a:t>group and public can read and execute file</a:t>
                      </a:r>
                    </a:p>
                  </a:txBody>
                  <a:tcPr marT="91454" marB="91454" horzOverflow="overflow">
                    <a:lnL w="12700" cap="flat" cmpd="sng" algn="ctr">
                      <a:solidFill>
                        <a:schemeClr val="hlink"/>
                      </a:solidFill>
                      <a:prstDash val="solid"/>
                      <a:miter lim="800000"/>
                      <a:headEnd type="none" w="med" len="med"/>
                      <a:tailEnd type="none" w="med" len="med"/>
                    </a:lnL>
                    <a:lnR w="28575" cap="flat" cmpd="sng" algn="ctr">
                      <a:solidFill>
                        <a:schemeClr val="hlink"/>
                      </a:solid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914538">
                <a:tc>
                  <a:txBody>
                    <a:bodyPr/>
                    <a:lstStyle/>
                    <a:p>
                      <a:pPr marL="0" marR="0" lvl="0" indent="0" algn="ctr" defTabSz="914400" rtl="0" eaLnBrk="1" fontAlgn="base" latinLnBrk="0" hangingPunct="1">
                        <a:lnSpc>
                          <a:spcPct val="100000"/>
                        </a:lnSpc>
                        <a:spcBef>
                          <a:spcPct val="30000"/>
                        </a:spcBef>
                        <a:spcAft>
                          <a:spcPct val="10000"/>
                        </a:spcAft>
                        <a:buClr>
                          <a:schemeClr val="folHlink"/>
                        </a:buClr>
                        <a:buSzPct val="60000"/>
                        <a:buFont typeface="Wingdings" pitchFamily="2" charset="2"/>
                        <a:buNone/>
                        <a:tabLst/>
                      </a:pPr>
                      <a:r>
                        <a:rPr kumimoji="0" lang="en-US" sz="2400" b="1" i="0" u="none" strike="noStrike" cap="none" normalizeH="0" baseline="0">
                          <a:ln>
                            <a:noFill/>
                          </a:ln>
                          <a:solidFill>
                            <a:schemeClr val="tx1"/>
                          </a:solidFill>
                          <a:effectLst/>
                          <a:latin typeface="Courier New" pitchFamily="49" charset="0"/>
                          <a:cs typeface="Courier New" pitchFamily="49" charset="0"/>
                        </a:rPr>
                        <a:t>644</a:t>
                      </a:r>
                    </a:p>
                  </a:txBody>
                  <a:tcPr marT="91454" marB="91454" anchor="ctr" horzOverflow="overflow">
                    <a:lnL w="28575" cap="flat" cmpd="sng" algn="ctr">
                      <a:solidFill>
                        <a:schemeClr val="hlink"/>
                      </a:solidFill>
                      <a:prstDash val="solid"/>
                      <a:miter lim="800000"/>
                      <a:headEnd type="none" w="med" len="med"/>
                      <a:tailEnd type="none" w="med" len="med"/>
                    </a:lnL>
                    <a:lnR w="12700" cap="flat" cmpd="sng" algn="ctr">
                      <a:solidFill>
                        <a:schemeClr val="hlink"/>
                      </a:solid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30000"/>
                        </a:spcBef>
                        <a:spcAft>
                          <a:spcPct val="10000"/>
                        </a:spcAft>
                        <a:buClr>
                          <a:schemeClr val="folHlink"/>
                        </a:buClr>
                        <a:buSzPct val="60000"/>
                        <a:buFont typeface="Wingdings" pitchFamily="2" charset="2"/>
                        <a:buNone/>
                        <a:tabLst/>
                      </a:pPr>
                      <a:r>
                        <a:rPr kumimoji="0" lang="en-US" sz="2400" b="0" i="0" u="none" strike="noStrike" cap="none" normalizeH="0" baseline="0">
                          <a:ln>
                            <a:noFill/>
                          </a:ln>
                          <a:solidFill>
                            <a:schemeClr val="tx2"/>
                          </a:solidFill>
                          <a:effectLst/>
                          <a:latin typeface="Tahoma" pitchFamily="34" charset="0"/>
                          <a:cs typeface="Tahoma" pitchFamily="34" charset="0"/>
                        </a:rPr>
                        <a:t>Owner can read and write file;</a:t>
                      </a:r>
                      <a:br>
                        <a:rPr kumimoji="0" lang="en-US" sz="2400" b="0" i="0" u="none" strike="noStrike" cap="none" normalizeH="0" baseline="0">
                          <a:ln>
                            <a:noFill/>
                          </a:ln>
                          <a:solidFill>
                            <a:schemeClr val="tx2"/>
                          </a:solidFill>
                          <a:effectLst/>
                          <a:latin typeface="Tahoma" pitchFamily="34" charset="0"/>
                          <a:cs typeface="Tahoma" pitchFamily="34" charset="0"/>
                        </a:rPr>
                      </a:br>
                      <a:r>
                        <a:rPr kumimoji="0" lang="en-US" sz="2400" b="0" i="0" u="none" strike="noStrike" cap="none" normalizeH="0" baseline="0">
                          <a:ln>
                            <a:noFill/>
                          </a:ln>
                          <a:solidFill>
                            <a:schemeClr val="tx2"/>
                          </a:solidFill>
                          <a:effectLst/>
                          <a:latin typeface="Tahoma" pitchFamily="34" charset="0"/>
                          <a:cs typeface="Tahoma" pitchFamily="34" charset="0"/>
                        </a:rPr>
                        <a:t>group and public can read file</a:t>
                      </a:r>
                    </a:p>
                  </a:txBody>
                  <a:tcPr marT="91454" marB="91454" horzOverflow="overflow">
                    <a:lnL w="12700" cap="flat" cmpd="sng" algn="ctr">
                      <a:solidFill>
                        <a:schemeClr val="hlink"/>
                      </a:solidFill>
                      <a:prstDash val="solid"/>
                      <a:miter lim="800000"/>
                      <a:headEnd type="none" w="med" len="med"/>
                      <a:tailEnd type="none" w="med" len="med"/>
                    </a:lnL>
                    <a:lnR w="28575" cap="flat" cmpd="sng" algn="ctr">
                      <a:solidFill>
                        <a:schemeClr val="hlink"/>
                      </a:solid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914538">
                <a:tc>
                  <a:txBody>
                    <a:bodyPr/>
                    <a:lstStyle/>
                    <a:p>
                      <a:pPr marL="0" marR="0" lvl="0" indent="0" algn="ctr" defTabSz="914400" rtl="0" eaLnBrk="1" fontAlgn="base" latinLnBrk="0" hangingPunct="1">
                        <a:lnSpc>
                          <a:spcPct val="100000"/>
                        </a:lnSpc>
                        <a:spcBef>
                          <a:spcPct val="30000"/>
                        </a:spcBef>
                        <a:spcAft>
                          <a:spcPct val="10000"/>
                        </a:spcAft>
                        <a:buClr>
                          <a:schemeClr val="folHlink"/>
                        </a:buClr>
                        <a:buSzPct val="60000"/>
                        <a:buFont typeface="Wingdings" pitchFamily="2" charset="2"/>
                        <a:buNone/>
                        <a:tabLst/>
                      </a:pPr>
                      <a:r>
                        <a:rPr kumimoji="0" lang="en-US" sz="2400" b="1" i="0" u="none" strike="noStrike" cap="none" normalizeH="0" baseline="0">
                          <a:ln>
                            <a:noFill/>
                          </a:ln>
                          <a:solidFill>
                            <a:schemeClr val="tx1"/>
                          </a:solidFill>
                          <a:effectLst/>
                          <a:latin typeface="Courier New" pitchFamily="49" charset="0"/>
                          <a:cs typeface="Courier New" pitchFamily="49" charset="0"/>
                        </a:rPr>
                        <a:t>700</a:t>
                      </a:r>
                    </a:p>
                  </a:txBody>
                  <a:tcPr marT="91454" marB="91454" anchor="ctr" horzOverflow="overflow">
                    <a:lnL w="28575" cap="flat" cmpd="sng" algn="ctr">
                      <a:solidFill>
                        <a:schemeClr val="hlink"/>
                      </a:solidFill>
                      <a:prstDash val="solid"/>
                      <a:miter lim="800000"/>
                      <a:headEnd type="none" w="med" len="med"/>
                      <a:tailEnd type="none" w="med" len="med"/>
                    </a:lnL>
                    <a:lnR w="12700" cap="flat" cmpd="sng" algn="ctr">
                      <a:solidFill>
                        <a:schemeClr val="hlink"/>
                      </a:solid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30000"/>
                        </a:spcBef>
                        <a:spcAft>
                          <a:spcPct val="10000"/>
                        </a:spcAft>
                        <a:buClr>
                          <a:schemeClr val="folHlink"/>
                        </a:buClr>
                        <a:buSzPct val="60000"/>
                        <a:buFont typeface="Wingdings" pitchFamily="2" charset="2"/>
                        <a:buNone/>
                        <a:tabLst/>
                      </a:pPr>
                      <a:r>
                        <a:rPr kumimoji="0" lang="en-US" sz="2400" b="0" i="0" u="none" strike="noStrike" cap="none" normalizeH="0" baseline="0">
                          <a:ln>
                            <a:noFill/>
                          </a:ln>
                          <a:solidFill>
                            <a:schemeClr val="tx2"/>
                          </a:solidFill>
                          <a:effectLst/>
                          <a:latin typeface="Tahoma" pitchFamily="34" charset="0"/>
                          <a:cs typeface="Tahoma" pitchFamily="34" charset="0"/>
                        </a:rPr>
                        <a:t>Owner can read, write and execute file;</a:t>
                      </a:r>
                      <a:br>
                        <a:rPr kumimoji="0" lang="en-US" sz="2400" b="0" i="0" u="none" strike="noStrike" cap="none" normalizeH="0" baseline="0">
                          <a:ln>
                            <a:noFill/>
                          </a:ln>
                          <a:solidFill>
                            <a:schemeClr val="tx2"/>
                          </a:solidFill>
                          <a:effectLst/>
                          <a:latin typeface="Tahoma" pitchFamily="34" charset="0"/>
                          <a:cs typeface="Tahoma" pitchFamily="34" charset="0"/>
                        </a:rPr>
                      </a:br>
                      <a:r>
                        <a:rPr kumimoji="0" lang="en-US" sz="2400" b="0" i="0" u="none" strike="noStrike" cap="none" normalizeH="0" baseline="0">
                          <a:ln>
                            <a:noFill/>
                          </a:ln>
                          <a:solidFill>
                            <a:schemeClr val="tx2"/>
                          </a:solidFill>
                          <a:effectLst/>
                          <a:latin typeface="Tahoma" pitchFamily="34" charset="0"/>
                          <a:cs typeface="Tahoma" pitchFamily="34" charset="0"/>
                        </a:rPr>
                        <a:t>group and public have no access to the file</a:t>
                      </a:r>
                    </a:p>
                  </a:txBody>
                  <a:tcPr marT="91454" marB="91454" horzOverflow="overflow">
                    <a:lnL w="12700" cap="flat" cmpd="sng" algn="ctr">
                      <a:solidFill>
                        <a:schemeClr val="hlink"/>
                      </a:solidFill>
                      <a:prstDash val="solid"/>
                      <a:miter lim="800000"/>
                      <a:headEnd type="none" w="med" len="med"/>
                      <a:tailEnd type="none" w="med" len="med"/>
                    </a:lnL>
                    <a:lnR w="28575" cap="flat" cmpd="sng" algn="ctr">
                      <a:solidFill>
                        <a:schemeClr val="hlink"/>
                      </a:solid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bl>
          </a:graphicData>
        </a:graphic>
      </p:graphicFrame>
      <p:pic>
        <p:nvPicPr>
          <p:cNvPr id="5" name="Picture 4">
            <a:extLst>
              <a:ext uri="{FF2B5EF4-FFF2-40B4-BE49-F238E27FC236}">
                <a16:creationId xmlns:a16="http://schemas.microsoft.com/office/drawing/2014/main" id="{D51ABF76-3A62-49F8-BE20-6D477B521F06}"/>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8410355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3AB41-F45F-4301-B9C7-FC4724AD0792}"/>
              </a:ext>
            </a:extLst>
          </p:cNvPr>
          <p:cNvSpPr>
            <a:spLocks noGrp="1"/>
          </p:cNvSpPr>
          <p:nvPr>
            <p:ph type="title"/>
          </p:nvPr>
        </p:nvSpPr>
        <p:spPr/>
        <p:txBody>
          <a:bodyPr/>
          <a:lstStyle/>
          <a:p>
            <a:r>
              <a:rPr lang="en-US" sz="3300" b="1" dirty="0">
                <a:solidFill>
                  <a:srgbClr val="C55A11"/>
                </a:solidFill>
                <a:latin typeface="Arial"/>
                <a:cs typeface="Arial"/>
                <a:sym typeface="Calibri"/>
              </a:rPr>
              <a:t>Task 9</a:t>
            </a:r>
            <a:endParaRPr lang="en-IL" sz="3300" b="1" dirty="0">
              <a:solidFill>
                <a:srgbClr val="C55A11"/>
              </a:solidFill>
              <a:latin typeface="Arial"/>
              <a:cs typeface="Arial"/>
              <a:sym typeface="Calibri"/>
            </a:endParaRPr>
          </a:p>
        </p:txBody>
      </p:sp>
      <p:sp>
        <p:nvSpPr>
          <p:cNvPr id="3" name="Content Placeholder 2">
            <a:extLst>
              <a:ext uri="{FF2B5EF4-FFF2-40B4-BE49-F238E27FC236}">
                <a16:creationId xmlns:a16="http://schemas.microsoft.com/office/drawing/2014/main" id="{D3DF166F-1FCB-4E36-A9D4-78522B2A3A40}"/>
              </a:ext>
            </a:extLst>
          </p:cNvPr>
          <p:cNvSpPr>
            <a:spLocks noGrp="1"/>
          </p:cNvSpPr>
          <p:nvPr>
            <p:ph idx="1"/>
          </p:nvPr>
        </p:nvSpPr>
        <p:spPr/>
        <p:txBody>
          <a:bodyPr/>
          <a:lstStyle/>
          <a:p>
            <a:r>
              <a:rPr lang="en-US" dirty="0"/>
              <a:t>Remove subdirectory </a:t>
            </a:r>
            <a:r>
              <a:rPr lang="en-US" dirty="0">
                <a:latin typeface="Courier New" panose="02070309020205020404" pitchFamily="49" charset="0"/>
                <a:cs typeface="Courier New" panose="02070309020205020404" pitchFamily="49" charset="0"/>
              </a:rPr>
              <a:t>subdir</a:t>
            </a:r>
            <a:r>
              <a:rPr lang="en-US" dirty="0"/>
              <a:t> from your current directory (</a:t>
            </a:r>
            <a:r>
              <a:rPr lang="en-US" dirty="0">
                <a:latin typeface="Courier New" panose="02070309020205020404" pitchFamily="49" charset="0"/>
                <a:cs typeface="Courier New" panose="02070309020205020404" pitchFamily="49" charset="0"/>
              </a:rPr>
              <a:t>dir2</a:t>
            </a:r>
            <a:r>
              <a:rPr lang="en-US" dirty="0"/>
              <a:t>)</a:t>
            </a:r>
            <a:endParaRPr lang="en-IL" dirty="0"/>
          </a:p>
        </p:txBody>
      </p:sp>
      <p:pic>
        <p:nvPicPr>
          <p:cNvPr id="4" name="Picture 3">
            <a:extLst>
              <a:ext uri="{FF2B5EF4-FFF2-40B4-BE49-F238E27FC236}">
                <a16:creationId xmlns:a16="http://schemas.microsoft.com/office/drawing/2014/main" id="{369F8A1F-BEC1-41C9-8166-81741E80AD36}"/>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17132800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3AB41-F45F-4301-B9C7-FC4724AD0792}"/>
              </a:ext>
            </a:extLst>
          </p:cNvPr>
          <p:cNvSpPr>
            <a:spLocks noGrp="1"/>
          </p:cNvSpPr>
          <p:nvPr>
            <p:ph type="title"/>
          </p:nvPr>
        </p:nvSpPr>
        <p:spPr/>
        <p:txBody>
          <a:bodyPr/>
          <a:lstStyle/>
          <a:p>
            <a:r>
              <a:rPr lang="en-US" sz="3300" b="1" dirty="0">
                <a:solidFill>
                  <a:srgbClr val="C55A11"/>
                </a:solidFill>
                <a:latin typeface="Arial"/>
                <a:cs typeface="Arial"/>
                <a:sym typeface="Calibri"/>
              </a:rPr>
              <a:t>Task 10</a:t>
            </a:r>
            <a:endParaRPr lang="en-IL" sz="3300" b="1" dirty="0">
              <a:solidFill>
                <a:srgbClr val="C55A11"/>
              </a:solidFill>
              <a:latin typeface="Arial"/>
              <a:cs typeface="Arial"/>
              <a:sym typeface="Calibri"/>
            </a:endParaRPr>
          </a:p>
        </p:txBody>
      </p:sp>
      <p:sp>
        <p:nvSpPr>
          <p:cNvPr id="3" name="Content Placeholder 2">
            <a:extLst>
              <a:ext uri="{FF2B5EF4-FFF2-40B4-BE49-F238E27FC236}">
                <a16:creationId xmlns:a16="http://schemas.microsoft.com/office/drawing/2014/main" id="{D3DF166F-1FCB-4E36-A9D4-78522B2A3A40}"/>
              </a:ext>
            </a:extLst>
          </p:cNvPr>
          <p:cNvSpPr>
            <a:spLocks noGrp="1"/>
          </p:cNvSpPr>
          <p:nvPr>
            <p:ph idx="1"/>
          </p:nvPr>
        </p:nvSpPr>
        <p:spPr/>
        <p:txBody>
          <a:bodyPr/>
          <a:lstStyle/>
          <a:p>
            <a:r>
              <a:rPr lang="en-US" dirty="0"/>
              <a:t>Use </a:t>
            </a:r>
            <a:r>
              <a:rPr lang="en-US" dirty="0">
                <a:latin typeface="Courier New" panose="02070309020205020404" pitchFamily="49" charset="0"/>
                <a:cs typeface="Courier New" panose="02070309020205020404" pitchFamily="49" charset="0"/>
              </a:rPr>
              <a:t>echo</a:t>
            </a:r>
            <a:r>
              <a:rPr lang="en-US" dirty="0"/>
              <a:t> to add (append) a line containing the text "Hello world" (without the quotes) to </a:t>
            </a:r>
            <a:r>
              <a:rPr lang="en-US" dirty="0" err="1">
                <a:latin typeface="Courier New" panose="02070309020205020404" pitchFamily="49" charset="0"/>
                <a:cs typeface="Courier New" panose="02070309020205020404" pitchFamily="49" charset="0"/>
              </a:rPr>
              <a:t>myfile</a:t>
            </a:r>
            <a:r>
              <a:rPr lang="en-US" dirty="0"/>
              <a:t> (file </a:t>
            </a:r>
            <a:r>
              <a:rPr lang="en-US" dirty="0" err="1">
                <a:latin typeface="Courier New" panose="02070309020205020404" pitchFamily="49" charset="0"/>
                <a:cs typeface="Courier New" panose="02070309020205020404" pitchFamily="49" charset="0"/>
              </a:rPr>
              <a:t>myfile</a:t>
            </a:r>
            <a:r>
              <a:rPr lang="en-US" dirty="0"/>
              <a:t> should contain exactly two lines after this)</a:t>
            </a:r>
            <a:endParaRPr lang="en-IL" dirty="0"/>
          </a:p>
        </p:txBody>
      </p:sp>
      <p:pic>
        <p:nvPicPr>
          <p:cNvPr id="4" name="Picture 3">
            <a:extLst>
              <a:ext uri="{FF2B5EF4-FFF2-40B4-BE49-F238E27FC236}">
                <a16:creationId xmlns:a16="http://schemas.microsoft.com/office/drawing/2014/main" id="{9DF38477-B209-4993-8987-0C8D76B632AF}"/>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17534932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3AB41-F45F-4301-B9C7-FC4724AD0792}"/>
              </a:ext>
            </a:extLst>
          </p:cNvPr>
          <p:cNvSpPr>
            <a:spLocks noGrp="1"/>
          </p:cNvSpPr>
          <p:nvPr>
            <p:ph type="title"/>
          </p:nvPr>
        </p:nvSpPr>
        <p:spPr/>
        <p:txBody>
          <a:bodyPr/>
          <a:lstStyle/>
          <a:p>
            <a:r>
              <a:rPr lang="en-US" sz="3300" b="1" dirty="0">
                <a:solidFill>
                  <a:srgbClr val="C55A11"/>
                </a:solidFill>
                <a:latin typeface="Arial"/>
                <a:cs typeface="Arial"/>
                <a:sym typeface="Calibri"/>
              </a:rPr>
              <a:t>Solution – </a:t>
            </a:r>
            <a:r>
              <a:rPr lang="en-US" sz="3300" b="1" dirty="0" err="1">
                <a:solidFill>
                  <a:srgbClr val="C55A11"/>
                </a:solidFill>
                <a:latin typeface="Arial"/>
                <a:cs typeface="Arial"/>
                <a:sym typeface="Calibri"/>
              </a:rPr>
              <a:t>pico</a:t>
            </a:r>
            <a:r>
              <a:rPr lang="en-US" sz="3300" b="1" dirty="0">
                <a:solidFill>
                  <a:srgbClr val="C55A11"/>
                </a:solidFill>
                <a:latin typeface="Arial"/>
                <a:cs typeface="Arial"/>
                <a:sym typeface="Calibri"/>
              </a:rPr>
              <a:t> screenshot</a:t>
            </a:r>
            <a:endParaRPr lang="en-IL" sz="3300" b="1" dirty="0">
              <a:solidFill>
                <a:srgbClr val="C55A11"/>
              </a:solidFill>
              <a:latin typeface="Arial"/>
              <a:cs typeface="Arial"/>
              <a:sym typeface="Calibri"/>
            </a:endParaRPr>
          </a:p>
        </p:txBody>
      </p:sp>
      <p:pic>
        <p:nvPicPr>
          <p:cNvPr id="9" name="Picture 8">
            <a:extLst>
              <a:ext uri="{FF2B5EF4-FFF2-40B4-BE49-F238E27FC236}">
                <a16:creationId xmlns:a16="http://schemas.microsoft.com/office/drawing/2014/main" id="{FE5C6A73-F9E4-BE4E-BA66-3C3B9644B0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016" y="6247667"/>
            <a:ext cx="8791072" cy="453733"/>
          </a:xfrm>
          <a:prstGeom prst="rect">
            <a:avLst/>
          </a:prstGeom>
        </p:spPr>
      </p:pic>
      <p:pic>
        <p:nvPicPr>
          <p:cNvPr id="4" name="Picture 3" descr="Graphical user interface, text&#10;&#10;Description automatically generated">
            <a:extLst>
              <a:ext uri="{FF2B5EF4-FFF2-40B4-BE49-F238E27FC236}">
                <a16:creationId xmlns:a16="http://schemas.microsoft.com/office/drawing/2014/main" id="{5F13EE73-A023-F748-823C-D13165AECA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680" y="1369914"/>
            <a:ext cx="8768408" cy="4791710"/>
          </a:xfrm>
          <a:prstGeom prst="rect">
            <a:avLst/>
          </a:prstGeom>
        </p:spPr>
      </p:pic>
      <p:pic>
        <p:nvPicPr>
          <p:cNvPr id="5" name="Picture 4">
            <a:extLst>
              <a:ext uri="{FF2B5EF4-FFF2-40B4-BE49-F238E27FC236}">
                <a16:creationId xmlns:a16="http://schemas.microsoft.com/office/drawing/2014/main" id="{DD7BDBC0-847C-4B2A-A6DB-790C9E48043B}"/>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45086" y="34177"/>
            <a:ext cx="2375576" cy="661899"/>
          </a:xfrm>
          <a:prstGeom prst="rect">
            <a:avLst/>
          </a:prstGeom>
          <a:noFill/>
          <a:ln>
            <a:noFill/>
          </a:ln>
        </p:spPr>
      </p:pic>
    </p:spTree>
    <p:extLst>
      <p:ext uri="{BB962C8B-B14F-4D97-AF65-F5344CB8AC3E}">
        <p14:creationId xmlns:p14="http://schemas.microsoft.com/office/powerpoint/2010/main" val="12390772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7456</TotalTime>
  <Words>2453</Words>
  <Application>Microsoft Macintosh PowerPoint</Application>
  <PresentationFormat>Widescreen</PresentationFormat>
  <Paragraphs>310</Paragraphs>
  <Slides>33</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Calibri</vt:lpstr>
      <vt:lpstr>Calibri Light</vt:lpstr>
      <vt:lpstr>Courier New</vt:lpstr>
      <vt:lpstr>Tahoma</vt:lpstr>
      <vt:lpstr>Times New Roman</vt:lpstr>
      <vt:lpstr>Wingdings</vt:lpstr>
      <vt:lpstr>Office Theme</vt:lpstr>
      <vt:lpstr>Recitation 1</vt:lpstr>
      <vt:lpstr>Recitation Overview</vt:lpstr>
      <vt:lpstr>Zoom Guidelines</vt:lpstr>
      <vt:lpstr>Recitation Structure</vt:lpstr>
      <vt:lpstr>Linux/UNIX file system</vt:lpstr>
      <vt:lpstr>User home directory</vt:lpstr>
      <vt:lpstr>Changing / displaying the current directory</vt:lpstr>
      <vt:lpstr>ls – Listing directory contents</vt:lpstr>
      <vt:lpstr>Command demo</vt:lpstr>
      <vt:lpstr>Workout of the day</vt:lpstr>
      <vt:lpstr>pico</vt:lpstr>
      <vt:lpstr>Task 1</vt:lpstr>
      <vt:lpstr>Task 2</vt:lpstr>
      <vt:lpstr>Copying directories</vt:lpstr>
      <vt:lpstr>Task 3</vt:lpstr>
      <vt:lpstr>Two modes for cp and mv</vt:lpstr>
      <vt:lpstr>Task 4</vt:lpstr>
      <vt:lpstr>Task 5</vt:lpstr>
      <vt:lpstr>Moving or renaming files/directories</vt:lpstr>
      <vt:lpstr>Task 6</vt:lpstr>
      <vt:lpstr>Task 7</vt:lpstr>
      <vt:lpstr>ls -l    – Example</vt:lpstr>
      <vt:lpstr>File permissions</vt:lpstr>
      <vt:lpstr>File permissions – examples</vt:lpstr>
      <vt:lpstr>chmod – Changing file permissions</vt:lpstr>
      <vt:lpstr>Task 8</vt:lpstr>
      <vt:lpstr>Reminder for numeric representation </vt:lpstr>
      <vt:lpstr>File permissions</vt:lpstr>
      <vt:lpstr>File permissions – examples</vt:lpstr>
      <vt:lpstr>chmod – common octal modes</vt:lpstr>
      <vt:lpstr>Task 9</vt:lpstr>
      <vt:lpstr>Task 10</vt:lpstr>
      <vt:lpstr>Solution – pico screenshot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Recitation 1</dc:title>
  <dc:creator>Liam Tal</dc:creator>
  <cp:lastModifiedBy>Tal Liam</cp:lastModifiedBy>
  <cp:revision>44</cp:revision>
  <dcterms:created xsi:type="dcterms:W3CDTF">2021-03-09T11:28:01Z</dcterms:created>
  <dcterms:modified xsi:type="dcterms:W3CDTF">2026-03-11T16:37:02Z</dcterms:modified>
</cp:coreProperties>
</file>