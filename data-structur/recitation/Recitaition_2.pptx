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notesSlides/notesSlide33.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9"/>
  </p:notesMasterIdLst>
  <p:sldIdLst>
    <p:sldId id="256" r:id="rId2"/>
    <p:sldId id="332" r:id="rId3"/>
    <p:sldId id="333" r:id="rId4"/>
    <p:sldId id="334" r:id="rId5"/>
    <p:sldId id="335" r:id="rId6"/>
    <p:sldId id="282" r:id="rId7"/>
    <p:sldId id="395" r:id="rId8"/>
    <p:sldId id="259" r:id="rId9"/>
    <p:sldId id="394" r:id="rId10"/>
    <p:sldId id="295" r:id="rId11"/>
    <p:sldId id="322" r:id="rId12"/>
    <p:sldId id="396" r:id="rId13"/>
    <p:sldId id="654" r:id="rId14"/>
    <p:sldId id="323" r:id="rId15"/>
    <p:sldId id="390" r:id="rId16"/>
    <p:sldId id="389" r:id="rId17"/>
    <p:sldId id="296" r:id="rId18"/>
    <p:sldId id="644" r:id="rId19"/>
    <p:sldId id="300" r:id="rId20"/>
    <p:sldId id="302" r:id="rId21"/>
    <p:sldId id="301" r:id="rId22"/>
    <p:sldId id="645" r:id="rId23"/>
    <p:sldId id="331" r:id="rId24"/>
    <p:sldId id="461" r:id="rId25"/>
    <p:sldId id="462" r:id="rId26"/>
    <p:sldId id="646" r:id="rId27"/>
    <p:sldId id="463" r:id="rId28"/>
    <p:sldId id="464" r:id="rId29"/>
    <p:sldId id="465" r:id="rId30"/>
    <p:sldId id="466" r:id="rId31"/>
    <p:sldId id="467" r:id="rId32"/>
    <p:sldId id="468" r:id="rId33"/>
    <p:sldId id="469" r:id="rId34"/>
    <p:sldId id="470" r:id="rId35"/>
    <p:sldId id="471" r:id="rId36"/>
    <p:sldId id="472" r:id="rId37"/>
    <p:sldId id="473" r:id="rId38"/>
    <p:sldId id="474" r:id="rId39"/>
    <p:sldId id="321" r:id="rId40"/>
    <p:sldId id="648" r:id="rId41"/>
    <p:sldId id="649" r:id="rId42"/>
    <p:sldId id="650" r:id="rId43"/>
    <p:sldId id="651" r:id="rId44"/>
    <p:sldId id="652" r:id="rId45"/>
    <p:sldId id="653" r:id="rId46"/>
    <p:sldId id="307" r:id="rId47"/>
    <p:sldId id="309" r:id="rId48"/>
    <p:sldId id="308" r:id="rId49"/>
    <p:sldId id="310" r:id="rId50"/>
    <p:sldId id="311" r:id="rId51"/>
    <p:sldId id="312" r:id="rId52"/>
    <p:sldId id="313" r:id="rId53"/>
    <p:sldId id="557" r:id="rId54"/>
    <p:sldId id="558" r:id="rId55"/>
    <p:sldId id="559" r:id="rId56"/>
    <p:sldId id="560"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75" r:id="rId71"/>
    <p:sldId id="576" r:id="rId72"/>
    <p:sldId id="577" r:id="rId73"/>
    <p:sldId id="578" r:id="rId74"/>
    <p:sldId id="314" r:id="rId75"/>
    <p:sldId id="391" r:id="rId76"/>
    <p:sldId id="392" r:id="rId77"/>
    <p:sldId id="393" r:id="rId78"/>
    <p:sldId id="324" r:id="rId79"/>
    <p:sldId id="398" r:id="rId80"/>
    <p:sldId id="397" r:id="rId81"/>
    <p:sldId id="327" r:id="rId82"/>
    <p:sldId id="399" r:id="rId83"/>
    <p:sldId id="400" r:id="rId84"/>
    <p:sldId id="401" r:id="rId85"/>
    <p:sldId id="402" r:id="rId86"/>
    <p:sldId id="403" r:id="rId87"/>
    <p:sldId id="326"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y mozes" initials="sm" lastIdx="1" clrIdx="0">
    <p:extLst>
      <p:ext uri="{19B8F6BF-5375-455C-9EA6-DF929625EA0E}">
        <p15:presenceInfo xmlns:p15="http://schemas.microsoft.com/office/powerpoint/2012/main" userId="e8ccc87980d88d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D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69055" autoAdjust="0"/>
  </p:normalViewPr>
  <p:slideViewPr>
    <p:cSldViewPr snapToGrid="0">
      <p:cViewPr varScale="1">
        <p:scale>
          <a:sx n="43" d="100"/>
          <a:sy n="43" d="100"/>
        </p:scale>
        <p:origin x="1296" y="56"/>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7T13:56:22.932"/>
    </inkml:context>
    <inkml:brush xml:id="br0">
      <inkml:brushProperty name="width" value="0.05" units="cm"/>
      <inkml:brushProperty name="height" value="0.05" units="cm"/>
      <inkml:brushProperty name="color" value="#E71224"/>
    </inkml:brush>
  </inkml:definitions>
  <inkml:trace contextRef="#ctx0" brushRef="#br0">1641 4402 24575,'0'-17'0,"0"-5"0,0-2 0,0 3 0,0 9 0,-5-8 0,3 2 0,-4-6 0,3 3 0,-2-1 0,-2-1 0,-4-3 0,3 1 0,-2 3 0,1 0 0,1 2 0,-2 2 0,1 0 0,1 1 0,-1-1 0,2 0 0,-2 1 0,1 3 0,-1 0 0,-2-3 0,0-1 0,-2 1 0,3 0 0,-1 4 0,-2-1 0,-2 0 0,-4 1 0,-3-2 0,-1 1 0,-5-1 0,-2 0 0,-3-1 0,-6 2 0,-5 2 0,-6-1 0,-2 3 0,0-2 0,1 3 0,-1 0 0,1 1 0,0 2 0,4 3 0,7 3 0,5 0 0,6 0 0,2 0 0,3 0 0,3 0 0,4 0 0,-1 0 0,1 0 0,-3 0 0,-2 0 0,0 0 0,-3 0 0,2 0 0,-2 0 0,3 0 0,0 0 0,0 0 0,0 0 0,1 3 0,5 2 0,-8 9 0,1 2 0,-2 1 0,4-3 0,9-4 0,-3 4 0,-1 1 0,0 6 0,2 3 0,2 2 0,0 0 0,2 0 0,-1-4 0,5-4 0,1-1 0,-1-4 0,3 0 0,-1 1 0,0 3 0,1 2 0,0 4 0,-2 3 0,-1 2 0,2 2 0,-1 0 0,-1-2 0,2-2 0,0-3 0,3-4 0,1-2 0,0-3 0,0-1 0,0 4 0,0 0 0,0 2 0,0 2 0,0 0 0,0 3 0,0 1 0,0 0 0,0-1 0,0-1 0,0-3 0,0-3 0,0-2 0,0-2 0,0 0 0,0 0 0,0 1 0,0-2 0,0 1 0,3 0 0,3 0 0,2-2 0,1-1 0,-2-2 0,0 0 0,0 0 0,1 1 0,2-1 0,-2 2 0,0 0 0,0 1 0,-1 0 0,-1-1 0,1-3 0,-1 0 0,1-1 0,-1 1 0,1 2 0,2-2 0,1 3 0,3-1 0,-3 1 0,-1 0 0,1 0 0,1 0 0,2 1 0,-1 0 0,-2-1 0,-1 0 0,1-2 0,2 0 0,-2-1 0,-1-1 0,1 0 0,-1-2 0,1 1 0,-1-1 0,0 0 0,-1 2 0,1-2 0,0 2 0,0 0 0,0-1 0,1-1 0,1 2 0,1 0 0,2 1 0,-1-1 0,0-2 0,0-1 0,0 1 0,0-1 0,4 0 0,1 0 0,3-3 0,1 0 0,-1 0 0,0 0 0,-4 0 0,-1 0 0,-2 0 0,-1 0 0,0 0 0,0 0 0,0 0 0,0 0 0,0 0 0,0 0 0,0 0 0,-1 0 0,1 0 0,1 0 0,3 0 0,1 0 0,0 0 0,3 0 0,-4 0 0,0 0 0,1 0 0,-1 0 0,1 0 0,-1 0 0,-2 0 0,1 0 0,1 0 0,1 0 0,-1 0 0,-3 0 0,-1-2 0,0-2 0,0-3 0,0 1 0,0 3 0,0 0 0,-1 2 0,-2-2 0,0-1 0,0-1 0,1 0 0,2 0 0,0-1 0,-2-1 0,-1 0 0,0 2 0,0 2 0,-1 0 0,0-1 0,-3 1 0,0-3 0,3 0 0,1-3 0,-2 0 0,0 2 0,-3 1 0,1 0 0,1 0 0,0 0 0,1 0 0,-1 0 0,-2-1 0,0 0 0,2 1 0,-1 0 0,3-1 0,-2 1 0,-1-4 0,3 0 0,-1-3 0,1 3 0,0 1 0,0 1 0,0 1 0,-4 0 0,-3 1 0,1 2 0,1 0 0,-1 1 0,5-3 0,-4-3 0,4 1 0,-2 2 0,-1 2 0,-2 0 0,0-2 0,-1-3 0,2-1 0,3 1 0,2 0 0,-3 1 0,1 1 0,-2 1 0,0 0 0,1 0 0,-1-1 0,-2 0 0,-2 0 0,2 3 0,0-1 0,1 2 0,2-1 0,-3-2 0,2 0 0,0 0 0,-2-1 0,-1 1 0,1 2 0,0 2 0,0-1 0,0 0 0,-3-2 0,0-1 0,0 1 0,0-4 0,0 2 0,0-1 0,0-1 0,2 0 0,1-2 0,1-4 0,-1 8 0,-3-4 0,0 5 0,0 0 0,0-3 0,0 3 0,0-2 0,0 3 0,0-1 0,0 1 0,2 1 0,1 2 0,0-1 0,0 0 0,-2-3 0,-1-1 0,0 0 0,0-3 0,0 0 0,0-4 0,0-3 0,0 0 0,0-1 0,0-1 0,-3 1 0,0-2 0,0-2 0,-1-3 0,4-5 0,0 0 0,-4-1 0,0-4 0,-3-1 0,-1-1 0,-1-2 0,-2 2 0,3-3 0,-1-2 0,3-1 0,-1-4 0,-1-1 0,1-4 0,3 0 0,0 0 0,-1 1 0,1-1 0,0-4 0,3-2 0,-3 0 0,-1-5 0,1 4 0,0-6 0,4-4 0,0 2 0,0-3 0,0 1 0,0 2 0,0-3 0,0 0 0,0-4 0,0-2 0,0-1 0,0 0 0,0-1 0,0 2 0,0 0 0,0 6 0,0 5 0,0 12 0,0 7 0,0 5 0,0 5 0,1 1 0,4 5 0,4-2 0,4-4 0,3-2 0,2-3 0,2-1 0,0 2 0,2-2 0,0 2 0,2-2 0,3 2 0,-2 3 0,1 2 0,0 4 0,-2 0 0,2 1 0,0-1 0,4-6 0,4-2 0,-4 1 0,-3 4 0,-6 8 0,-3 6 0,-1 0 0,2 1 0,-1-2 0,0-1 0,3-1 0,1-2 0,4-1 0,5-9 0,0-1 0,1-1 0,5-3 0,0 2 0,0 1 0,0 1 0,-1 4 0,0 2 0,-1 3 0,-2 2 0,-5 4 0,1 0 0,0 0 0,-2 2 0,3 0 0,1 2 0,3 2 0,6-1 0,5 3 0,3 0 0,4 1 0,-2 2 0,-3-2 0,-3 1 0,-3 2 0,0 1 0,-2 2 0,-6 2 0,-4-2 0,-5 0 0,-5 2 0,-2 1 0,-2 1 0,-2 2 0,0 0 0,-2 0 0,-1 0 0,-1 0 0,1 0 0,1 0 0,0 0 0,-3 0 0,0 0 0,-2 0 0,-5 0 0,-7 0 0,-7 0 0,-7 0 0,-13 0 0,3 0 0,-14 0 0,11 0 0,2 0 0,1 0 0,5 0 0,-1 0 0,3 0 0,3 0 0,0 0 0,2 0 0,0 0 0,1 0 0,3 0 0,1 0 0,0 0 0,2 0 0,1 0 0,2 0 0,0 0 0,0 0 0,1 0 0,1 0 0,2-2 0,1-1 0,1 0 0,-2 0 0,-1 3 0,-1 0 0,-1 0 0,1-3 0,0-1 0,0-4 0,3-3 0,1 1 0,2-1 0,0 2 0,0 0 0,0 1 0,2 2 0,1 3 0,0 5 0,1 1 0,0 2 0,-1 1 0,1-3 0,-1-1 0,2 0 0,1 1 0,-1 3 0,1-1 0,0-1 0,0 1 0,0-1 0,1 0 0,0-1 0,-1 0 0,1 0 0,0 0 0,1 0 0,1-2 0,-2 2 0,0 0 0,2 1 0,0-1 0,1 0 0,-2 0 0,-1 0 0,-1-1 0,0-2 0,0 2 0,0 1 0,2 1 0,-2-1 0,3-3 0,1 0 0,2 0 0,1 1 0,0 2 0,0 0 0,-1 0 0,-2-1 0,0-2 0,-1 0 0,3 0 0,-2 0 0,0 0 0,-3 0 0,-1 0 0,0 0 0,0 0 0,3 0 0,0 0 0,3 0 0,1 0 0,-3 0 0,-1 0 0,-1 0 0,-1 0 0,-1 0 0,0 0 0,-1 0 0,2 0 0,2 0 0,-1 0 0,-2 0 0,0 0 0,0 0 0,4 0 0,1 0 0,-2 0 0,-2 0 0,-1 0 0,-5 0 0,-7 0 0,1 0 0,-6 0 0,-3 0 0,2 0 0,-6 0 0,6 0 0,0 0 0,3 0 0,-1 0 0,-2 0 0,0 0 0,-5 0 0,-1 3 0,1 0 0,-1 3 0,1 1 0,0-1 0,-1 0 0,1-2 0,4 2 0,0-3 0,1 1 0,1-1 0,2 0 0,0 0 0,3 2 0,0-1 0,-1-1 0,-2 2 0,-1-1 0,0 2 0,2 0 0,2-2 0,-1 1 0,1-2 0,1 3 0,0 0 0,-1-3 0,3 2 0,-2-2 0,1 0 0,1 2 0,-1-3 0,1 1 0,0 2 0,0 0 0,0 2 0,0-1 0,-1 0 0,-2 2 0,0 0 0,3 1 0,0-2 0,2-1 0,-2-2 0,-1 1 0,1-1 0,1 1 0,2 2 0,0-1 0,0 1 0,0 0 0,0 0 0,0 1 0,0-1 0,0 1 0,0-2 0,0-3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7T13:54:59.840"/>
    </inkml:context>
    <inkml:brush xml:id="br0">
      <inkml:brushProperty name="width" value="0.05" units="cm"/>
      <inkml:brushProperty name="height" value="0.05" units="cm"/>
      <inkml:brushProperty name="color" value="#E71224"/>
    </inkml:brush>
  </inkml:definitions>
  <inkml:trace contextRef="#ctx0" brushRef="#br0">1103 5176 24575,'0'-6'0,"0"2"0,0-5 0,-2-3 0,-9-16 0,1 4 0,-9-10 0,3 9 0,0 3 0,1 3 0,3 3 0,3 5 0,-2 0 0,-3 1 0,-3 0 0,-4-3 0,-3 1 0,-3 1 0,-2 0 0,-2 2 0,1-2 0,3 3 0,1 1 0,0-1 0,0 0 0,-5 1 0,1-1 0,-1 1 0,1 2 0,-1-1 0,-2 2 0,0 0 0,1 3 0,4 1 0,4 0 0,3 0 0,2 0 0,2 0 0,3 0 0,1 0 0,0 0 0,2 0 0,1 0 0,-1 0 0,-3 1 0,-3 3 0,-1 4 0,3 3 0,-1 3 0,-1-1 0,-1 1 0,0 2 0,3 2 0,1 0 0,1-2 0,2-2 0,1 3 0,3 0 0,0 1 0,0-1 0,3-5 0,-2 2 0,2-1 0,1 1 0,1 3 0,2 3 0,0 1 0,0 2 0,-2 1 0,-2-1 0,-1-1 0,2-1 0,2-2 0,1-2 0,0 0 0,0-4 0,0 0 0,0 1 0,0-1 0,0 0 0,0 0 0,0 0 0,0 0 0,0 1 0,0-1 0,0 0 0,0 0 0,0-2 0,0-2 0,0 1 0,0 0 0,0 2 0,0-1 0,0-1 0,0-1 0,0 1 0,0-1 0,0 1 0,0-1 0,0-2 0,0 1 0,0-1 0,0-2 0,0 1 0,2 0 0,1 0 0,0 0 0,3 0 0,-2 0 0,-1 1 0,2 1 0,-2 0 0,2 1 0,1-1 0,-3-2 0,3-2 0,-3 0 0,1-1 0,1 0 0,-2 2 0,1-1 0,1-1 0,1 2 0,0-1 0,1 1 0,-2 0 0,1-1 0,0 0 0,0 0 0,0 2 0,0 0 0,0-1 0,1 0 0,2-1 0,0-1 0,1 3 0,-1-3 0,0 0 0,0 0 0,0-2 0,-1 2 0,0 0 0,1 2 0,-1 0 0,0-2 0,1 2 0,-1 0 0,0-2 0,1 0 0,1 0 0,3 1 0,0 0 0,0 1 0,0-1 0,-1-1 0,-1-1 0,-2-2 0,1 0 0,-1 0 0,0 0 0,1 0 0,-2 0 0,0 0 0,1 2 0,-2 2 0,2-1 0,0 0 0,-1-2 0,1-1 0,1 0 0,1 0 0,3 0 0,1 0 0,0 0 0,-2 0 0,-1 0 0,1 0 0,0 0 0,-1 0 0,-1 0 0,-2 0 0,-2 0 0,-1 0 0,0 0 0,1 0 0,0 0 0,2 0 0,-2 0 0,-1 0 0,0 0 0,0 0 0,2 0 0,2 0 0,2 0 0,1 0 0,0 0 0,0 0 0,1 0 0,3 0 0,1 0 0,-1 0 0,-1-2 0,-3-1 0,0-2 0,0-2 0,0 0 0,0 1 0,0 1 0,0 0 0,0 0 0,0-1 0,-1 0 0,-3 2 0,-3-2 0,-1 2 0,-1 0 0,-1-2 0,2 0 0,-1 0 0,1-1 0,0 1 0,-1 0 0,1 0 0,-2 0 0,3 0 0,0 2 0,-2-1 0,2 1 0,-2-2 0,0-3 0,1 2 0,-1 0 0,0 1 0,1 1 0,-1-1 0,-1 0 0,-1-1 0,-2 0 0,0 1 0,0 1 0,3-1 0,0 0 0,0-2 0,1 2 0,-1-1 0,0 1 0,1 0 0,-3-1 0,-1 0 0,3 2 0,0 1 0,0-1 0,0 2 0,-2-2 0,-1-1 0,0 0 0,0 1 0,0-1 0,0 1 0,0-1 0,0 0 0,0-1 0,0 2 0,0-1 0,0-2 0,0 1 0,0-1 0,0 1 0,0 1 0,0-2 0,3 1 0,1 1 0,-1 1 0,-1-1 0,-2 0 0,0 0 0,0 0 0,0 1 0,0-1 0,0 0 0,0-2 0,0 1 0,0-2 0,0 1 0,0 1 0,0-1 0,0 2 0,0 0 0,0 0 0,0 1 0,0-1 0,0 0 0,0 1 0,0-1 0,0 1 0,0 0 0,0-1 0,0 0 0,0 1 0,0-1 0,0 0 0,0 0 0,0-2 0,0 2 0,0-4 0,0-1 0,0 0 0,-3-6 0,0-2 0,-2-4 0,1-7 0,0-4 0,-2-6 0,-4-7 0,-1-5 0,-1-6 0,0 0 0,1-4 0,-1-4 0,-2-4 0,3-11 0,-2-3 0,3 0 0,0 0 0,1 1 0,-1-1 0,0 2 0,2 5 0,-2 10 0,2 2 0,1 1 0,2 1 0,0 2 0,1 0 0,-1-1 0,0-1 0,3-1 0,2 0 0,0 0 0,0-1 0,0 6 0,0 1 0,0-1 0,0-5 0,0-2 0,0-3 0,0 1 0,0 2 0,0-4 0,0 1 0,0 1 0,0 2 0,0 5 0,0 4 0,0 4 0,3 1 0,2-3 0,2-2 0,4-2 0,2-3 0,4 2 0,-2 1 0,-2 4 0,0 9 0,-1 7 0,-1 9 0,0 5 0,1-2 0,1-3 0,3-9 0,0-2 0,3-3 0,2-2 0,3 0 0,1-1 0,-3 5 0,-3 6 0,-3 5 0,-1 1 0,-1 4 0,1 1 0,-1 2 0,1 1 0,3 0 0,1 0 0,1 0 0,1 2 0,-3 0 0,2-1 0,2-3 0,0 1 0,2-2 0,-2 3 0,-3 0 0,-2 1 0,-2 2 0,-2 2 0,1 6 0,-1 1 0,0 1 0,0 1 0,2-2 0,3-2 0,5-4 0,5-3 0,2-2 0,1 0 0,-1 0 0,0-4 0,0 1 0,-2-1 0,-5 2 0,-1 3 0,-4 2 0,1 0 0,2-1 0,-2 0 0,0 2 0,1 3 0,-2 0 0,0 0 0,2 0 0,-2 0 0,1 2 0,1 1 0,-3 3 0,0 1 0,-2 1 0,1-1 0,1 0 0,4-1 0,4-3 0,1-1 0,9 1 0,0-1 0,1 1 0,-2-1 0,-3-3 0,-1 1 0,-1 2 0,-4 2 0,-3 5 0,-3 0 0,1 0 0,1-1 0,-1 0 0,-3 1 0,-3 2 0,-1-1 0,0 1 0,1-1 0,-4 1 0,-1 3 0,-1 0 0,-1-2 0,-1-1 0,0 0 0,-1 0 0,1 2 0,-3 1 0,-8 0 0,-8 0 0,-1 0 0,-3-1 0,2-2 0,-3-2 0,0-2 0,3-1 0,1 2 0,0-1 0,-2 1 0,-2 0 0,-2-1 0,2-1 0,1 1 0,3 3 0,1 1 0,0 0 0,-1-1 0,2 0 0,1 2 0,2 2 0,1 0 0,2-2 0,0-1 0,1-1 0,-2 1 0,-2 0 0,2-1 0,4 1 0,5 1 0,6 2 0,1 0 0,-2 0 0,-1 0 0,0 0 0,0 0 0,-1 0 0,3 0 0,1 0 0,-1 0 0,0 0 0,-3 1 0,0 3 0,1-1 0,0 0 0,0-2 0,1 1 0,0 1 0,-1 0 0,3 0 0,0 0 0,3 1 0,1 0 0,0 1 0,0-1 0,-1-1 0,-2 1 0,0-1 0,-2 0 0,0 0 0,1-3 0,-1 0 0,0 2 0,1 2 0,-2-1 0,2-1 0,0-1 0,1-1 0,2 0 0,-1 0 0,-2 0 0,-2 1 0,-1 2 0,0 0 0,0 0 0,0-2 0,-1-1 0,1 0 0,-1 0 0,-1 2 0,-2 1 0,1 0 0,-3 0 0,0-3 0,-1 3 0,-1 0 0,0 2 0,-1 4 0,-1 0 0,-2 4 0,1-1 0,-2-2 0,1 0 0,2-1 0,-2 1 0,3 1 0,-2-2 0,0-1 0,1 0 0,1 1 0,0-1 0,-1 0 0,1 2 0,-3-3 0,2 2 0,-2 1 0,-1 0 0,0 3 0,0 0 0,1-3 0,0-1 0,1 0 0,0-1 0,1 0 0,1-1 0,0-1 0,-1 1 0,1-1 0,-3 0 0,2 0 0,1 1 0,0-2 0,2 1 0,-2 0 0,0-1 0,-2 1 0,-1-2 0,3 2 0,0-1 0,2 1 0,-1-1 0,-1-1 0,0-1 0,0-1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7T13:55:09.289"/>
    </inkml:context>
    <inkml:brush xml:id="br0">
      <inkml:brushProperty name="width" value="0.05" units="cm"/>
      <inkml:brushProperty name="height" value="0.05" units="cm"/>
      <inkml:brushProperty name="color" value="#E71224"/>
    </inkml:brush>
  </inkml:definitions>
  <inkml:trace contextRef="#ctx0" brushRef="#br0">1001 6335 24575,'0'-7'0,"0"0"0,0-9 0,0-3 0,0-5 0,0 0 0,0 7 0,-2-1 0,-4 0 0,-2 0 0,-2-3 0,-4 1 0,-2 1 0,-2-2 0,0 3 0,4 0 0,1 2 0,-2 2 0,-2-1 0,-3-3 0,-4-1 0,-3 0 0,1 2 0,0 3 0,0-1 0,2 0 0,2 1 0,4 0 0,4 3 0,0 2 0,1 2 0,-4 2 0,-1 0 0,0 1 0,1 1 0,-1 0 0,-1 3 0,-2-1 0,-1-2 0,0-1 0,0 1 0,1 1 0,-2 2 0,2 0 0,1 0 0,3 0 0,3 0 0,0 0 0,-2 0 0,-2 0 0,0 0 0,0 1 0,1 3 0,0 3 0,-1 4 0,2 3 0,2 1 0,0 2 0,0 3 0,0 1 0,2 1 0,1-1 0,4-2 0,2-2 0,-1-2 0,2 1 0,1 1 0,-3 1 0,2 3 0,0-3 0,1 4 0,3-1 0,-3-3 0,-1 2 0,1-2 0,1-1 0,2-1 0,0-3 0,0 0 0,0 0 0,0 0 0,0 0 0,0 1 0,0-1 0,0 0 0,0 0 0,0 0 0,0 0 0,0 0 0,0 0 0,0 0 0,0-3 0,0 0 0,0-2 0,0 0 0,0 1 0,0 0 0,0 3 0,0-2 0,0 0 0,2-1 0,1 1 0,3 0 0,1-1 0,-4 1 0,3-3 0,-2 2 0,2-2 0,1 0 0,0 2 0,0-1 0,0 2 0,2-1 0,-2 1 0,1-1 0,-2 0 0,1-1 0,0 1 0,1-2 0,-1 0 0,2 1 0,0 0 0,1 1 0,3-3 0,0 1 0,0-1 0,0 1 0,1-1 0,-2-2 0,-2 1 0,-1 0 0,1 1 0,2 0 0,1-3 0,0 0 0,0 0 0,0 1 0,0-1 0,0-2 0,0-1 0,0 0 0,0 0 0,0 0 0,0 0 0,0 0 0,0 0 0,1 0 0,-1 0 0,0 0 0,1 0 0,-1 0 0,2 0 0,2 0 0,-1 0 0,2 0 0,-3 0 0,-2 0 0,0 0 0,4 0 0,0-1 0,1-2 0,3-1 0,-4-2 0,1-1 0,0-1 0,-1-1 0,0 0 0,0 0 0,-1 2 0,-5 1 0,-1 1 0,-2 1 0,-2 1 0,0 0 0,-2-3 0,1 0 0,-1 0 0,1 1 0,1 1 0,-3 0 0,1 2 0,-1-2 0,0-1 0,2 1 0,0 1 0,-2-2 0,3 1 0,-2 0 0,-1-1 0,2 0 0,-2-1 0,0-2 0,3 2 0,-1 0 0,-1 0 0,1 3 0,-1-2 0,-1 1 0,-1-2 0,-2 0 0,2 1 0,1-1 0,0 0 0,0-2 0,-3 2 0,0-2 0,0 0 0,0 1 0,0-1 0,0 3 0,0-1 0,0 1 0,2-1 0,2-2 0,-1 0 0,-1-1 0,-2 1 0,0 2 0,0 0 0,0 0 0,0 0 0,0 1 0,0-1 0,0 1 0,2 1 0,1 2 0,0-1 0,0 0 0,-3-2 0,2-1 0,2 1 0,-1-1 0,0 1 0,-3-3 0,0 2 0,0-2 0,0 2 0,0 1 0,0-1 0,0 0 0,0-1 0,0 0 0,0 0 0,0 1 0,0 0 0,0 0 0,0 0 0,0 0 0,0 0 0,0-1 0,0 1 0,0-2 0,0-1 0,0-1 0,0 0 0,0 0 0,0 1 0,0-1 0,0 0 0,0 0 0,0 0 0,0 0 0,0-1 0,0-1 0,-1-3 0,-4-2 0,-2-1 0,-2-1 0,0-1 0,2 2 0,0-1 0,0-3 0,0 0 0,-1 0 0,-2 1 0,2-1 0,-2-4 0,-1-3 0,-1-2 0,-3 1 0,-1-6 0,1 1 0,-1-1 0,0 0 0,1 0 0,3 0 0,0-2 0,0 0 0,-2-1 0,-2-4 0,-1-4 0,0-3 0,-1-2 0,-2 1 0,-2-5 0,0-6 0,0-8 0,2-6 0,1-1 0,3 4 0,2 3 0,0 0 0,-1-2 0,1-3 0,2 4 0,2 4 0,2 2 0,-1-2 0,0-1 0,2 0 0,2-2 0,0-6 0,0-7 0,-1-7 0,1 0 0,0 5 0,0 2 0,0 6 0,1 0 0,4 0 0,0 1 0,0-1 0,0 2 0,0 4 0,0 3 0,0 7 0,0 3 0,0 7 0,0 6 0,0 0 0,0-1 0,3-3 0,5-3 0,5-4 0,0-2 0,0 0 0,0 1 0,1 3 0,3 3 0,0-1 0,0 0 0,0 3 0,-1 2 0,1 4 0,-1 4 0,0 0 0,0 1 0,-1 3 0,1-1 0,-1 5 0,0 0 0,3 1 0,1-1 0,4 1 0,0-1 0,-1 1 0,1-1 0,-1 1 0,1 1 0,-1 2 0,1 0 0,1 0 0,3-1 0,2-3 0,1 1 0,0-1 0,5-4 0,2-2 0,5-1 0,0-3 0,0 2 0,0-3 0,-3 0 0,-3 8 0,-6 4 0,-4 8 0,-2 1 0,-2-1 0,-1 0 0,1-1 0,0 1 0,0 0 0,0 0 0,-2 3 0,0-2 0,-2 3 0,0 0 0,2 0 0,-2 4 0,4 0 0,3-1 0,2 0 0,3-4 0,0-1 0,0-3 0,0 1 0,1 3 0,-3 2 0,-1 2 0,-3 2 0,-5 2 0,1 3 0,-1 1 0,2 0 0,0 1 0,1-1 0,3 0 0,-3-3 0,4-1 0,-1-4 0,1 4 0,1 0 0,-2 1 0,0 2 0,-3-1 0,-2 1 0,-4 2 0,-3 0 0,0 2 0,0-1 0,0 1 0,1-1 0,-1 0 0,0-1 0,0 0 0,0-1 0,0 0 0,0 3 0,0-2 0,0 3 0,0-2 0,0 0 0,0 1 0,0 0 0,1-2 0,1 3 0,2-2 0,0 0 0,1 1 0,-4-1 0,-1 0 0,1 2 0,-1 0 0,-3 2 0,-1 1 0,-2-3 0,-1 0 0,3-1 0,1 1 0,0 3 0,0 0 0,-1-1 0,-2-2 0,1-1 0,-1 1 0,-1 1 0,0 2 0,0 0 0,0 0 0,0 0 0,-1-2 0,0-1 0,-4 0 0,-1 0 0,-7 3 0,-5 0 0,2 0 0,-1 0 0,1 0 0,0-1 0,-3-1 0,0-3 0,0-1 0,0-1 0,-1 0 0,1 2 0,0 0 0,-1 0 0,3-1 0,1 0 0,2 1 0,1 2 0,1 2 0,-1-2 0,1 0 0,0 0 0,-2-2 0,2 2 0,0-3 0,1 1 0,1-1 0,1 1 0,0 4 0,3 1 0,2 3 0,1 0 0,0-1 0,3 1 0,0 0 0,0 0 0,-1-1 0,-2 1 0,-1 0 0,1-1 0,3-1 0,-1 1 0,1 2 0,-1-1 0,-1 1 0,2-1 0,-1 0 0,1 1 0,0 0 0,0 0 0,0-1 0,0-2 0,0-1 0,2 0 0,-1 3 0,2 0 0,0 1 0,0-2 0,0-1 0,0-1 0,-2 3 0,1 0 0,-1 0 0,0 0 0,0-3 0,-2 0 0,1 2 0,0 1 0,0 0 0,2 0 0,-2-3 0,2 0 0,-3 0 0,0 0 0,1 0 0,-3 2 0,-1 1 0,0 0 0,1 0 0,0-1 0,0 3 0,-3 1 0,-2 2 0,-1-3 0,0 1 0,0-1 0,1-1 0,-1-2 0,-1 0 0,2 4 0,2 0 0,-2-1 0,-1-1 0,-1 0 0,-1-1 0,1 2 0,1 0 0,0 1 0,1 2 0,-1-2 0,0 2 0,0-2 0,0 0 0,0 2 0,0 0 0,-1 0 0,2-2 0,-2-2 0,1-1 0,1 3 0,-1 3 0,0 0 0,0 0 0,0-2 0,3-1 0,0-1 0,0 1 0,-2 0 0,-1 0 0,-1 0 0,2 0 0,1-1 0,1 3 0,0-2 0,0 2 0,0 0 0,0 0 0,-2 0 0,-1-2 0,-1 0 0,2 1 0,2-1 0,0 2 0,0 0 0,0-1 0,0 1 0,0-2 0,0-2 0,0-2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7T13:54:44.247"/>
    </inkml:context>
    <inkml:brush xml:id="br0">
      <inkml:brushProperty name="width" value="0.05" units="cm"/>
      <inkml:brushProperty name="height" value="0.05" units="cm"/>
      <inkml:brushProperty name="color" value="#E71224"/>
    </inkml:brush>
  </inkml:definitions>
  <inkml:trace contextRef="#ctx0" brushRef="#br0">1168 6466 24575,'0'-12'0,"0"-19"0,0-1 0,0-13 0,0 14 0,-2-7 0,-2 5 0,-3-13 0,-2 10 0,0 3 0,-2 8 0,-2 3 0,-1 2 0,0 0 0,0 1 0,0 1 0,1 1 0,-4-1 0,0 1 0,-1-1 0,1 1 0,3 5 0,0 3 0,-3-2 0,-1 0 0,-6-3 0,-7 0 0,-2 2 0,-4 0 0,-2 1 0,1 1 0,-3-1 0,0 2 0,0 1 0,3 2 0,2 2 0,4 2 0,2 2 0,-1 0 0,4 0 0,2 0 0,-1 0 0,-1 0 0,1 0 0,1 0 0,4 0 0,4 0 0,-1 0 0,1 0 0,-1 2 0,2 1 0,4 2 0,2 3 0,0 2 0,-2 2 0,-1 1 0,0 0 0,0 0 0,2 0 0,1 4 0,3 0 0,-1 1 0,-1-1 0,2-3 0,0 3 0,1 1 0,3-1 0,0-1 0,1-5 0,2-1 0,0 0 0,0-1 0,0 3 0,0 1 0,0 0 0,0 3 0,0 5 0,0 1 0,0 3 0,0 1 0,0-4 0,0 0 0,0-2 0,0-2 0,0 1 0,0 1 0,0-3 0,1 0 0,3-2 0,-1-2 0,2 0 0,-1-2 0,0-1 0,-1-3 0,-3-1 0,3 0 0,1 0 0,0 3 0,1-2 0,-1 3 0,3 0 0,-1 0 0,1 4 0,-2-1 0,0 0 0,0 0 0,0 0 0,1 0 0,-1 0 0,0 0 0,-1-2 0,0-1 0,1-1 0,-1 1 0,2-1 0,1 1 0,-1-1 0,1 2 0,0 2 0,2 0 0,-1 0 0,1 0 0,0 0 0,-1 0 0,0 1 0,-1-3 0,-1-1 0,1-3 0,1-3 0,0 2 0,1 0 0,0 1 0,1 2 0,3-2 0,0 0 0,0 2 0,0-2 0,0 2 0,0-2 0,1-1 0,-1 0 0,0-2 0,2 1 0,2-1 0,3 1 0,4 0 0,3-1 0,2 2 0,1-1 0,0-1 0,0-1 0,0-3 0,1 0 0,-1 0 0,0 0 0,0 0 0,-1 0 0,-2 0 0,-2 0 0,-5 0 0,-3 0 0,-2 0 0,-2 0 0,0 0 0,1 0 0,-1 0 0,0-2 0,0-1 0,0-4 0,0-2 0,0-1 0,0-1 0,0 2 0,0 0 0,0 1 0,1-1 0,-1 2 0,-2 0 0,-2 0 0,-3 1 0,-1-1 0,-2 1 0,1 0 0,-1-1 0,0 3 0,1-1 0,-1 1 0,-1-2 0,1-1 0,0 1 0,0-2 0,-3 1 0,0 0 0,0-2 0,0 2 0,0 0 0,0 2 0,2 1 0,1 1 0,0 2 0,0-2 0,-3-4 0,0-2 0,0-1 0,0-1 0,1 2 0,2 3 0,0 2 0,1 0 0,-3-2 0,-1 0 0,3 0 0,0-1 0,0 1 0,-1-3 0,-2 2 0,0-2 0,0-1 0,1 0 0,2-2 0,2-2 0,1 1 0,-1 0 0,-1 0 0,-1-1 0,0 3 0,1 1 0,-1 3 0,-3-2 0,0 1 0,0-1 0,0-1 0,0-2 0,0-8 0,0-6 0,-3-4 0,-1-1 0,-1-2 0,-2-3 0,1-7 0,-4-5 0,-3-6 0,-3-7 0,-3-18 0,9 28 0,-1-4-403,-2-9 0,0-3 403,-2-13 0,-1-3-1468,-2-12 1,-1-3 1467,6 29 0,-1-1 0,1-1 0,1-7 0,-1-1 0,1-1-1007,-1-2 0,0-2 0,0 0 1007,0-2 0,1 0 0,-1-2 0,0-6 0,1-2 0,-1 0 0,0 2 0,1-1 0,0 0 0,3-3 0,1 1 0,1-1 0,1 3 0,1 1 0,1-1 0,1 0 0,1 0 0,1 0 0,0-1 0,2 1 0,-1 0 0,0 1 0,-1 1 0,2 1 0,-1-1 0,2 0 0,1 1 0,2 4 0,2 0 0,3 1 0,3-1 0,3 0 0,3 1 0,4 0 0,3 1 0,3 1 0,2 2 0,2 1 0,2 2 0,2 1 0,0 2 0,2 3 0,-3 7 0,0 4 0,0 1-637,15-20 0,1 4 637,-5 11 0,1 4 0,-7 13 0,-1 2 0,-3 4 0,0 3 2182,22-18-2182,-14 21 3220,-12 14-3220,-12 12 1827,-4 6-1827,-4 3 807,-1 3-807,0 0 0,-4 0 0,-3 2 0,-3 1 0,-4 0 0,-1 0 0,-3-3 0,-3 0 0,-1 0 0,0 0 0,1 0 0,0 0 0,-1-1 0,-3-2 0,0-1 0,0 1 0,-3 1 0,-1 0 0,-1-1 0,0-3 0,4-1 0,-3 3 0,0-2 0,-1 2 0,1 0 0,3 2 0,2 1 0,2-2 0,1-1 0,1 1 0,2 1 0,-2 2 0,2 0 0,0 0 0,0 0 0,5 0 0,5 0 0,3 0 0,3 0 0,-4 0 0,0 0 0,-1 0 0,0 0 0,0 0 0,3 0 0,1 0 0,2 0 0,2 0 0,0 0 0,-2 0 0,-2 0 0,1 0 0,0 0 0,2 0 0,1 0 0,0 0 0,-1 0 0,-1 0 0,-1 0 0,-1 0 0,1 0 0,-1 0 0,0 0 0,1 0 0,0 0 0,-1 0 0,0 0 0,-1 0 0,0 0 0,0 1 0,-2 2 0,3 0 0,-2 0 0,0-2 0,2-1 0,-4 0 0,2 0 0,-2 2 0,-2 1 0,2 1 0,-2-1 0,2-3 0,3 0 0,-1 0 0,-4 0 0,-4 4 0,-2 1 0,-2 2 0,1-1 0,1 0 0,-1-2 0,1 2 0,0-1 0,0 1 0,-1 0 0,1 2 0,0 1 0,-2 0 0,1 1 0,0-1 0,1-1 0,0 1 0,-1 0 0,-1 1 0,-2 2 0,1 1 0,-1 0 0,0-3 0,2-1 0,1 1 0,1 1 0,0 1 0,-1-2 0,1-3 0,-1 0 0,1-1 0,0 0 0,0-1 0,3 2 0,-3-2 0,-1 1 0,1 1 0,0-1 0,3 2 0,0 0 0,0-1 0,0 1 0,0 0 0,0-2 0,0-1 0,0-3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4D63C-E26E-4C57-A9AF-52224642F756}"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52EA7D-4BA2-4E8E-987D-617FF4A2559A}" type="slidenum">
              <a:rPr lang="en-US" smtClean="0"/>
              <a:t>‹#›</a:t>
            </a:fld>
            <a:endParaRPr lang="en-US"/>
          </a:p>
        </p:txBody>
      </p:sp>
    </p:spTree>
    <p:extLst>
      <p:ext uri="{BB962C8B-B14F-4D97-AF65-F5344CB8AC3E}">
        <p14:creationId xmlns:p14="http://schemas.microsoft.com/office/powerpoint/2010/main" val="3069468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a:t>
            </a:fld>
            <a:endParaRPr lang="en-US"/>
          </a:p>
        </p:txBody>
      </p:sp>
    </p:spTree>
    <p:extLst>
      <p:ext uri="{BB962C8B-B14F-4D97-AF65-F5344CB8AC3E}">
        <p14:creationId xmlns:p14="http://schemas.microsoft.com/office/powerpoint/2010/main" val="222773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a:p>
        </p:txBody>
      </p:sp>
      <p:sp>
        <p:nvSpPr>
          <p:cNvPr id="4" name="Slide Number Placeholder 3"/>
          <p:cNvSpPr>
            <a:spLocks noGrp="1"/>
          </p:cNvSpPr>
          <p:nvPr>
            <p:ph type="sldNum" sz="quarter" idx="5"/>
          </p:nvPr>
        </p:nvSpPr>
        <p:spPr/>
        <p:txBody>
          <a:bodyPr/>
          <a:lstStyle/>
          <a:p>
            <a:fld id="{9178FEFF-10ED-074F-B833-BEE546AC0D41}" type="slidenum">
              <a:rPr lang="en-US" smtClean="0"/>
              <a:t>2</a:t>
            </a:fld>
            <a:endParaRPr lang="en-US"/>
          </a:p>
        </p:txBody>
      </p:sp>
    </p:spTree>
    <p:extLst>
      <p:ext uri="{BB962C8B-B14F-4D97-AF65-F5344CB8AC3E}">
        <p14:creationId xmlns:p14="http://schemas.microsoft.com/office/powerpoint/2010/main" val="2551724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9178FEFF-10ED-074F-B833-BEE546AC0D41}" type="slidenum">
              <a:rPr lang="en-US" smtClean="0"/>
              <a:t>5</a:t>
            </a:fld>
            <a:endParaRPr lang="en-US"/>
          </a:p>
        </p:txBody>
      </p:sp>
    </p:spTree>
    <p:extLst>
      <p:ext uri="{BB962C8B-B14F-4D97-AF65-F5344CB8AC3E}">
        <p14:creationId xmlns:p14="http://schemas.microsoft.com/office/powerpoint/2010/main" val="2514777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A priority queue differs from a regular queue in that elements have associated priorities, and we always access the element with the highest priority (or lowest value in a min-priority queue) first, regardless of insertion order.</a:t>
            </a:r>
            <a:endParaRPr lang="en-US" dirty="0"/>
          </a:p>
        </p:txBody>
      </p:sp>
      <p:sp>
        <p:nvSpPr>
          <p:cNvPr id="4" name="Slide Number Placeholder 3"/>
          <p:cNvSpPr>
            <a:spLocks noGrp="1"/>
          </p:cNvSpPr>
          <p:nvPr>
            <p:ph type="sldNum" sz="quarter" idx="10"/>
          </p:nvPr>
        </p:nvSpPr>
        <p:spPr/>
        <p:txBody>
          <a:bodyPr/>
          <a:lstStyle/>
          <a:p>
            <a:fld id="{1952EA7D-4BA2-4E8E-987D-617FF4A2559A}" type="slidenum">
              <a:rPr lang="en-US" smtClean="0"/>
              <a:t>6</a:t>
            </a:fld>
            <a:endParaRPr lang="en-US"/>
          </a:p>
        </p:txBody>
      </p:sp>
    </p:spTree>
    <p:extLst>
      <p:ext uri="{BB962C8B-B14F-4D97-AF65-F5344CB8AC3E}">
        <p14:creationId xmlns:p14="http://schemas.microsoft.com/office/powerpoint/2010/main" val="4263944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we'll now examine Binary Trees, which serve as one of the most efficient implementations for priority queues.</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example shown on the right illustrates a complete binary tree. This structure allows us to implement all priority queue operations efficiently</a:t>
            </a:r>
            <a:endParaRPr lang="en-US" dirty="0"/>
          </a:p>
        </p:txBody>
      </p:sp>
      <p:sp>
        <p:nvSpPr>
          <p:cNvPr id="4" name="Slide Number Placeholder 3"/>
          <p:cNvSpPr>
            <a:spLocks noGrp="1"/>
          </p:cNvSpPr>
          <p:nvPr>
            <p:ph type="sldNum" sz="quarter" idx="10"/>
          </p:nvPr>
        </p:nvSpPr>
        <p:spPr/>
        <p:txBody>
          <a:bodyPr/>
          <a:lstStyle/>
          <a:p>
            <a:fld id="{1952EA7D-4BA2-4E8E-987D-617FF4A2559A}" type="slidenum">
              <a:rPr lang="en-US" smtClean="0"/>
              <a:t>7</a:t>
            </a:fld>
            <a:endParaRPr lang="en-US"/>
          </a:p>
        </p:txBody>
      </p:sp>
    </p:spTree>
    <p:extLst>
      <p:ext uri="{BB962C8B-B14F-4D97-AF65-F5344CB8AC3E}">
        <p14:creationId xmlns:p14="http://schemas.microsoft.com/office/powerpoint/2010/main" val="1462212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לציין את הגובה </a:t>
            </a:r>
            <a:endParaRPr lang="en-US" dirty="0"/>
          </a:p>
        </p:txBody>
      </p:sp>
      <p:sp>
        <p:nvSpPr>
          <p:cNvPr id="4" name="Slide Number Placeholder 3"/>
          <p:cNvSpPr>
            <a:spLocks noGrp="1"/>
          </p:cNvSpPr>
          <p:nvPr>
            <p:ph type="sldNum" sz="quarter" idx="10"/>
          </p:nvPr>
        </p:nvSpPr>
        <p:spPr/>
        <p:txBody>
          <a:bodyPr/>
          <a:lstStyle/>
          <a:p>
            <a:fld id="{1952EA7D-4BA2-4E8E-987D-617FF4A2559A}" type="slidenum">
              <a:rPr lang="en-US" smtClean="0"/>
              <a:t>9</a:t>
            </a:fld>
            <a:endParaRPr lang="en-US"/>
          </a:p>
        </p:txBody>
      </p:sp>
    </p:spTree>
    <p:extLst>
      <p:ext uri="{BB962C8B-B14F-4D97-AF65-F5344CB8AC3E}">
        <p14:creationId xmlns:p14="http://schemas.microsoft.com/office/powerpoint/2010/main" val="1826880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Each element includes both the data and the key. The data always goes with the key. But we are going to ignore the fact that there is data over there for now.</a:t>
            </a:r>
          </a:p>
          <a:p>
            <a:pPr marL="0" algn="l" defTabSz="914400" rtl="0" eaLnBrk="1" latinLnBrk="0" hangingPunct="1"/>
            <a:endParaRPr lang="en-US" dirty="0"/>
          </a:p>
        </p:txBody>
      </p:sp>
      <p:sp>
        <p:nvSpPr>
          <p:cNvPr id="4" name="Slide Number Placeholder 3"/>
          <p:cNvSpPr>
            <a:spLocks noGrp="1"/>
          </p:cNvSpPr>
          <p:nvPr>
            <p:ph type="sldNum" sz="quarter" idx="5"/>
          </p:nvPr>
        </p:nvSpPr>
        <p:spPr/>
        <p:txBody>
          <a:bodyPr/>
          <a:lstStyle/>
          <a:p>
            <a:fld id="{1952EA7D-4BA2-4E8E-987D-617FF4A2559A}" type="slidenum">
              <a:rPr lang="en-US" smtClean="0"/>
              <a:t>10</a:t>
            </a:fld>
            <a:endParaRPr lang="en-US"/>
          </a:p>
        </p:txBody>
      </p:sp>
    </p:spTree>
    <p:extLst>
      <p:ext uri="{BB962C8B-B14F-4D97-AF65-F5344CB8AC3E}">
        <p14:creationId xmlns:p14="http://schemas.microsoft.com/office/powerpoint/2010/main" val="2008888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nearly complete binary tree, approximately half of the vertices end up being leaves because every internal node (non-leaf) typically has exactly two children.</a:t>
            </a:r>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11</a:t>
            </a:fld>
            <a:endParaRPr lang="en-US"/>
          </a:p>
        </p:txBody>
      </p:sp>
    </p:spTree>
    <p:extLst>
      <p:ext uri="{BB962C8B-B14F-4D97-AF65-F5344CB8AC3E}">
        <p14:creationId xmlns:p14="http://schemas.microsoft.com/office/powerpoint/2010/main" val="3090205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 A </a:t>
            </a:r>
            <a:r>
              <a:rPr lang="en-US" b="1" dirty="0"/>
              <a:t>complete binary tree</a:t>
            </a:r>
            <a:r>
              <a:rPr lang="en-US" dirty="0"/>
              <a:t> at depth k-1 clearly has exactly:</a:t>
            </a:r>
          </a:p>
          <a:p>
            <a:pPr>
              <a:buNone/>
            </a:pPr>
            <a:r>
              <a:rPr lang="en-US" dirty="0"/>
              <a:t>• (2^k) - 1 vertices (since it has 1 + 2 + 4 + … + 2^{k-1} nodes).</a:t>
            </a:r>
          </a:p>
          <a:p>
            <a:pPr>
              <a:buNone/>
            </a:pPr>
            <a:r>
              <a:rPr lang="en-US" dirty="0"/>
              <a:t>• A </a:t>
            </a:r>
            <a:r>
              <a:rPr lang="en-US" b="1" dirty="0"/>
              <a:t>almost complete binary tree</a:t>
            </a:r>
            <a:r>
              <a:rPr lang="en-US" dirty="0"/>
              <a:t> explicitly means we add some leaves at the next depth (depth k). Clearly, let’s say explicitly that at depth k, we have exactly l leaves.</a:t>
            </a:r>
          </a:p>
          <a:p>
            <a:pPr>
              <a:buNone/>
            </a:pPr>
            <a:br>
              <a:rPr lang="en-US" dirty="0"/>
            </a:br>
            <a:endParaRPr lang="en-US" dirty="0"/>
          </a:p>
          <a:p>
            <a:pPr>
              <a:buNone/>
            </a:pPr>
            <a:r>
              <a:rPr lang="en-US" dirty="0"/>
              <a:t>Thus, explicitly and clearly, the total number of vertices is:</a:t>
            </a:r>
          </a:p>
          <a:p>
            <a:pPr>
              <a:buNone/>
            </a:pPr>
            <a:br>
              <a:rPr lang="en-US" dirty="0"/>
            </a:br>
            <a:endParaRPr lang="en-US" dirty="0"/>
          </a:p>
          <a:p>
            <a:r>
              <a:rPr lang="en-US" dirty="0"/>
              <a:t>n = ({full tree at depth } k-1) + ({leaves at depth } k) = (2^k - 1) + l</a:t>
            </a:r>
          </a:p>
          <a:p>
            <a:pPr marL="0" algn="l" defTabSz="914400" rtl="0" eaLnBrk="1" latinLnBrk="0" hangingPunct="1"/>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12</a:t>
            </a:fld>
            <a:endParaRPr lang="en-US"/>
          </a:p>
        </p:txBody>
      </p:sp>
    </p:spTree>
    <p:extLst>
      <p:ext uri="{BB962C8B-B14F-4D97-AF65-F5344CB8AC3E}">
        <p14:creationId xmlns:p14="http://schemas.microsoft.com/office/powerpoint/2010/main" val="823028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r>
              <a:rPr lang="en-GB" dirty="0"/>
              <a:t>F</a:t>
            </a:r>
            <a:r>
              <a:rPr lang="en-US" dirty="0" err="1"/>
              <a:t>ull</a:t>
            </a:r>
            <a:r>
              <a:rPr lang="en-US" dirty="0"/>
              <a:t> expansion of one of the cases from the previous slide. </a:t>
            </a:r>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13</a:t>
            </a:fld>
            <a:endParaRPr lang="en-US"/>
          </a:p>
        </p:txBody>
      </p:sp>
    </p:spTree>
    <p:extLst>
      <p:ext uri="{BB962C8B-B14F-4D97-AF65-F5344CB8AC3E}">
        <p14:creationId xmlns:p14="http://schemas.microsoft.com/office/powerpoint/2010/main" val="2044956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52EA7D-4BA2-4E8E-987D-617FF4A2559A}" type="slidenum">
              <a:rPr lang="en-US" smtClean="0"/>
              <a:t>14</a:t>
            </a:fld>
            <a:endParaRPr lang="en-US"/>
          </a:p>
        </p:txBody>
      </p:sp>
    </p:spTree>
    <p:extLst>
      <p:ext uri="{BB962C8B-B14F-4D97-AF65-F5344CB8AC3E}">
        <p14:creationId xmlns:p14="http://schemas.microsoft.com/office/powerpoint/2010/main" val="621043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52EA7D-4BA2-4E8E-987D-617FF4A2559A}" type="slidenum">
              <a:rPr lang="en-US" smtClean="0"/>
              <a:t>15</a:t>
            </a:fld>
            <a:endParaRPr lang="en-US"/>
          </a:p>
        </p:txBody>
      </p:sp>
    </p:spTree>
    <p:extLst>
      <p:ext uri="{BB962C8B-B14F-4D97-AF65-F5344CB8AC3E}">
        <p14:creationId xmlns:p14="http://schemas.microsoft.com/office/powerpoint/2010/main" val="3495900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52EA7D-4BA2-4E8E-987D-617FF4A2559A}" type="slidenum">
              <a:rPr lang="en-US" smtClean="0"/>
              <a:t>16</a:t>
            </a:fld>
            <a:endParaRPr lang="en-US"/>
          </a:p>
        </p:txBody>
      </p:sp>
    </p:spTree>
    <p:extLst>
      <p:ext uri="{BB962C8B-B14F-4D97-AF65-F5344CB8AC3E}">
        <p14:creationId xmlns:p14="http://schemas.microsoft.com/office/powerpoint/2010/main" val="2884366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r>
              <a:rPr lang="en-US" dirty="0"/>
              <a:t>Solution</a:t>
            </a:r>
          </a:p>
          <a:p>
            <a:pPr marL="0" algn="l" defTabSz="914400" rtl="0" eaLnBrk="1" latinLnBrk="0" hangingPunct="1"/>
            <a:r>
              <a:rPr lang="en-US" dirty="0"/>
              <a:t>In a binary heap implemented as an array:</a:t>
            </a:r>
          </a:p>
          <a:p>
            <a:pPr marL="0" algn="l" defTabSz="914400" rtl="0" eaLnBrk="1" latinLnBrk="0" hangingPunct="1"/>
            <a:r>
              <a:rPr lang="en-US" dirty="0"/>
              <a:t>• The left child of a node at index </a:t>
            </a:r>
            <a:r>
              <a:rPr lang="en-US" dirty="0" err="1"/>
              <a:t>i</a:t>
            </a:r>
            <a:r>
              <a:rPr lang="en-US" dirty="0"/>
              <a:t> is at 2i.</a:t>
            </a:r>
          </a:p>
          <a:p>
            <a:pPr marL="0" algn="l" defTabSz="914400" rtl="0" eaLnBrk="1" latinLnBrk="0" hangingPunct="1"/>
            <a:r>
              <a:rPr lang="en-US" dirty="0"/>
              <a:t>• The right child of a node at index </a:t>
            </a:r>
            <a:r>
              <a:rPr lang="en-US" dirty="0" err="1"/>
              <a:t>i</a:t>
            </a:r>
            <a:r>
              <a:rPr lang="en-US" dirty="0"/>
              <a:t> is at 2i + 1.</a:t>
            </a:r>
          </a:p>
          <a:p>
            <a:pPr marL="0" algn="l" defTabSz="914400" rtl="0" eaLnBrk="1" latinLnBrk="0" hangingPunct="1"/>
            <a:endParaRPr lang="en-US" dirty="0"/>
          </a:p>
          <a:p>
            <a:pPr marL="0" algn="l" defTabSz="914400" rtl="0" eaLnBrk="1" latinLnBrk="0" hangingPunct="1"/>
            <a:r>
              <a:rPr lang="en-US" dirty="0"/>
              <a:t>This implies that the parent of a node must be at an index that, when multiplied by 2, can produce the child's index </a:t>
            </a:r>
            <a:r>
              <a:rPr lang="en-US" dirty="0" err="1"/>
              <a:t>i</a:t>
            </a:r>
            <a:r>
              <a:rPr lang="en-US" dirty="0"/>
              <a:t> (for the left child) or </a:t>
            </a:r>
            <a:r>
              <a:rPr lang="en-US" dirty="0" err="1"/>
              <a:t>i</a:t>
            </a:r>
            <a:r>
              <a:rPr lang="en-US" dirty="0"/>
              <a:t> - 1 (for the right child). Mathematically:</a:t>
            </a:r>
          </a:p>
          <a:p>
            <a:pPr marL="0" algn="l" defTabSz="914400" rtl="0" eaLnBrk="1" latinLnBrk="0" hangingPunct="1"/>
            <a:endParaRPr lang="en-US" dirty="0"/>
          </a:p>
          <a:p>
            <a:pPr marL="0" algn="l" defTabSz="914400" rtl="0" eaLnBrk="1" latinLnBrk="0" hangingPunct="1"/>
            <a:r>
              <a:rPr lang="en-US" dirty="0"/>
              <a:t>• If </a:t>
            </a:r>
            <a:r>
              <a:rPr lang="en-US" dirty="0" err="1"/>
              <a:t>i</a:t>
            </a:r>
            <a:r>
              <a:rPr lang="en-US" dirty="0"/>
              <a:t> = 2p (where p is the parent's index), then the node at p is the parent of the left child at 2p.</a:t>
            </a:r>
          </a:p>
          <a:p>
            <a:pPr marL="0" algn="l" defTabSz="914400" rtl="0" eaLnBrk="1" latinLnBrk="0" hangingPunct="1"/>
            <a:r>
              <a:rPr lang="en-US" dirty="0"/>
              <a:t>• If </a:t>
            </a:r>
            <a:r>
              <a:rPr lang="en-US" dirty="0" err="1"/>
              <a:t>i</a:t>
            </a:r>
            <a:r>
              <a:rPr lang="en-US" dirty="0"/>
              <a:t> = 2p + 1, then the node at p is the parent of the right child at 2p + 1.</a:t>
            </a:r>
          </a:p>
          <a:p>
            <a:pPr marL="0" algn="l" defTabSz="914400" rtl="0" eaLnBrk="1" latinLnBrk="0" hangingPunct="1"/>
            <a:endParaRPr lang="en-US" dirty="0"/>
          </a:p>
          <a:p>
            <a:pPr marL="0" algn="l" defTabSz="914400" rtl="0" eaLnBrk="1" latinLnBrk="0" hangingPunct="1"/>
            <a:r>
              <a:rPr lang="en-US" dirty="0"/>
              <a:t>To generalize, the parent of a node at index </a:t>
            </a:r>
            <a:r>
              <a:rPr lang="en-US" dirty="0" err="1"/>
              <a:t>i</a:t>
            </a:r>
            <a:r>
              <a:rPr lang="en-US" dirty="0"/>
              <a:t> can be found by taking the integer division of </a:t>
            </a:r>
            <a:r>
              <a:rPr lang="en-US" dirty="0" err="1"/>
              <a:t>i</a:t>
            </a:r>
            <a:r>
              <a:rPr lang="en-US" dirty="0"/>
              <a:t> by 2,</a:t>
            </a:r>
          </a:p>
          <a:p>
            <a:pPr marL="0" algn="l" defTabSz="914400" rtl="0" eaLnBrk="1" latinLnBrk="0" hangingPunct="1"/>
            <a:r>
              <a:rPr lang="en-US" dirty="0"/>
              <a:t>which is </a:t>
            </a:r>
            <a:r>
              <a:rPr lang="en-US" b="1" dirty="0"/>
              <a:t>floor(</a:t>
            </a:r>
            <a:r>
              <a:rPr lang="en-US" b="1" dirty="0" err="1"/>
              <a:t>i</a:t>
            </a:r>
            <a:r>
              <a:rPr lang="en-US" b="1" dirty="0"/>
              <a:t>/2). </a:t>
            </a:r>
          </a:p>
          <a:p>
            <a:pPr marL="0" algn="l" defTabSz="914400" rtl="0" eaLnBrk="1" latinLnBrk="0" hangingPunct="1"/>
            <a:endParaRPr lang="en-US" dirty="0"/>
          </a:p>
          <a:p>
            <a:pPr marL="0" algn="l" defTabSz="914400" rtl="0" eaLnBrk="1" latinLnBrk="0" hangingPunct="1"/>
            <a:r>
              <a:rPr lang="en-US" dirty="0"/>
              <a:t>This works because:</a:t>
            </a:r>
          </a:p>
          <a:p>
            <a:pPr marL="0" algn="l" defTabSz="914400" rtl="0" eaLnBrk="1" latinLnBrk="0" hangingPunct="1"/>
            <a:r>
              <a:rPr lang="en-US" dirty="0"/>
              <a:t>• For a left child at 2p, floor(2p/2) = p.</a:t>
            </a:r>
          </a:p>
          <a:p>
            <a:pPr marL="0" algn="l" defTabSz="914400" rtl="0" eaLnBrk="1" latinLnBrk="0" hangingPunct="1"/>
            <a:r>
              <a:rPr lang="en-US" dirty="0"/>
              <a:t>• For a right child at 2p + 1, floor((2p + 1) / 2) = p (since the division truncates the remainder).</a:t>
            </a:r>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17</a:t>
            </a:fld>
            <a:endParaRPr lang="en-US"/>
          </a:p>
        </p:txBody>
      </p:sp>
    </p:spTree>
    <p:extLst>
      <p:ext uri="{BB962C8B-B14F-4D97-AF65-F5344CB8AC3E}">
        <p14:creationId xmlns:p14="http://schemas.microsoft.com/office/powerpoint/2010/main" val="1117622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Notice how the tree visualization shows the max heap property in action - the root value 16 is the maximum, and each parent is greater than its children throughout the structure.</a:t>
            </a:r>
          </a:p>
          <a:p>
            <a:endParaRPr lang="en-US" b="0" i="0" u="none" strike="noStrike" dirty="0">
              <a:solidFill>
                <a:srgbClr val="000000"/>
              </a:solidFill>
              <a:effectLst/>
              <a:latin typeface="-webkit-standard"/>
            </a:endParaRPr>
          </a:p>
          <a:p>
            <a:endParaRPr lang="en-US" b="0" i="0" u="none" strike="noStrike" dirty="0">
              <a:solidFill>
                <a:srgbClr val="000000"/>
              </a:solidFill>
              <a:effectLst/>
              <a:latin typeface="-webkit-standard"/>
            </a:endParaRPr>
          </a:p>
          <a:p>
            <a:pPr algn="l">
              <a:buNone/>
            </a:pPr>
            <a:r>
              <a:rPr lang="en-US" b="0" i="0" u="none" strike="noStrike" dirty="0">
                <a:solidFill>
                  <a:srgbClr val="000000"/>
                </a:solidFill>
                <a:effectLst/>
              </a:rPr>
              <a:t>The array implementation on the right directly corresponds to the tree structure on the left. The index positions (1-10) at the top of the array show where each element is stored.</a:t>
            </a:r>
          </a:p>
          <a:p>
            <a:pPr algn="l">
              <a:buNone/>
            </a:pPr>
            <a:r>
              <a:rPr lang="en-US" b="0" i="0" u="none" strike="noStrike" dirty="0">
                <a:solidFill>
                  <a:srgbClr val="000000"/>
                </a:solidFill>
                <a:effectLst/>
              </a:rPr>
              <a:t>At the bottom of the slide, we have the three fundamental navigational functions for our heap:</a:t>
            </a:r>
          </a:p>
          <a:p>
            <a:pPr algn="l">
              <a:buFont typeface="Arial" panose="020B0604020202020204" pitchFamily="34" charset="0"/>
              <a:buChar char="•"/>
            </a:pPr>
            <a:r>
              <a:rPr lang="en-US" b="0" i="0" u="none" strike="noStrike" dirty="0">
                <a:solidFill>
                  <a:srgbClr val="000000"/>
                </a:solidFill>
                <a:effectLst/>
              </a:rPr>
              <a:t>Parent(</a:t>
            </a:r>
            <a:r>
              <a:rPr lang="en-US" b="0" i="0" u="none" strike="noStrike" dirty="0" err="1">
                <a:solidFill>
                  <a:srgbClr val="000000"/>
                </a:solidFill>
                <a:effectLst/>
              </a:rPr>
              <a:t>i</a:t>
            </a:r>
            <a:r>
              <a:rPr lang="en-US" b="0" i="0" u="none" strike="noStrike" dirty="0">
                <a:solidFill>
                  <a:srgbClr val="000000"/>
                </a:solidFill>
                <a:effectLst/>
              </a:rPr>
              <a:t>) returns ⌊</a:t>
            </a:r>
            <a:r>
              <a:rPr lang="en-US" b="0" i="0" u="none" strike="noStrike" dirty="0" err="1">
                <a:solidFill>
                  <a:srgbClr val="000000"/>
                </a:solidFill>
                <a:effectLst/>
              </a:rPr>
              <a:t>i</a:t>
            </a:r>
            <a:r>
              <a:rPr lang="en-US" b="0" i="0" u="none" strike="noStrike" dirty="0">
                <a:solidFill>
                  <a:srgbClr val="000000"/>
                </a:solidFill>
                <a:effectLst/>
              </a:rPr>
              <a:t>/2⌋ - the index of node i's parent</a:t>
            </a:r>
          </a:p>
          <a:p>
            <a:pPr algn="l">
              <a:buFont typeface="Arial" panose="020B0604020202020204" pitchFamily="34" charset="0"/>
              <a:buChar char="•"/>
            </a:pPr>
            <a:r>
              <a:rPr lang="en-US" b="0" i="0" u="none" strike="noStrike" dirty="0">
                <a:solidFill>
                  <a:srgbClr val="000000"/>
                </a:solidFill>
                <a:effectLst/>
              </a:rPr>
              <a:t>Left(</a:t>
            </a:r>
            <a:r>
              <a:rPr lang="en-US" b="0" i="0" u="none" strike="noStrike" dirty="0" err="1">
                <a:solidFill>
                  <a:srgbClr val="000000"/>
                </a:solidFill>
                <a:effectLst/>
              </a:rPr>
              <a:t>i</a:t>
            </a:r>
            <a:r>
              <a:rPr lang="en-US" b="0" i="0" u="none" strike="noStrike" dirty="0">
                <a:solidFill>
                  <a:srgbClr val="000000"/>
                </a:solidFill>
                <a:effectLst/>
              </a:rPr>
              <a:t>) returns 2i - the index of node i's left child</a:t>
            </a:r>
          </a:p>
          <a:p>
            <a:pPr algn="l">
              <a:buFont typeface="Arial" panose="020B0604020202020204" pitchFamily="34" charset="0"/>
              <a:buChar char="•"/>
            </a:pPr>
            <a:r>
              <a:rPr lang="en-US" b="0" i="0" u="none" strike="noStrike" dirty="0">
                <a:solidFill>
                  <a:srgbClr val="000000"/>
                </a:solidFill>
                <a:effectLst/>
              </a:rPr>
              <a:t>Right(</a:t>
            </a:r>
            <a:r>
              <a:rPr lang="en-US" b="0" i="0" u="none" strike="noStrike" dirty="0" err="1">
                <a:solidFill>
                  <a:srgbClr val="000000"/>
                </a:solidFill>
                <a:effectLst/>
              </a:rPr>
              <a:t>i</a:t>
            </a:r>
            <a:r>
              <a:rPr lang="en-US" b="0" i="0" u="none" strike="noStrike" dirty="0">
                <a:solidFill>
                  <a:srgbClr val="000000"/>
                </a:solidFill>
                <a:effectLst/>
              </a:rPr>
              <a:t>) returns 2i+1 - the index of node i's right child</a:t>
            </a:r>
          </a:p>
          <a:p>
            <a:pPr algn="l"/>
            <a:r>
              <a:rPr lang="en-US" b="0" i="0" u="none" strike="noStrike" dirty="0">
                <a:solidFill>
                  <a:srgbClr val="000000"/>
                </a:solidFill>
                <a:effectLst/>
              </a:rPr>
              <a:t>This implementation is described as an 'almost complete binary tree' because while the tree is filled at all levels except possibly the bottom level, which is filled from left to right. This property ensures the heap remains balanced, which gives us O(log n) time complexity for key operations.</a:t>
            </a:r>
          </a:p>
          <a:p>
            <a:endParaRPr lang="en-US" b="0" i="0" u="none" strike="noStrike" dirty="0">
              <a:solidFill>
                <a:srgbClr val="000000"/>
              </a:solidFill>
              <a:effectLst/>
              <a:latin typeface="-webkit-standard"/>
            </a:endParaRPr>
          </a:p>
          <a:p>
            <a:endParaRPr lang="en-US" b="0" i="0" u="none" strike="noStrike" dirty="0">
              <a:solidFill>
                <a:srgbClr val="000000"/>
              </a:solidFill>
              <a:effectLst/>
              <a:latin typeface="-webkit-standard"/>
            </a:endParaRPr>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18</a:t>
            </a:fld>
            <a:endParaRPr lang="en-US"/>
          </a:p>
        </p:txBody>
      </p:sp>
    </p:spTree>
    <p:extLst>
      <p:ext uri="{BB962C8B-B14F-4D97-AF65-F5344CB8AC3E}">
        <p14:creationId xmlns:p14="http://schemas.microsoft.com/office/powerpoint/2010/main" val="1611510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Pseudocode Improvement Suggestion:</a:t>
            </a:r>
            <a:br>
              <a:rPr lang="en-IL" dirty="0"/>
            </a:br>
            <a:br>
              <a:rPr lang="en-IL" dirty="0"/>
            </a:br>
            <a:r>
              <a:rPr lang="en-US" b="0" i="0" u="none" strike="noStrike" dirty="0">
                <a:solidFill>
                  <a:srgbClr val="000000"/>
                </a:solidFill>
                <a:effectLst/>
              </a:rPr>
              <a:t>For </a:t>
            </a:r>
            <a:r>
              <a:rPr lang="en-US" b="1" i="0" u="none" strike="noStrike" dirty="0" err="1">
                <a:solidFill>
                  <a:srgbClr val="000000"/>
                </a:solidFill>
                <a:effectLst/>
              </a:rPr>
              <a:t>PercolateDown</a:t>
            </a:r>
            <a:r>
              <a:rPr lang="en-US" b="1" i="0" u="none" strike="noStrike" dirty="0">
                <a:solidFill>
                  <a:srgbClr val="000000"/>
                </a:solidFill>
                <a:effectLst/>
              </a:rPr>
              <a:t>(</a:t>
            </a:r>
            <a:r>
              <a:rPr lang="en-US" b="1" i="0" u="none" strike="noStrike" dirty="0" err="1">
                <a:solidFill>
                  <a:srgbClr val="000000"/>
                </a:solidFill>
                <a:effectLst/>
              </a:rPr>
              <a:t>i</a:t>
            </a:r>
            <a:r>
              <a:rPr lang="en-US" b="1" i="0" u="none" strike="noStrike" dirty="0">
                <a:solidFill>
                  <a:srgbClr val="000000"/>
                </a:solidFill>
                <a:effectLst/>
              </a:rPr>
              <a:t>)</a:t>
            </a:r>
            <a:r>
              <a:rPr lang="en-US" b="0" i="0" u="none" strike="noStrike" dirty="0">
                <a:solidFill>
                  <a:srgbClr val="000000"/>
                </a:solidFill>
                <a:effectLst/>
              </a:rPr>
              <a:t>, add: if (2i &gt; n) break; (where n is the heap size) to handle leaves.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For </a:t>
            </a:r>
            <a:r>
              <a:rPr lang="en-US" b="1" i="0" u="none" strike="noStrike" dirty="0" err="1">
                <a:solidFill>
                  <a:srgbClr val="000000"/>
                </a:solidFill>
                <a:effectLst/>
              </a:rPr>
              <a:t>PercolateUp</a:t>
            </a:r>
            <a:r>
              <a:rPr lang="en-US" b="1" i="0" u="none" strike="noStrike" dirty="0">
                <a:solidFill>
                  <a:srgbClr val="000000"/>
                </a:solidFill>
                <a:effectLst/>
              </a:rPr>
              <a:t>(</a:t>
            </a:r>
            <a:r>
              <a:rPr lang="en-US" b="1" i="0" u="none" strike="noStrike" dirty="0" err="1">
                <a:solidFill>
                  <a:srgbClr val="000000"/>
                </a:solidFill>
                <a:effectLst/>
              </a:rPr>
              <a:t>i</a:t>
            </a:r>
            <a:r>
              <a:rPr lang="en-US" b="1" i="0" u="none" strike="noStrike" dirty="0">
                <a:solidFill>
                  <a:srgbClr val="000000"/>
                </a:solidFill>
                <a:effectLst/>
              </a:rPr>
              <a:t>)</a:t>
            </a:r>
            <a:r>
              <a:rPr lang="en-US" b="0" i="0" u="none" strike="noStrike" dirty="0">
                <a:solidFill>
                  <a:srgbClr val="000000"/>
                </a:solidFill>
                <a:effectLst/>
              </a:rPr>
              <a:t>, add: if (</a:t>
            </a:r>
            <a:r>
              <a:rPr lang="en-US" b="0" i="0" u="none" strike="noStrike" dirty="0" err="1">
                <a:solidFill>
                  <a:srgbClr val="000000"/>
                </a:solidFill>
                <a:effectLst/>
              </a:rPr>
              <a:t>i</a:t>
            </a:r>
            <a:r>
              <a:rPr lang="en-US" b="0" i="0" u="none" strike="noStrike" dirty="0">
                <a:solidFill>
                  <a:srgbClr val="000000"/>
                </a:solidFill>
                <a:effectLst/>
              </a:rPr>
              <a:t> ≤ 1) break; to handle the root.</a:t>
            </a:r>
          </a:p>
          <a:p>
            <a:r>
              <a:rPr lang="en-IL" dirty="0"/>
              <a:t>  </a:t>
            </a:r>
          </a:p>
        </p:txBody>
      </p:sp>
      <p:sp>
        <p:nvSpPr>
          <p:cNvPr id="4" name="Slide Number Placeholder 3"/>
          <p:cNvSpPr>
            <a:spLocks noGrp="1"/>
          </p:cNvSpPr>
          <p:nvPr>
            <p:ph type="sldNum" sz="quarter" idx="5"/>
          </p:nvPr>
        </p:nvSpPr>
        <p:spPr/>
        <p:txBody>
          <a:bodyPr/>
          <a:lstStyle/>
          <a:p>
            <a:fld id="{1952EA7D-4BA2-4E8E-987D-617FF4A2559A}" type="slidenum">
              <a:rPr lang="en-US" smtClean="0"/>
              <a:t>19</a:t>
            </a:fld>
            <a:endParaRPr lang="en-US"/>
          </a:p>
        </p:txBody>
      </p:sp>
    </p:spTree>
    <p:extLst>
      <p:ext uri="{BB962C8B-B14F-4D97-AF65-F5344CB8AC3E}">
        <p14:creationId xmlns:p14="http://schemas.microsoft.com/office/powerpoint/2010/main" val="232875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u="none" strike="noStrike" dirty="0">
                <a:solidFill>
                  <a:srgbClr val="000000"/>
                </a:solidFill>
                <a:effectLst/>
              </a:rPr>
              <a:t>Starting with the root (</a:t>
            </a:r>
            <a:r>
              <a:rPr lang="en-US" b="0" i="0" u="none" strike="noStrike" dirty="0" err="1">
                <a:solidFill>
                  <a:srgbClr val="000000"/>
                </a:solidFill>
                <a:effectLst/>
              </a:rPr>
              <a:t>i</a:t>
            </a:r>
            <a:r>
              <a:rPr lang="en-US" b="0" i="0" u="none" strike="noStrike" dirty="0">
                <a:solidFill>
                  <a:srgbClr val="000000"/>
                </a:solidFill>
                <a:effectLst/>
              </a:rPr>
              <a:t> = 1):</a:t>
            </a:r>
          </a:p>
          <a:p>
            <a:pPr algn="l">
              <a:buFont typeface="+mj-lt"/>
              <a:buAutoNum type="arabicPeriod"/>
            </a:pPr>
            <a:r>
              <a:rPr lang="en-US" b="0" i="0" u="none" strike="noStrike" dirty="0">
                <a:solidFill>
                  <a:srgbClr val="000000"/>
                </a:solidFill>
                <a:effectLst/>
              </a:rPr>
              <a:t>Compare A[1] = 8 with its children:</a:t>
            </a:r>
          </a:p>
          <a:p>
            <a:pPr marL="742950" lvl="1" indent="-285750" algn="l">
              <a:buFont typeface="+mj-lt"/>
              <a:buAutoNum type="arabicPeriod"/>
            </a:pPr>
            <a:r>
              <a:rPr lang="en-US" b="0" i="0" u="none" strike="noStrike" dirty="0">
                <a:solidFill>
                  <a:srgbClr val="000000"/>
                </a:solidFill>
                <a:effectLst/>
              </a:rPr>
              <a:t>Left child A[2] = 25</a:t>
            </a:r>
          </a:p>
          <a:p>
            <a:pPr marL="742950" lvl="1" indent="-285750" algn="l">
              <a:buFont typeface="+mj-lt"/>
              <a:buAutoNum type="arabicPeriod"/>
            </a:pPr>
            <a:r>
              <a:rPr lang="en-US" b="0" i="0" u="none" strike="noStrike" dirty="0">
                <a:solidFill>
                  <a:srgbClr val="000000"/>
                </a:solidFill>
                <a:effectLst/>
              </a:rPr>
              <a:t>Right child A[3] = 13</a:t>
            </a:r>
          </a:p>
          <a:p>
            <a:pPr marL="742950" lvl="1" indent="-285750" algn="l">
              <a:buFont typeface="+mj-lt"/>
              <a:buAutoNum type="arabicPeriod"/>
            </a:pPr>
            <a:r>
              <a:rPr lang="en-US" b="0" i="0" u="none" strike="noStrike" dirty="0">
                <a:solidFill>
                  <a:srgbClr val="000000"/>
                </a:solidFill>
                <a:effectLst/>
              </a:rPr>
              <a:t>The maximal child is 25 at index j = 2</a:t>
            </a:r>
          </a:p>
          <a:p>
            <a:pPr algn="l">
              <a:buFont typeface="+mj-lt"/>
              <a:buAutoNum type="arabicPeriod"/>
            </a:pPr>
            <a:r>
              <a:rPr lang="en-US" b="0" i="0" u="none" strike="noStrike" dirty="0">
                <a:solidFill>
                  <a:srgbClr val="000000"/>
                </a:solidFill>
                <a:effectLst/>
              </a:rPr>
              <a:t>Since 8 &lt; 25, swap A[1] and A[2]:</a:t>
            </a:r>
          </a:p>
          <a:p>
            <a:pPr marL="742950" lvl="1" indent="-285750" algn="l">
              <a:buFont typeface="+mj-lt"/>
              <a:buAutoNum type="arabicPeriod"/>
            </a:pPr>
            <a:r>
              <a:rPr lang="en-US" b="0" i="0" u="none" strike="noStrike" dirty="0">
                <a:solidFill>
                  <a:srgbClr val="000000"/>
                </a:solidFill>
                <a:effectLst/>
              </a:rPr>
              <a:t>A[1] = 25</a:t>
            </a:r>
          </a:p>
          <a:p>
            <a:pPr marL="742950" lvl="1" indent="-285750" algn="l">
              <a:buFont typeface="+mj-lt"/>
              <a:buAutoNum type="arabicPeriod"/>
            </a:pPr>
            <a:r>
              <a:rPr lang="en-US" b="0" i="0" u="none" strike="noStrike" dirty="0">
                <a:solidFill>
                  <a:srgbClr val="000000"/>
                </a:solidFill>
                <a:effectLst/>
              </a:rPr>
              <a:t>A[2] = 8</a:t>
            </a:r>
          </a:p>
          <a:p>
            <a:pPr marL="742950" lvl="1" indent="-285750" algn="l">
              <a:buFont typeface="+mj-lt"/>
              <a:buAutoNum type="arabicPeriod"/>
            </a:pPr>
            <a:r>
              <a:rPr lang="en-US" b="0" i="0" u="none" strike="noStrike" dirty="0">
                <a:solidFill>
                  <a:srgbClr val="000000"/>
                </a:solidFill>
                <a:effectLst/>
              </a:rPr>
              <a:t>Set </a:t>
            </a:r>
            <a:r>
              <a:rPr lang="en-US" b="0" i="0" u="none" strike="noStrike" dirty="0" err="1">
                <a:solidFill>
                  <a:srgbClr val="000000"/>
                </a:solidFill>
                <a:effectLst/>
              </a:rPr>
              <a:t>i</a:t>
            </a:r>
            <a:r>
              <a:rPr lang="en-US" b="0" i="0" u="none" strike="noStrike" dirty="0">
                <a:solidFill>
                  <a:srgbClr val="000000"/>
                </a:solidFill>
                <a:effectLst/>
              </a:rPr>
              <a:t> = 2</a:t>
            </a:r>
          </a:p>
          <a:p>
            <a:pPr algn="l">
              <a:buFont typeface="+mj-lt"/>
              <a:buAutoNum type="arabicPeriod"/>
            </a:pPr>
            <a:r>
              <a:rPr lang="en-US" b="0" i="0" u="none" strike="noStrike" dirty="0">
                <a:solidFill>
                  <a:srgbClr val="000000"/>
                </a:solidFill>
                <a:effectLst/>
              </a:rPr>
              <a:t>Now we're at position </a:t>
            </a:r>
            <a:r>
              <a:rPr lang="en-US" b="0" i="0" u="none" strike="noStrike" dirty="0" err="1">
                <a:solidFill>
                  <a:srgbClr val="000000"/>
                </a:solidFill>
                <a:effectLst/>
              </a:rPr>
              <a:t>i</a:t>
            </a:r>
            <a:r>
              <a:rPr lang="en-US" b="0" i="0" u="none" strike="noStrike" dirty="0">
                <a:solidFill>
                  <a:srgbClr val="000000"/>
                </a:solidFill>
                <a:effectLst/>
              </a:rPr>
              <a:t> = 2 with value 8, compare with its children:</a:t>
            </a:r>
          </a:p>
          <a:p>
            <a:pPr marL="742950" lvl="1" indent="-285750" algn="l">
              <a:buFont typeface="+mj-lt"/>
              <a:buAutoNum type="arabicPeriod"/>
            </a:pPr>
            <a:r>
              <a:rPr lang="en-US" b="0" i="0" u="none" strike="noStrike" dirty="0">
                <a:solidFill>
                  <a:srgbClr val="000000"/>
                </a:solidFill>
                <a:effectLst/>
              </a:rPr>
              <a:t>Left child A[4] = 18</a:t>
            </a:r>
          </a:p>
          <a:p>
            <a:pPr marL="742950" lvl="1" indent="-285750" algn="l">
              <a:buFont typeface="+mj-lt"/>
              <a:buAutoNum type="arabicPeriod"/>
            </a:pPr>
            <a:r>
              <a:rPr lang="en-US" b="0" i="0" u="none" strike="noStrike" dirty="0">
                <a:solidFill>
                  <a:srgbClr val="000000"/>
                </a:solidFill>
                <a:effectLst/>
              </a:rPr>
              <a:t>Right child A[5] = 20</a:t>
            </a:r>
          </a:p>
          <a:p>
            <a:pPr marL="742950" lvl="1" indent="-285750" algn="l">
              <a:buFont typeface="+mj-lt"/>
              <a:buAutoNum type="arabicPeriod"/>
            </a:pPr>
            <a:r>
              <a:rPr lang="en-US" b="0" i="0" u="none" strike="noStrike" dirty="0">
                <a:solidFill>
                  <a:srgbClr val="000000"/>
                </a:solidFill>
                <a:effectLst/>
              </a:rPr>
              <a:t>The maximal child is 20 at index j = 5</a:t>
            </a:r>
          </a:p>
          <a:p>
            <a:pPr algn="l">
              <a:buFont typeface="+mj-lt"/>
              <a:buAutoNum type="arabicPeriod"/>
            </a:pPr>
            <a:r>
              <a:rPr lang="en-US" b="0" i="0" u="none" strike="noStrike" dirty="0">
                <a:solidFill>
                  <a:srgbClr val="000000"/>
                </a:solidFill>
                <a:effectLst/>
              </a:rPr>
              <a:t>Since 8 &lt; 20, swap A[2] and A[5]:</a:t>
            </a:r>
          </a:p>
          <a:p>
            <a:pPr marL="742950" lvl="1" indent="-285750" algn="l">
              <a:buFont typeface="+mj-lt"/>
              <a:buAutoNum type="arabicPeriod"/>
            </a:pPr>
            <a:r>
              <a:rPr lang="en-US" b="0" i="0" u="none" strike="noStrike" dirty="0">
                <a:solidFill>
                  <a:srgbClr val="000000"/>
                </a:solidFill>
                <a:effectLst/>
              </a:rPr>
              <a:t>A[2] = 20</a:t>
            </a:r>
          </a:p>
          <a:p>
            <a:pPr marL="742950" lvl="1" indent="-285750" algn="l">
              <a:buFont typeface="+mj-lt"/>
              <a:buAutoNum type="arabicPeriod"/>
            </a:pPr>
            <a:r>
              <a:rPr lang="en-US" b="0" i="0" u="none" strike="noStrike" dirty="0">
                <a:solidFill>
                  <a:srgbClr val="000000"/>
                </a:solidFill>
                <a:effectLst/>
              </a:rPr>
              <a:t>A[5] = 8</a:t>
            </a:r>
          </a:p>
          <a:p>
            <a:pPr marL="742950" lvl="1" indent="-285750" algn="l">
              <a:buFont typeface="+mj-lt"/>
              <a:buAutoNum type="arabicPeriod"/>
            </a:pPr>
            <a:r>
              <a:rPr lang="en-US" b="0" i="0" u="none" strike="noStrike" dirty="0">
                <a:solidFill>
                  <a:srgbClr val="000000"/>
                </a:solidFill>
                <a:effectLst/>
              </a:rPr>
              <a:t>Set </a:t>
            </a:r>
            <a:r>
              <a:rPr lang="en-US" b="0" i="0" u="none" strike="noStrike" dirty="0" err="1">
                <a:solidFill>
                  <a:srgbClr val="000000"/>
                </a:solidFill>
                <a:effectLst/>
              </a:rPr>
              <a:t>i</a:t>
            </a:r>
            <a:r>
              <a:rPr lang="en-US" b="0" i="0" u="none" strike="noStrike" dirty="0">
                <a:solidFill>
                  <a:srgbClr val="000000"/>
                </a:solidFill>
                <a:effectLst/>
              </a:rPr>
              <a:t> = 5</a:t>
            </a:r>
          </a:p>
          <a:p>
            <a:pPr algn="l">
              <a:buFont typeface="+mj-lt"/>
              <a:buAutoNum type="arabicPeriod"/>
            </a:pPr>
            <a:r>
              <a:rPr lang="en-US" b="0" i="0" u="none" strike="noStrike" dirty="0">
                <a:solidFill>
                  <a:srgbClr val="000000"/>
                </a:solidFill>
                <a:effectLst/>
              </a:rPr>
              <a:t>Now we're at position </a:t>
            </a:r>
            <a:r>
              <a:rPr lang="en-US" b="0" i="0" u="none" strike="noStrike" dirty="0" err="1">
                <a:solidFill>
                  <a:srgbClr val="000000"/>
                </a:solidFill>
                <a:effectLst/>
              </a:rPr>
              <a:t>i</a:t>
            </a:r>
            <a:r>
              <a:rPr lang="en-US" b="0" i="0" u="none" strike="noStrike" dirty="0">
                <a:solidFill>
                  <a:srgbClr val="000000"/>
                </a:solidFill>
                <a:effectLst/>
              </a:rPr>
              <a:t> = 5 with value 8, compare with its children:</a:t>
            </a:r>
          </a:p>
          <a:p>
            <a:pPr marL="742950" lvl="1" indent="-285750" algn="l">
              <a:buFont typeface="+mj-lt"/>
              <a:buAutoNum type="arabicPeriod"/>
            </a:pPr>
            <a:r>
              <a:rPr lang="en-US" b="0" i="0" u="none" strike="noStrike" dirty="0">
                <a:solidFill>
                  <a:srgbClr val="000000"/>
                </a:solidFill>
                <a:effectLst/>
              </a:rPr>
              <a:t>Left child A[10] = 6 (if it exists)</a:t>
            </a:r>
          </a:p>
          <a:p>
            <a:pPr marL="742950" lvl="1" indent="-285750" algn="l">
              <a:buFont typeface="+mj-lt"/>
              <a:buAutoNum type="arabicPeriod"/>
            </a:pPr>
            <a:r>
              <a:rPr lang="en-US" b="0" i="0" u="none" strike="noStrike" dirty="0">
                <a:solidFill>
                  <a:srgbClr val="000000"/>
                </a:solidFill>
                <a:effectLst/>
              </a:rPr>
              <a:t>No right child</a:t>
            </a:r>
          </a:p>
          <a:p>
            <a:pPr marL="742950" lvl="1" indent="-285750" algn="l">
              <a:buFont typeface="+mj-lt"/>
              <a:buAutoNum type="arabicPeriod"/>
            </a:pPr>
            <a:r>
              <a:rPr lang="en-US" b="0" i="0" u="none" strike="noStrike" dirty="0">
                <a:solidFill>
                  <a:srgbClr val="000000"/>
                </a:solidFill>
                <a:effectLst/>
              </a:rPr>
              <a:t>The maximal child is 6 at index j = 10</a:t>
            </a:r>
          </a:p>
          <a:p>
            <a:pPr algn="l">
              <a:buFont typeface="+mj-lt"/>
              <a:buAutoNum type="arabicPeriod"/>
            </a:pPr>
            <a:r>
              <a:rPr lang="en-US" b="0" i="0" u="none" strike="noStrike" dirty="0">
                <a:solidFill>
                  <a:srgbClr val="000000"/>
                </a:solidFill>
                <a:effectLst/>
              </a:rPr>
              <a:t>Since 8 &gt; 6, no swap is needed. The algorithm terminates.</a:t>
            </a:r>
          </a:p>
          <a:p>
            <a:pPr algn="l">
              <a:buNone/>
            </a:pPr>
            <a:r>
              <a:rPr lang="en-US" b="0" i="0" u="none" strike="noStrike" dirty="0">
                <a:solidFill>
                  <a:srgbClr val="000000"/>
                </a:solidFill>
                <a:effectLst/>
              </a:rPr>
              <a:t>The final max heap after percolating down will have:</a:t>
            </a:r>
          </a:p>
          <a:p>
            <a:pPr algn="l">
              <a:buFont typeface="Arial" panose="020B0604020202020204" pitchFamily="34" charset="0"/>
              <a:buChar char="•"/>
            </a:pPr>
            <a:r>
              <a:rPr lang="en-US" b="0" i="0" u="none" strike="noStrike" dirty="0">
                <a:solidFill>
                  <a:srgbClr val="000000"/>
                </a:solidFill>
                <a:effectLst/>
              </a:rPr>
              <a:t>25 at the root</a:t>
            </a:r>
          </a:p>
          <a:p>
            <a:pPr algn="l">
              <a:buFont typeface="Arial" panose="020B0604020202020204" pitchFamily="34" charset="0"/>
              <a:buChar char="•"/>
            </a:pPr>
            <a:r>
              <a:rPr lang="en-US" b="0" i="0" u="none" strike="noStrike" dirty="0">
                <a:solidFill>
                  <a:srgbClr val="000000"/>
                </a:solidFill>
                <a:effectLst/>
              </a:rPr>
              <a:t>20 and 13 as the children of the root</a:t>
            </a:r>
          </a:p>
          <a:p>
            <a:pPr algn="l">
              <a:buFont typeface="Arial" panose="020B0604020202020204" pitchFamily="34" charset="0"/>
              <a:buChar char="•"/>
            </a:pPr>
            <a:r>
              <a:rPr lang="en-US" b="0" i="0" u="none" strike="noStrike" dirty="0">
                <a:solidFill>
                  <a:srgbClr val="000000"/>
                </a:solidFill>
                <a:effectLst/>
              </a:rPr>
              <a:t>18, 8, 12, and 7 at the next level</a:t>
            </a:r>
          </a:p>
          <a:p>
            <a:pPr algn="l">
              <a:buFont typeface="Arial" panose="020B0604020202020204" pitchFamily="34" charset="0"/>
              <a:buChar char="•"/>
            </a:pPr>
            <a:r>
              <a:rPr lang="en-US" b="0" i="0" u="none" strike="noStrike" dirty="0">
                <a:solidFill>
                  <a:srgbClr val="000000"/>
                </a:solidFill>
                <a:effectLst/>
              </a:rPr>
              <a:t>11, 17, and 6 at the bottom level</a:t>
            </a:r>
          </a:p>
          <a:p>
            <a:pPr algn="l"/>
            <a:r>
              <a:rPr lang="en-US" b="0" i="0" u="none" strike="noStrike" dirty="0">
                <a:solidFill>
                  <a:srgbClr val="000000"/>
                </a:solidFill>
                <a:effectLst/>
              </a:rPr>
              <a:t>The tree structure maintains the max heap property with each parent being greater than or equal to its children.</a:t>
            </a:r>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20</a:t>
            </a:fld>
            <a:endParaRPr lang="en-US"/>
          </a:p>
        </p:txBody>
      </p:sp>
    </p:spTree>
    <p:extLst>
      <p:ext uri="{BB962C8B-B14F-4D97-AF65-F5344CB8AC3E}">
        <p14:creationId xmlns:p14="http://schemas.microsoft.com/office/powerpoint/2010/main" val="2706090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39</a:t>
            </a:fld>
            <a:endParaRPr lang="en-US"/>
          </a:p>
        </p:txBody>
      </p:sp>
    </p:spTree>
    <p:extLst>
      <p:ext uri="{BB962C8B-B14F-4D97-AF65-F5344CB8AC3E}">
        <p14:creationId xmlns:p14="http://schemas.microsoft.com/office/powerpoint/2010/main" val="2435479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40</a:t>
            </a:fld>
            <a:endParaRPr lang="en-US"/>
          </a:p>
        </p:txBody>
      </p:sp>
    </p:spTree>
    <p:extLst>
      <p:ext uri="{BB962C8B-B14F-4D97-AF65-F5344CB8AC3E}">
        <p14:creationId xmlns:p14="http://schemas.microsoft.com/office/powerpoint/2010/main" val="2890512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u="none" strike="noStrike" dirty="0">
                <a:solidFill>
                  <a:srgbClr val="000000"/>
                </a:solidFill>
                <a:effectLst/>
              </a:rPr>
              <a:t>Step 1: </a:t>
            </a:r>
            <a:r>
              <a:rPr lang="en-US" b="1" i="0" u="none" strike="noStrike" dirty="0" err="1">
                <a:solidFill>
                  <a:srgbClr val="000000"/>
                </a:solidFill>
                <a:effectLst/>
              </a:rPr>
              <a:t>i</a:t>
            </a:r>
            <a:r>
              <a:rPr lang="en-US" b="1" i="0" u="none" strike="noStrike" dirty="0">
                <a:solidFill>
                  <a:srgbClr val="000000"/>
                </a:solidFill>
                <a:effectLst/>
              </a:rPr>
              <a:t> = 3 (element 19)</a:t>
            </a:r>
          </a:p>
          <a:p>
            <a:pPr algn="l">
              <a:buNone/>
            </a:pPr>
            <a:r>
              <a:rPr lang="en-US" b="0" i="0" u="none" strike="noStrike" dirty="0">
                <a:solidFill>
                  <a:srgbClr val="000000"/>
                </a:solidFill>
                <a:effectLst/>
              </a:rPr>
              <a:t>Percolate down the element at index 3:</a:t>
            </a:r>
          </a:p>
          <a:p>
            <a:pPr algn="l">
              <a:buFont typeface="Arial" panose="020B0604020202020204" pitchFamily="34" charset="0"/>
              <a:buChar char="•"/>
            </a:pPr>
            <a:r>
              <a:rPr lang="en-US" b="0" i="0" u="none" strike="noStrike" dirty="0">
                <a:solidFill>
                  <a:srgbClr val="000000"/>
                </a:solidFill>
                <a:effectLst/>
              </a:rPr>
              <a:t>Compare 19 with its only child at index 6: 10</a:t>
            </a:r>
          </a:p>
          <a:p>
            <a:pPr algn="l">
              <a:buFont typeface="Arial" panose="020B0604020202020204" pitchFamily="34" charset="0"/>
              <a:buChar char="•"/>
            </a:pPr>
            <a:r>
              <a:rPr lang="en-US" b="0" i="0" u="none" strike="noStrike" dirty="0">
                <a:solidFill>
                  <a:srgbClr val="000000"/>
                </a:solidFill>
                <a:effectLst/>
              </a:rPr>
              <a:t>Since 19 &gt; 10, no swap needed</a:t>
            </a:r>
          </a:p>
          <a:p>
            <a:pPr algn="l"/>
            <a:r>
              <a:rPr lang="en-US" b="0" i="0" u="none" strike="noStrike" dirty="0">
                <a:solidFill>
                  <a:srgbClr val="000000"/>
                </a:solidFill>
                <a:effectLst/>
              </a:rPr>
              <a:t>Current array: [35, 31, 19, 26, 44, 10]</a:t>
            </a:r>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41</a:t>
            </a:fld>
            <a:endParaRPr lang="en-US"/>
          </a:p>
        </p:txBody>
      </p:sp>
    </p:spTree>
    <p:extLst>
      <p:ext uri="{BB962C8B-B14F-4D97-AF65-F5344CB8AC3E}">
        <p14:creationId xmlns:p14="http://schemas.microsoft.com/office/powerpoint/2010/main" val="2127831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u="none" strike="noStrike" dirty="0">
                <a:solidFill>
                  <a:srgbClr val="000000"/>
                </a:solidFill>
                <a:effectLst/>
              </a:rPr>
              <a:t>Step 2: </a:t>
            </a:r>
            <a:r>
              <a:rPr lang="en-US" b="1" i="0" u="none" strike="noStrike" dirty="0" err="1">
                <a:solidFill>
                  <a:srgbClr val="000000"/>
                </a:solidFill>
                <a:effectLst/>
              </a:rPr>
              <a:t>i</a:t>
            </a:r>
            <a:r>
              <a:rPr lang="en-US" b="1" i="0" u="none" strike="noStrike" dirty="0">
                <a:solidFill>
                  <a:srgbClr val="000000"/>
                </a:solidFill>
                <a:effectLst/>
              </a:rPr>
              <a:t> = 2 (element 31)</a:t>
            </a:r>
          </a:p>
          <a:p>
            <a:pPr algn="l">
              <a:buNone/>
            </a:pPr>
            <a:r>
              <a:rPr lang="en-US" b="0" i="0" u="none" strike="noStrike" dirty="0">
                <a:solidFill>
                  <a:srgbClr val="000000"/>
                </a:solidFill>
                <a:effectLst/>
              </a:rPr>
              <a:t>Percolate down the element at index 2:</a:t>
            </a:r>
          </a:p>
          <a:p>
            <a:pPr algn="l">
              <a:buFont typeface="Arial" panose="020B0604020202020204" pitchFamily="34" charset="0"/>
              <a:buChar char="•"/>
            </a:pPr>
            <a:r>
              <a:rPr lang="en-US" b="0" i="0" u="none" strike="noStrike" dirty="0">
                <a:solidFill>
                  <a:srgbClr val="000000"/>
                </a:solidFill>
                <a:effectLst/>
              </a:rPr>
              <a:t>Compare 31 with its children at indices 4 and 5: 26 and 44</a:t>
            </a:r>
          </a:p>
          <a:p>
            <a:pPr algn="l">
              <a:buFont typeface="Arial" panose="020B0604020202020204" pitchFamily="34" charset="0"/>
              <a:buChar char="•"/>
            </a:pPr>
            <a:r>
              <a:rPr lang="en-US" b="0" i="0" u="none" strike="noStrike" dirty="0">
                <a:solidFill>
                  <a:srgbClr val="000000"/>
                </a:solidFill>
                <a:effectLst/>
              </a:rPr>
              <a:t>The maximal child is 44 at index 5</a:t>
            </a:r>
          </a:p>
          <a:p>
            <a:pPr algn="l">
              <a:buFont typeface="Arial" panose="020B0604020202020204" pitchFamily="34" charset="0"/>
              <a:buChar char="•"/>
            </a:pPr>
            <a:r>
              <a:rPr lang="en-US" b="0" i="0" u="none" strike="noStrike" dirty="0">
                <a:solidFill>
                  <a:srgbClr val="000000"/>
                </a:solidFill>
                <a:effectLst/>
              </a:rPr>
              <a:t>Since 31 &lt; 44, swap them</a:t>
            </a:r>
          </a:p>
          <a:p>
            <a:pPr algn="l"/>
            <a:r>
              <a:rPr lang="en-US" b="0" i="0" u="none" strike="noStrike" dirty="0">
                <a:solidFill>
                  <a:srgbClr val="000000"/>
                </a:solidFill>
                <a:effectLst/>
              </a:rPr>
              <a:t>After swap: [35, 44, 19, 26, 31, 10]</a:t>
            </a:r>
          </a:p>
          <a:p>
            <a:endParaRPr lang="en-IL" dirty="0"/>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42</a:t>
            </a:fld>
            <a:endParaRPr lang="en-US"/>
          </a:p>
        </p:txBody>
      </p:sp>
    </p:spTree>
    <p:extLst>
      <p:ext uri="{BB962C8B-B14F-4D97-AF65-F5344CB8AC3E}">
        <p14:creationId xmlns:p14="http://schemas.microsoft.com/office/powerpoint/2010/main" val="1787719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43</a:t>
            </a:fld>
            <a:endParaRPr lang="en-US"/>
          </a:p>
        </p:txBody>
      </p:sp>
    </p:spTree>
    <p:extLst>
      <p:ext uri="{BB962C8B-B14F-4D97-AF65-F5344CB8AC3E}">
        <p14:creationId xmlns:p14="http://schemas.microsoft.com/office/powerpoint/2010/main" val="416468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u="none" strike="noStrike" dirty="0">
                <a:solidFill>
                  <a:srgbClr val="000000"/>
                </a:solidFill>
                <a:effectLst/>
              </a:rPr>
              <a:t>Step 3: </a:t>
            </a:r>
            <a:r>
              <a:rPr lang="en-US" b="1" i="0" u="none" strike="noStrike" dirty="0" err="1">
                <a:solidFill>
                  <a:srgbClr val="000000"/>
                </a:solidFill>
                <a:effectLst/>
              </a:rPr>
              <a:t>i</a:t>
            </a:r>
            <a:r>
              <a:rPr lang="en-US" b="1" i="0" u="none" strike="noStrike" dirty="0">
                <a:solidFill>
                  <a:srgbClr val="000000"/>
                </a:solidFill>
                <a:effectLst/>
              </a:rPr>
              <a:t> = 1 (element 35)</a:t>
            </a:r>
          </a:p>
          <a:p>
            <a:pPr algn="l">
              <a:buNone/>
            </a:pPr>
            <a:r>
              <a:rPr lang="en-US" b="0" i="0" u="none" strike="noStrike" dirty="0">
                <a:solidFill>
                  <a:srgbClr val="000000"/>
                </a:solidFill>
                <a:effectLst/>
              </a:rPr>
              <a:t>Percolate down the element at index 1:</a:t>
            </a:r>
          </a:p>
          <a:p>
            <a:pPr algn="l">
              <a:buFont typeface="Arial" panose="020B0604020202020204" pitchFamily="34" charset="0"/>
              <a:buChar char="•"/>
            </a:pPr>
            <a:r>
              <a:rPr lang="en-US" b="0" i="0" u="none" strike="noStrike" dirty="0">
                <a:solidFill>
                  <a:srgbClr val="000000"/>
                </a:solidFill>
                <a:effectLst/>
              </a:rPr>
              <a:t>Compare 35 with its children at indices 2 and 3: 44 and 19</a:t>
            </a:r>
          </a:p>
          <a:p>
            <a:pPr algn="l">
              <a:buFont typeface="Arial" panose="020B0604020202020204" pitchFamily="34" charset="0"/>
              <a:buChar char="•"/>
            </a:pPr>
            <a:r>
              <a:rPr lang="en-US" b="0" i="0" u="none" strike="noStrike" dirty="0">
                <a:solidFill>
                  <a:srgbClr val="000000"/>
                </a:solidFill>
                <a:effectLst/>
              </a:rPr>
              <a:t>The maximal child is 44 at index 2</a:t>
            </a:r>
          </a:p>
          <a:p>
            <a:pPr algn="l">
              <a:buFont typeface="Arial" panose="020B0604020202020204" pitchFamily="34" charset="0"/>
              <a:buChar char="•"/>
            </a:pPr>
            <a:r>
              <a:rPr lang="en-US" b="0" i="0" u="none" strike="noStrike" dirty="0">
                <a:solidFill>
                  <a:srgbClr val="000000"/>
                </a:solidFill>
                <a:effectLst/>
              </a:rPr>
              <a:t>Since 35 &lt; 44, swap them</a:t>
            </a:r>
          </a:p>
          <a:p>
            <a:pPr algn="l">
              <a:buNone/>
            </a:pPr>
            <a:r>
              <a:rPr lang="en-US" b="0" i="0" u="none" strike="noStrike" dirty="0">
                <a:solidFill>
                  <a:srgbClr val="000000"/>
                </a:solidFill>
                <a:effectLst/>
              </a:rPr>
              <a:t>After swap: [44, 35, 19, 26, 31, 10]</a:t>
            </a:r>
          </a:p>
          <a:p>
            <a:pPr algn="l">
              <a:buFont typeface="Arial" panose="020B0604020202020204" pitchFamily="34" charset="0"/>
              <a:buChar char="•"/>
            </a:pPr>
            <a:r>
              <a:rPr lang="en-US" b="0" i="0" u="none" strike="noStrike" dirty="0">
                <a:solidFill>
                  <a:srgbClr val="000000"/>
                </a:solidFill>
                <a:effectLst/>
              </a:rPr>
              <a:t>Continue percolation at index 2 (35):</a:t>
            </a:r>
          </a:p>
          <a:p>
            <a:pPr marL="742950" lvl="1" indent="-285750" algn="l">
              <a:buFont typeface="Arial" panose="020B0604020202020204" pitchFamily="34" charset="0"/>
              <a:buChar char="•"/>
            </a:pPr>
            <a:r>
              <a:rPr lang="en-US" b="0" i="0" u="none" strike="noStrike" dirty="0">
                <a:solidFill>
                  <a:srgbClr val="000000"/>
                </a:solidFill>
                <a:effectLst/>
              </a:rPr>
              <a:t>Compare 35 with its children at indices 4 and 5: 26 and 31</a:t>
            </a:r>
          </a:p>
          <a:p>
            <a:pPr marL="742950" lvl="1" indent="-285750" algn="l">
              <a:buFont typeface="Arial" panose="020B0604020202020204" pitchFamily="34" charset="0"/>
              <a:buChar char="•"/>
            </a:pPr>
            <a:r>
              <a:rPr lang="en-US" b="0" i="0" u="none" strike="noStrike" dirty="0">
                <a:solidFill>
                  <a:srgbClr val="000000"/>
                </a:solidFill>
                <a:effectLst/>
              </a:rPr>
              <a:t>The maximal child is 31 at index 5</a:t>
            </a:r>
          </a:p>
          <a:p>
            <a:pPr marL="742950" lvl="1" indent="-285750" algn="l">
              <a:buFont typeface="Arial" panose="020B0604020202020204" pitchFamily="34" charset="0"/>
              <a:buChar char="•"/>
            </a:pPr>
            <a:r>
              <a:rPr lang="en-US" b="0" i="0" u="none" strike="noStrike" dirty="0">
                <a:solidFill>
                  <a:srgbClr val="000000"/>
                </a:solidFill>
                <a:effectLst/>
              </a:rPr>
              <a:t>Since 35 &gt; 31, no further swaps needed</a:t>
            </a:r>
          </a:p>
          <a:p>
            <a:pPr algn="l"/>
            <a:r>
              <a:rPr lang="en-US" b="0" i="0" u="none" strike="noStrike" dirty="0">
                <a:solidFill>
                  <a:srgbClr val="000000"/>
                </a:solidFill>
                <a:effectLst/>
              </a:rPr>
              <a:t>Final array: [44, 35, 19, 26, 31, 10]</a:t>
            </a:r>
          </a:p>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44</a:t>
            </a:fld>
            <a:endParaRPr lang="en-US"/>
          </a:p>
        </p:txBody>
      </p:sp>
    </p:spTree>
    <p:extLst>
      <p:ext uri="{BB962C8B-B14F-4D97-AF65-F5344CB8AC3E}">
        <p14:creationId xmlns:p14="http://schemas.microsoft.com/office/powerpoint/2010/main" val="943250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46</a:t>
            </a:fld>
            <a:endParaRPr lang="en-US"/>
          </a:p>
        </p:txBody>
      </p:sp>
    </p:spTree>
    <p:extLst>
      <p:ext uri="{BB962C8B-B14F-4D97-AF65-F5344CB8AC3E}">
        <p14:creationId xmlns:p14="http://schemas.microsoft.com/office/powerpoint/2010/main" val="754108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49</a:t>
            </a:fld>
            <a:endParaRPr lang="en-US"/>
          </a:p>
        </p:txBody>
      </p:sp>
    </p:spTree>
    <p:extLst>
      <p:ext uri="{BB962C8B-B14F-4D97-AF65-F5344CB8AC3E}">
        <p14:creationId xmlns:p14="http://schemas.microsoft.com/office/powerpoint/2010/main" val="3922259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O(klogn)</a:t>
            </a:r>
          </a:p>
        </p:txBody>
      </p:sp>
      <p:sp>
        <p:nvSpPr>
          <p:cNvPr id="4" name="Slide Number Placeholder 3"/>
          <p:cNvSpPr>
            <a:spLocks noGrp="1"/>
          </p:cNvSpPr>
          <p:nvPr>
            <p:ph type="sldNum" sz="quarter" idx="5"/>
          </p:nvPr>
        </p:nvSpPr>
        <p:spPr/>
        <p:txBody>
          <a:bodyPr/>
          <a:lstStyle/>
          <a:p>
            <a:fld id="{1952EA7D-4BA2-4E8E-987D-617FF4A2559A}" type="slidenum">
              <a:rPr lang="en-US" smtClean="0"/>
              <a:t>51</a:t>
            </a:fld>
            <a:endParaRPr lang="en-US"/>
          </a:p>
        </p:txBody>
      </p:sp>
    </p:spTree>
    <p:extLst>
      <p:ext uri="{BB962C8B-B14F-4D97-AF65-F5344CB8AC3E}">
        <p14:creationId xmlns:p14="http://schemas.microsoft.com/office/powerpoint/2010/main" val="1388122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52</a:t>
            </a:fld>
            <a:endParaRPr lang="en-US"/>
          </a:p>
        </p:txBody>
      </p:sp>
    </p:spTree>
    <p:extLst>
      <p:ext uri="{BB962C8B-B14F-4D97-AF65-F5344CB8AC3E}">
        <p14:creationId xmlns:p14="http://schemas.microsoft.com/office/powerpoint/2010/main" val="20728731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US" b="1" i="0" u="none" strike="noStrike" dirty="0">
              <a:solidFill>
                <a:srgbClr val="000000"/>
              </a:solidFill>
              <a:effectLst/>
            </a:endParaRPr>
          </a:p>
          <a:p>
            <a:pPr algn="l">
              <a:buFont typeface="+mj-lt"/>
              <a:buAutoNum type="arabicPeriod"/>
            </a:pPr>
            <a:r>
              <a:rPr lang="en-US" b="1" i="0" u="none" strike="noStrike" dirty="0">
                <a:solidFill>
                  <a:srgbClr val="000000"/>
                </a:solidFill>
                <a:effectLst/>
              </a:rPr>
              <a:t>Space requirements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We need to store at most k pointers in the collection (initially 1, then we remove 1 and add at most 2 in each iteration)</a:t>
            </a:r>
          </a:p>
          <a:p>
            <a:pPr marL="742950" lvl="1" indent="-285750" algn="l">
              <a:buFont typeface="+mj-lt"/>
              <a:buAutoNum type="arabicPeriod"/>
            </a:pPr>
            <a:r>
              <a:rPr lang="en-US" b="0" i="0" u="none" strike="noStrike" dirty="0">
                <a:solidFill>
                  <a:srgbClr val="000000"/>
                </a:solidFill>
                <a:effectLst/>
              </a:rPr>
              <a:t>In the worst case, the collection contains O(k) elements</a:t>
            </a:r>
          </a:p>
          <a:p>
            <a:pPr marL="742950" lvl="1" indent="-285750" algn="l">
              <a:buFont typeface="+mj-lt"/>
              <a:buAutoNum type="arabicPeriod"/>
            </a:pPr>
            <a:endParaRPr lang="en-US" b="0" i="0" u="none" strike="noStrike" dirty="0">
              <a:solidFill>
                <a:srgbClr val="000000"/>
              </a:solidFill>
              <a:effectLst/>
            </a:endParaRPr>
          </a:p>
          <a:p>
            <a:pPr marL="742950" lvl="1" indent="-285750" algn="l">
              <a:buFont typeface="+mj-lt"/>
              <a:buAutoNum type="arabicPeriod"/>
            </a:pPr>
            <a:endParaRPr lang="en-US" b="0" i="0" u="none" strike="noStrike" dirty="0">
              <a:solidFill>
                <a:srgbClr val="000000"/>
              </a:solidFill>
              <a:effectLst/>
            </a:endParaRPr>
          </a:p>
          <a:p>
            <a:pPr algn="l">
              <a:buFont typeface="+mj-lt"/>
              <a:buAutoNum type="arabicPeriod"/>
            </a:pPr>
            <a:r>
              <a:rPr lang="en-US" b="1" i="0" u="none" strike="noStrike" dirty="0">
                <a:solidFill>
                  <a:srgbClr val="000000"/>
                </a:solidFill>
                <a:effectLst/>
              </a:rPr>
              <a:t>Finding the maximum in the collection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Without any special data structure, finding the maximum would take O(k) time</a:t>
            </a:r>
          </a:p>
          <a:p>
            <a:pPr marL="742950" lvl="1" indent="-285750" algn="l">
              <a:buFont typeface="+mj-lt"/>
              <a:buAutoNum type="arabicPeriod"/>
            </a:pPr>
            <a:endParaRPr lang="en-US" b="0" i="0" u="none" strike="noStrike" dirty="0">
              <a:solidFill>
                <a:srgbClr val="000000"/>
              </a:solidFill>
              <a:effectLst/>
            </a:endParaRPr>
          </a:p>
          <a:p>
            <a:pPr marL="742950" lvl="1" indent="-285750" algn="l">
              <a:buFont typeface="+mj-lt"/>
              <a:buAutoNum type="arabicPeriod"/>
            </a:pPr>
            <a:endParaRPr lang="en-US" b="0" i="0" u="none" strike="noStrike" dirty="0">
              <a:solidFill>
                <a:srgbClr val="000000"/>
              </a:solidFill>
              <a:effectLst/>
            </a:endParaRPr>
          </a:p>
          <a:p>
            <a:pPr marL="285750" lvl="0" indent="-285750" algn="l">
              <a:buFont typeface="+mj-lt"/>
              <a:buAutoNum type="arabicPeriod"/>
            </a:pPr>
            <a:r>
              <a:rPr lang="en-US" b="1" i="0" u="none" strike="noStrike" dirty="0">
                <a:solidFill>
                  <a:srgbClr val="000000"/>
                </a:solidFill>
                <a:effectLst/>
              </a:rPr>
              <a:t>Overall time complexity</a:t>
            </a:r>
            <a:r>
              <a:rPr lang="en-US" b="0" i="0" u="none" strike="noStrike" dirty="0">
                <a:solidFill>
                  <a:srgbClr val="000000"/>
                </a:solidFill>
                <a:effectLst/>
                <a:latin typeface="-webkit-standard"/>
              </a:rPr>
              <a:t>:</a:t>
            </a:r>
          </a:p>
          <a:p>
            <a:pPr marL="742950" lvl="1" indent="-285750" algn="l">
              <a:buFont typeface="+mj-lt"/>
              <a:buAutoNum type="arabicPeriod"/>
            </a:pPr>
            <a:r>
              <a:rPr lang="en-US" b="0" i="0" u="none" strike="noStrike" dirty="0">
                <a:solidFill>
                  <a:srgbClr val="000000"/>
                </a:solidFill>
                <a:effectLst/>
              </a:rPr>
              <a:t>⁠Why O(</a:t>
            </a:r>
            <a:r>
              <a:rPr lang="en-US" b="0" i="0" u="none" strike="noStrike" dirty="0" err="1">
                <a:solidFill>
                  <a:srgbClr val="000000"/>
                </a:solidFill>
                <a:effectLst/>
              </a:rPr>
              <a:t>i</a:t>
            </a:r>
            <a:r>
              <a:rPr lang="en-US" b="0" i="0" u="none" strike="noStrike" dirty="0">
                <a:solidFill>
                  <a:srgbClr val="000000"/>
                </a:solidFill>
                <a:effectLst/>
              </a:rPr>
              <a:t>)? Because in the </a:t>
            </a:r>
            <a:r>
              <a:rPr lang="en-US" b="0" i="0" u="none" strike="noStrike" dirty="0" err="1">
                <a:solidFill>
                  <a:srgbClr val="000000"/>
                </a:solidFill>
                <a:effectLst/>
              </a:rPr>
              <a:t>i-th</a:t>
            </a:r>
            <a:r>
              <a:rPr lang="en-US" b="0" i="0" u="none" strike="noStrike" dirty="0">
                <a:solidFill>
                  <a:srgbClr val="000000"/>
                </a:solidFill>
                <a:effectLst/>
              </a:rPr>
              <a:t> iteration the max number of elements is </a:t>
            </a:r>
            <a:r>
              <a:rPr lang="en-US" b="0" i="0" u="none" strike="noStrike" dirty="0" err="1">
                <a:solidFill>
                  <a:srgbClr val="000000"/>
                </a:solidFill>
                <a:effectLst/>
              </a:rPr>
              <a:t>i</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So, why O(k^2)? ⁠Each iteration takes O(</a:t>
            </a:r>
            <a:r>
              <a:rPr lang="en-US" b="0" i="0" u="none" strike="noStrike" dirty="0" err="1">
                <a:solidFill>
                  <a:srgbClr val="000000"/>
                </a:solidFill>
                <a:effectLst/>
              </a:rPr>
              <a:t>i</a:t>
            </a:r>
            <a:r>
              <a:rPr lang="en-US" b="0" i="0" u="none" strike="noStrike" dirty="0">
                <a:solidFill>
                  <a:srgbClr val="000000"/>
                </a:solidFill>
                <a:effectLst/>
              </a:rPr>
              <a:t>), so \sum_{</a:t>
            </a:r>
            <a:r>
              <a:rPr lang="en-US" b="0" i="0" u="none" strike="noStrike" dirty="0" err="1">
                <a:solidFill>
                  <a:srgbClr val="000000"/>
                </a:solidFill>
                <a:effectLst/>
              </a:rPr>
              <a:t>i</a:t>
            </a:r>
            <a:r>
              <a:rPr lang="en-US" b="0" i="0" u="none" strike="noStrike" dirty="0">
                <a:solidFill>
                  <a:srgbClr val="000000"/>
                </a:solidFill>
                <a:effectLst/>
              </a:rPr>
              <a:t>=1}^{k-1} O(</a:t>
            </a:r>
            <a:r>
              <a:rPr lang="en-US" b="0" i="0" u="none" strike="noStrike" dirty="0" err="1">
                <a:solidFill>
                  <a:srgbClr val="000000"/>
                </a:solidFill>
                <a:effectLst/>
              </a:rPr>
              <a:t>i</a:t>
            </a:r>
            <a:r>
              <a:rPr lang="en-US" b="0" i="0" u="none" strike="noStrike" dirty="0">
                <a:solidFill>
                  <a:srgbClr val="000000"/>
                </a:solidFill>
                <a:effectLst/>
              </a:rPr>
              <a:t>) = O(k^2} (arithmetic sequence)</a:t>
            </a:r>
          </a:p>
        </p:txBody>
      </p:sp>
      <p:sp>
        <p:nvSpPr>
          <p:cNvPr id="4" name="Slide Number Placeholder 3"/>
          <p:cNvSpPr>
            <a:spLocks noGrp="1"/>
          </p:cNvSpPr>
          <p:nvPr>
            <p:ph type="sldNum" sz="quarter" idx="5"/>
          </p:nvPr>
        </p:nvSpPr>
        <p:spPr/>
        <p:txBody>
          <a:bodyPr/>
          <a:lstStyle/>
          <a:p>
            <a:fld id="{1952EA7D-4BA2-4E8E-987D-617FF4A2559A}" type="slidenum">
              <a:rPr lang="en-US" smtClean="0"/>
              <a:t>73</a:t>
            </a:fld>
            <a:endParaRPr lang="en-US"/>
          </a:p>
        </p:txBody>
      </p:sp>
    </p:spTree>
    <p:extLst>
      <p:ext uri="{BB962C8B-B14F-4D97-AF65-F5344CB8AC3E}">
        <p14:creationId xmlns:p14="http://schemas.microsoft.com/office/powerpoint/2010/main" val="365589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Boolean array – True for every element that is in the maximum array</a:t>
            </a:r>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74</a:t>
            </a:fld>
            <a:endParaRPr lang="en-US"/>
          </a:p>
        </p:txBody>
      </p:sp>
    </p:spTree>
    <p:extLst>
      <p:ext uri="{BB962C8B-B14F-4D97-AF65-F5344CB8AC3E}">
        <p14:creationId xmlns:p14="http://schemas.microsoft.com/office/powerpoint/2010/main" val="2380663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75</a:t>
            </a:fld>
            <a:endParaRPr lang="en-US"/>
          </a:p>
        </p:txBody>
      </p:sp>
    </p:spTree>
    <p:extLst>
      <p:ext uri="{BB962C8B-B14F-4D97-AF65-F5344CB8AC3E}">
        <p14:creationId xmlns:p14="http://schemas.microsoft.com/office/powerpoint/2010/main" val="33468802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76</a:t>
            </a:fld>
            <a:endParaRPr lang="en-US"/>
          </a:p>
        </p:txBody>
      </p:sp>
    </p:spTree>
    <p:extLst>
      <p:ext uri="{BB962C8B-B14F-4D97-AF65-F5344CB8AC3E}">
        <p14:creationId xmlns:p14="http://schemas.microsoft.com/office/powerpoint/2010/main" val="27833125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77</a:t>
            </a:fld>
            <a:endParaRPr lang="en-US"/>
          </a:p>
        </p:txBody>
      </p:sp>
    </p:spTree>
    <p:extLst>
      <p:ext uri="{BB962C8B-B14F-4D97-AF65-F5344CB8AC3E}">
        <p14:creationId xmlns:p14="http://schemas.microsoft.com/office/powerpoint/2010/main" val="20921139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52EA7D-4BA2-4E8E-987D-617FF4A2559A}" type="slidenum">
              <a:rPr lang="en-US" smtClean="0"/>
              <a:t>84</a:t>
            </a:fld>
            <a:endParaRPr lang="en-US"/>
          </a:p>
        </p:txBody>
      </p:sp>
    </p:spTree>
    <p:extLst>
      <p:ext uri="{BB962C8B-B14F-4D97-AF65-F5344CB8AC3E}">
        <p14:creationId xmlns:p14="http://schemas.microsoft.com/office/powerpoint/2010/main" val="222233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7C3DA5-1E2D-47BE-AB94-BBF701C442BA}"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F8F04-0C4A-45C0-89D2-F468335094E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093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7C3DA5-1E2D-47BE-AB94-BBF701C442BA}"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1864107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7C3DA5-1E2D-47BE-AB94-BBF701C442BA}"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F8F04-0C4A-45C0-89D2-F468335094E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34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7C3DA5-1E2D-47BE-AB94-BBF701C442BA}"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1535104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7C3DA5-1E2D-47BE-AB94-BBF701C442BA}"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2427294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7C3DA5-1E2D-47BE-AB94-BBF701C442BA}"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324881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97C3DA5-1E2D-47BE-AB94-BBF701C442BA}" type="datetimeFigureOut">
              <a:rPr lang="en-US" smtClean="0"/>
              <a:t>3/22/2026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3068772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97C3DA5-1E2D-47BE-AB94-BBF701C442BA}" type="datetimeFigureOut">
              <a:rPr lang="en-US" smtClean="0"/>
              <a:t>3/22/2026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42F8F04-0C4A-45C0-89D2-F468335094E8}" type="slidenum">
              <a:rPr lang="en-US" smtClean="0"/>
              <a:t>‹#›</a:t>
            </a:fld>
            <a:endParaRPr lang="en-US"/>
          </a:p>
        </p:txBody>
      </p:sp>
    </p:spTree>
    <p:extLst>
      <p:ext uri="{BB962C8B-B14F-4D97-AF65-F5344CB8AC3E}">
        <p14:creationId xmlns:p14="http://schemas.microsoft.com/office/powerpoint/2010/main" val="2689817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7C3DA5-1E2D-47BE-AB94-BBF701C442BA}"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220132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7C3DA5-1E2D-47BE-AB94-BBF701C442BA}"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144072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7C3DA5-1E2D-47BE-AB94-BBF701C442BA}"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F8F04-0C4A-45C0-89D2-F468335094E8}" type="slidenum">
              <a:rPr lang="en-US" smtClean="0"/>
              <a:t>‹#›</a:t>
            </a:fld>
            <a:endParaRPr lang="en-US"/>
          </a:p>
        </p:txBody>
      </p:sp>
    </p:spTree>
    <p:extLst>
      <p:ext uri="{BB962C8B-B14F-4D97-AF65-F5344CB8AC3E}">
        <p14:creationId xmlns:p14="http://schemas.microsoft.com/office/powerpoint/2010/main" val="141258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7C3DA5-1E2D-47BE-AB94-BBF701C442BA}" type="datetimeFigureOut">
              <a:rPr lang="en-US" smtClean="0"/>
              <a:t>3/22/2026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42F8F04-0C4A-45C0-89D2-F468335094E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820836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7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80.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1.xml"/><Relationship Id="rId4" Type="http://schemas.openxmlformats.org/officeDocument/2006/relationships/image" Target="../media/image220.png"/></Relationships>
</file>

<file path=ppt/slides/_rels/slide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1.png"/></Relationships>
</file>

<file path=ppt/slides/_rels/slide8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customXml" Target="../ink/ink4.xml"/><Relationship Id="rId4" Type="http://schemas.openxmlformats.org/officeDocument/2006/relationships/image" Target="../media/image220.png"/></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structures </a:t>
            </a:r>
          </a:p>
        </p:txBody>
      </p:sp>
      <p:sp>
        <p:nvSpPr>
          <p:cNvPr id="3" name="Subtitle 2"/>
          <p:cNvSpPr>
            <a:spLocks noGrp="1"/>
          </p:cNvSpPr>
          <p:nvPr>
            <p:ph type="subTitle" idx="1"/>
          </p:nvPr>
        </p:nvSpPr>
        <p:spPr/>
        <p:txBody>
          <a:bodyPr>
            <a:normAutofit/>
          </a:bodyPr>
          <a:lstStyle/>
          <a:p>
            <a:r>
              <a:rPr lang="en-US" sz="3600" dirty="0"/>
              <a:t>Amortized Analysis &amp; Binary Heaps</a:t>
            </a:r>
          </a:p>
        </p:txBody>
      </p:sp>
    </p:spTree>
    <p:extLst>
      <p:ext uri="{BB962C8B-B14F-4D97-AF65-F5344CB8AC3E}">
        <p14:creationId xmlns:p14="http://schemas.microsoft.com/office/powerpoint/2010/main" val="3832511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703C6-B8D7-19D4-4067-C860CF161FEA}"/>
              </a:ext>
            </a:extLst>
          </p:cNvPr>
          <p:cNvSpPr>
            <a:spLocks noGrp="1"/>
          </p:cNvSpPr>
          <p:nvPr>
            <p:ph type="title"/>
          </p:nvPr>
        </p:nvSpPr>
        <p:spPr/>
        <p:txBody>
          <a:bodyPr/>
          <a:lstStyle/>
          <a:p>
            <a:pPr marL="0" algn="l" defTabSz="914400" rtl="1" eaLnBrk="1" latinLnBrk="0" hangingPunct="1">
              <a:lnSpc>
                <a:spcPct val="85000"/>
              </a:lnSpc>
              <a:spcBef>
                <a:spcPct val="0"/>
              </a:spcBef>
              <a:buNone/>
            </a:pPr>
            <a:r>
              <a:rPr lang="en-US"/>
              <a:t>Amortized analysis</a:t>
            </a:r>
            <a:endParaRPr lang="en-IL"/>
          </a:p>
        </p:txBody>
      </p:sp>
      <p:sp>
        <p:nvSpPr>
          <p:cNvPr id="3" name="Content Placeholder 2">
            <a:extLst>
              <a:ext uri="{FF2B5EF4-FFF2-40B4-BE49-F238E27FC236}">
                <a16:creationId xmlns:a16="http://schemas.microsoft.com/office/drawing/2014/main" id="{AF139A36-A135-8B9A-2766-1ECF45724BE1}"/>
              </a:ext>
            </a:extLst>
          </p:cNvPr>
          <p:cNvSpPr>
            <a:spLocks noGrp="1"/>
          </p:cNvSpPr>
          <p:nvPr>
            <p:ph idx="1"/>
          </p:nvPr>
        </p:nvSpPr>
        <p:spPr>
          <a:xfrm>
            <a:off x="1097280" y="1845734"/>
            <a:ext cx="10753344" cy="4023360"/>
          </a:xfrm>
        </p:spPr>
        <p:txBody>
          <a:bodyPr>
            <a:normAutofit/>
          </a:bodyPr>
          <a:lstStyle/>
          <a:p>
            <a:pPr algn="l"/>
            <a:r>
              <a:rPr lang="en-US" b="1" i="0" u="none" strike="noStrike">
                <a:solidFill>
                  <a:srgbClr val="000000"/>
                </a:solidFill>
                <a:effectLst/>
              </a:rPr>
              <a:t>Amortized analysis </a:t>
            </a:r>
            <a:r>
              <a:rPr lang="en-US" b="0" i="0" u="none" strike="noStrike">
                <a:solidFill>
                  <a:srgbClr val="000000"/>
                </a:solidFill>
                <a:effectLst/>
              </a:rPr>
              <a:t>averages the cost of operations over a sequence, smoothing out rare expensive </a:t>
            </a:r>
            <a:r>
              <a:rPr lang="en-US">
                <a:solidFill>
                  <a:srgbClr val="000000"/>
                </a:solidFill>
              </a:rPr>
              <a:t>operations</a:t>
            </a:r>
            <a:r>
              <a:rPr lang="en-US" b="0" i="0" u="none" strike="noStrike">
                <a:solidFill>
                  <a:srgbClr val="000000"/>
                </a:solidFill>
                <a:effectLst/>
              </a:rPr>
              <a:t>.</a:t>
            </a:r>
          </a:p>
          <a:p>
            <a:pPr>
              <a:buNone/>
            </a:pPr>
            <a:r>
              <a:rPr lang="en-US" b="1"/>
              <a:t>Array-Doubling Example:</a:t>
            </a:r>
            <a:endParaRPr lang="en-US"/>
          </a:p>
          <a:p>
            <a:pPr>
              <a:buSzPct val="50000"/>
              <a:buFont typeface="Courier New" panose="02070309020205020404" pitchFamily="49" charset="0"/>
              <a:buChar char="o"/>
            </a:pPr>
            <a:r>
              <a:rPr lang="en-US" b="1"/>
              <a:t>Best case</a:t>
            </a:r>
            <a:r>
              <a:rPr lang="en-US"/>
              <a:t>: O(1) </a:t>
            </a:r>
            <a:r>
              <a:rPr lang="en-US" i="1"/>
              <a:t>(regular insertion, no resizing)</a:t>
            </a:r>
            <a:endParaRPr lang="en-US"/>
          </a:p>
          <a:p>
            <a:pPr>
              <a:buSzPct val="50000"/>
              <a:buFont typeface="Courier New" panose="02070309020205020404" pitchFamily="49" charset="0"/>
              <a:buChar char="o"/>
            </a:pPr>
            <a:r>
              <a:rPr lang="en-US" b="1"/>
              <a:t>Worst case</a:t>
            </a:r>
            <a:r>
              <a:rPr lang="en-US"/>
              <a:t>: O(n) </a:t>
            </a:r>
            <a:r>
              <a:rPr lang="en-US" i="1"/>
              <a:t>(resizing array and copying data)</a:t>
            </a:r>
          </a:p>
          <a:p>
            <a:r>
              <a:rPr lang="en-US"/>
              <a:t>But resizing only occurs </a:t>
            </a:r>
            <a:r>
              <a:rPr lang="en-US" b="1"/>
              <a:t>rarely</a:t>
            </a:r>
            <a:r>
              <a:rPr lang="en-US"/>
              <a:t> (only when the number of elements is a power of 2). Hence, the expensive cost gets “spread out”:</a:t>
            </a:r>
            <a:endParaRPr lang="he-IL"/>
          </a:p>
          <a:p>
            <a:pPr>
              <a:buSzPct val="50000"/>
              <a:buFont typeface="Courier New" panose="02070309020205020404" pitchFamily="49" charset="0"/>
              <a:buChar char="o"/>
            </a:pPr>
            <a:r>
              <a:rPr lang="en-US" b="1"/>
              <a:t>Amortized Cost = O(1)</a:t>
            </a:r>
            <a:endParaRPr lang="en-US"/>
          </a:p>
          <a:p>
            <a:endParaRPr lang="en-US"/>
          </a:p>
          <a:p>
            <a:pPr marL="0" indent="0">
              <a:buNone/>
            </a:pPr>
            <a:endParaRPr lang="en-US"/>
          </a:p>
        </p:txBody>
      </p:sp>
    </p:spTree>
    <p:extLst>
      <p:ext uri="{BB962C8B-B14F-4D97-AF65-F5344CB8AC3E}">
        <p14:creationId xmlns:p14="http://schemas.microsoft.com/office/powerpoint/2010/main" val="1675244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FA4C6-41A3-B7C7-74E5-2E0FA56BF132}"/>
              </a:ext>
            </a:extLst>
          </p:cNvPr>
          <p:cNvSpPr>
            <a:spLocks noGrp="1"/>
          </p:cNvSpPr>
          <p:nvPr>
            <p:ph type="title"/>
          </p:nvPr>
        </p:nvSpPr>
        <p:spPr/>
        <p:txBody>
          <a:bodyPr/>
          <a:lstStyle/>
          <a:p>
            <a:r>
              <a:rPr lang="en-IL"/>
              <a:t>Binary </a:t>
            </a:r>
            <a:r>
              <a:rPr lang="en-US"/>
              <a:t>Representation of Integers</a:t>
            </a:r>
            <a:endParaRPr lang="en-IL"/>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7425E4-EF19-A341-0F47-31C619EDE5BA}"/>
                  </a:ext>
                </a:extLst>
              </p:cNvPr>
              <p:cNvSpPr>
                <a:spLocks noGrp="1"/>
              </p:cNvSpPr>
              <p:nvPr>
                <p:ph idx="1"/>
              </p:nvPr>
            </p:nvSpPr>
            <p:spPr>
              <a:xfrm>
                <a:off x="1097280" y="1875368"/>
                <a:ext cx="10373255" cy="4012014"/>
              </a:xfrm>
            </p:spPr>
            <p:txBody>
              <a:bodyPr/>
              <a:lstStyle/>
              <a:p>
                <a:r>
                  <a:rPr lang="en-IL"/>
                  <a:t>A binary </a:t>
                </a:r>
                <a:r>
                  <a:rPr lang="he-IL"/>
                  <a:t>number is a number expressed in a base </a:t>
                </a:r>
                <a:r>
                  <a:rPr lang="en-US"/>
                  <a:t>2. (unlike base 10, which we use in our daily life.)</a:t>
                </a:r>
                <a:br>
                  <a:rPr lang="en-US"/>
                </a:br>
                <a:r>
                  <a:rPr lang="en-US"/>
                  <a:t>Looking from right to left, the </a:t>
                </a:r>
                <a14:m>
                  <m:oMath xmlns:m="http://schemas.openxmlformats.org/officeDocument/2006/math">
                    <m:r>
                      <a:rPr lang="en-US" i="1" dirty="0" smtClean="0">
                        <a:latin typeface="Cambria Math" panose="02040503050406030204" pitchFamily="18" charset="0"/>
                      </a:rPr>
                      <m:t>𝑖</m:t>
                    </m:r>
                  </m:oMath>
                </a14:m>
                <a:r>
                  <a:rPr lang="en-US" baseline="30000" err="1"/>
                  <a:t>th</a:t>
                </a:r>
                <a:r>
                  <a:rPr lang="en-US"/>
                  <a:t> bit represents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sup>
                    </m:sSup>
                  </m:oMath>
                </a14:m>
                <a:r>
                  <a:rPr lang="en-US"/>
                  <a:t>.</a:t>
                </a:r>
                <a:br>
                  <a:rPr lang="en-US"/>
                </a:br>
                <a:endParaRPr lang="en-US"/>
              </a:p>
              <a:p>
                <a:r>
                  <a:rPr lang="en-US" b="1"/>
                  <a:t>Base 10 example:</a:t>
                </a:r>
              </a:p>
              <a:p>
                <a:r>
                  <a:rPr lang="en-US"/>
                  <a:t>1324 =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r>
                      <a:rPr lang="en-US" b="0" i="1" smtClean="0">
                        <a:latin typeface="Cambria Math" panose="02040503050406030204" pitchFamily="18" charset="0"/>
                      </a:rPr>
                      <m:t>+3</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m:t>
                        </m:r>
                      </m:sup>
                    </m:sSup>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0</m:t>
                        </m:r>
                      </m:sup>
                    </m:sSup>
                  </m:oMath>
                </a14:m>
                <a:r>
                  <a:rPr lang="en-US"/>
                  <a:t> = 1000 + 100 + 20 + 4.</a:t>
                </a:r>
              </a:p>
              <a:p>
                <a:r>
                  <a:rPr lang="en-US" b="1"/>
                  <a:t>Base 2 examples:</a:t>
                </a:r>
              </a:p>
              <a:p>
                <a:r>
                  <a:rPr lang="en-US"/>
                  <a:t>5 in base 2 is 101 in base 2:   </a:t>
                </a:r>
                <a14:m>
                  <m:oMath xmlns:m="http://schemas.openxmlformats.org/officeDocument/2006/math">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+0</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oMath>
                </a14:m>
                <a:r>
                  <a:rPr lang="en-US"/>
                  <a:t> = 4 + 0 + 1.</a:t>
                </a:r>
              </a:p>
              <a:p>
                <a:r>
                  <a:rPr lang="en-US"/>
                  <a:t>11 in base 2 is  1011 in base 2:    </a:t>
                </a:r>
                <a14:m>
                  <m:oMath xmlns:m="http://schemas.openxmlformats.org/officeDocument/2006/math">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+0</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oMath>
                </a14:m>
                <a:r>
                  <a:rPr lang="en-US"/>
                  <a:t> = 8 + 0 + 2 + 1. </a:t>
                </a:r>
              </a:p>
              <a:p>
                <a:endParaRPr lang="en-US"/>
              </a:p>
            </p:txBody>
          </p:sp>
        </mc:Choice>
        <mc:Fallback xmlns="">
          <p:sp>
            <p:nvSpPr>
              <p:cNvPr id="3" name="Content Placeholder 2">
                <a:extLst>
                  <a:ext uri="{FF2B5EF4-FFF2-40B4-BE49-F238E27FC236}">
                    <a16:creationId xmlns:a16="http://schemas.microsoft.com/office/drawing/2014/main" id="{607425E4-EF19-A341-0F47-31C619EDE5BA}"/>
                  </a:ext>
                </a:extLst>
              </p:cNvPr>
              <p:cNvSpPr>
                <a:spLocks noGrp="1" noRot="1" noChangeAspect="1" noMove="1" noResize="1" noEditPoints="1" noAdjustHandles="1" noChangeArrowheads="1" noChangeShapeType="1" noTextEdit="1"/>
              </p:cNvSpPr>
              <p:nvPr>
                <p:ph idx="1"/>
              </p:nvPr>
            </p:nvSpPr>
            <p:spPr>
              <a:xfrm>
                <a:off x="1097280" y="1875368"/>
                <a:ext cx="10373255" cy="4012014"/>
              </a:xfrm>
              <a:blipFill>
                <a:blip r:embed="rId2"/>
                <a:stretch>
                  <a:fillRect l="-588" t="-1824" r="-529"/>
                </a:stretch>
              </a:blipFill>
            </p:spPr>
            <p:txBody>
              <a:bodyPr/>
              <a:lstStyle/>
              <a:p>
                <a:r>
                  <a:rPr lang="en-US">
                    <a:noFill/>
                  </a:rPr>
                  <a:t> </a:t>
                </a:r>
              </a:p>
            </p:txBody>
          </p:sp>
        </mc:Fallback>
      </mc:AlternateContent>
    </p:spTree>
    <p:extLst>
      <p:ext uri="{BB962C8B-B14F-4D97-AF65-F5344CB8AC3E}">
        <p14:creationId xmlns:p14="http://schemas.microsoft.com/office/powerpoint/2010/main" val="573464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40CDD-08B1-E017-BFD9-9810D44A7F5A}"/>
              </a:ext>
            </a:extLst>
          </p:cNvPr>
          <p:cNvSpPr>
            <a:spLocks noGrp="1"/>
          </p:cNvSpPr>
          <p:nvPr>
            <p:ph type="title"/>
          </p:nvPr>
        </p:nvSpPr>
        <p:spPr/>
        <p:txBody>
          <a:bodyPr/>
          <a:lstStyle/>
          <a:p>
            <a:r>
              <a:rPr lang="en-IL"/>
              <a:t>Binary counter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E44A52-64E8-BC2C-BF7B-CEFE7A69B904}"/>
                  </a:ext>
                </a:extLst>
              </p:cNvPr>
              <p:cNvSpPr>
                <a:spLocks noGrp="1"/>
              </p:cNvSpPr>
              <p:nvPr>
                <p:ph idx="1"/>
              </p:nvPr>
            </p:nvSpPr>
            <p:spPr>
              <a:xfrm>
                <a:off x="1097279" y="1845734"/>
                <a:ext cx="7093820" cy="4419142"/>
              </a:xfrm>
            </p:spPr>
            <p:txBody>
              <a:bodyPr>
                <a:normAutofit/>
              </a:bodyPr>
              <a:lstStyle/>
              <a:p>
                <a:r>
                  <a:rPr lang="en-IL"/>
                  <a:t>A binary counter </a:t>
                </a:r>
                <a:r>
                  <a:rPr lang="en-US"/>
                  <a:t>counts</a:t>
                </a:r>
                <a:r>
                  <a:rPr lang="en-IL"/>
                  <a:t> from </a:t>
                </a:r>
                <a14:m>
                  <m:oMath xmlns:m="http://schemas.openxmlformats.org/officeDocument/2006/math">
                    <m:r>
                      <a:rPr lang="en-IL" i="1" dirty="0" smtClean="0">
                        <a:latin typeface="Cambria Math" panose="02040503050406030204" pitchFamily="18" charset="0"/>
                      </a:rPr>
                      <m:t>0</m:t>
                    </m:r>
                  </m:oMath>
                </a14:m>
                <a:r>
                  <a:rPr lang="en-IL"/>
                  <a:t> to </a:t>
                </a:r>
                <a14:m>
                  <m:oMath xmlns:m="http://schemas.openxmlformats.org/officeDocument/2006/math">
                    <m:r>
                      <a:rPr lang="en-IL" i="1" dirty="0" smtClean="0">
                        <a:latin typeface="Cambria Math" panose="02040503050406030204" pitchFamily="18" charset="0"/>
                      </a:rPr>
                      <m:t>𝑛</m:t>
                    </m:r>
                    <m:r>
                      <a:rPr lang="en-IL" i="1" dirty="0" smtClean="0">
                        <a:latin typeface="Cambria Math" panose="02040503050406030204" pitchFamily="18" charset="0"/>
                      </a:rPr>
                      <m:t>−1</m:t>
                    </m:r>
                  </m:oMath>
                </a14:m>
                <a:r>
                  <a:rPr lang="en-IL"/>
                  <a:t> </a:t>
                </a:r>
                <a:r>
                  <a:rPr lang="en-US"/>
                  <a:t>in </a:t>
                </a:r>
                <a:r>
                  <a:rPr lang="en-IL"/>
                  <a:t>base </a:t>
                </a:r>
                <a14:m>
                  <m:oMath xmlns:m="http://schemas.openxmlformats.org/officeDocument/2006/math">
                    <m:r>
                      <a:rPr lang="en-IL" i="1" dirty="0" smtClean="0">
                        <a:latin typeface="Cambria Math" panose="02040503050406030204" pitchFamily="18" charset="0"/>
                      </a:rPr>
                      <m:t>2 </m:t>
                    </m:r>
                  </m:oMath>
                </a14:m>
                <a:r>
                  <a:rPr lang="en-IL"/>
                  <a:t>representation.</a:t>
                </a:r>
                <a:br>
                  <a:rPr lang="en-IL"/>
                </a:br>
                <a:endParaRPr lang="en-IL">
                  <a:sym typeface="Wingdings" pitchFamily="2" charset="2"/>
                </a:endParaRPr>
              </a:p>
              <a:p>
                <a:pPr lvl="1">
                  <a:buSzPct val="50000"/>
                </a:pPr>
                <a:r>
                  <a:rPr lang="en-US" sz="2100">
                    <a:sym typeface="Wingdings" pitchFamily="2" charset="2"/>
                  </a:rPr>
                  <a:t>The least significant bit (LSB)</a:t>
                </a:r>
                <a:r>
                  <a:rPr lang="en-IL" sz="2100">
                    <a:sym typeface="Wingdings" pitchFamily="2" charset="2"/>
                  </a:rPr>
                  <a:t> flips every </a:t>
                </a:r>
                <a:r>
                  <a:rPr lang="en-US" sz="2100">
                    <a:sym typeface="Wingdings" pitchFamily="2" charset="2"/>
                  </a:rPr>
                  <a:t>step.</a:t>
                </a:r>
              </a:p>
              <a:p>
                <a:pPr lvl="1">
                  <a:buSzPct val="50000"/>
                </a:pPr>
                <a:r>
                  <a:rPr lang="en-US" sz="2100">
                    <a:sym typeface="Wingdings" pitchFamily="2" charset="2"/>
                  </a:rPr>
                  <a:t>T</a:t>
                </a:r>
                <a:r>
                  <a:rPr lang="en-IL" sz="2100">
                    <a:sym typeface="Wingdings" pitchFamily="2" charset="2"/>
                  </a:rPr>
                  <a:t>he second </a:t>
                </a:r>
                <a:r>
                  <a:rPr lang="en-US" sz="2100">
                    <a:sym typeface="Wingdings" pitchFamily="2" charset="2"/>
                  </a:rPr>
                  <a:t>least </a:t>
                </a:r>
                <a:r>
                  <a:rPr lang="en-IL" sz="2100">
                    <a:sym typeface="Wingdings" pitchFamily="2" charset="2"/>
                  </a:rPr>
                  <a:t>bit flips every </a:t>
                </a:r>
                <a:r>
                  <a:rPr lang="en-US" sz="2100">
                    <a:sym typeface="Wingdings" pitchFamily="2" charset="2"/>
                  </a:rPr>
                  <a:t>2</a:t>
                </a:r>
                <a:r>
                  <a:rPr lang="en-IL" sz="2100">
                    <a:sym typeface="Wingdings" pitchFamily="2" charset="2"/>
                  </a:rPr>
                  <a:t> </a:t>
                </a:r>
                <a:r>
                  <a:rPr lang="en-US" sz="2100">
                    <a:sym typeface="Wingdings" pitchFamily="2" charset="2"/>
                  </a:rPr>
                  <a:t>steps.</a:t>
                </a:r>
              </a:p>
              <a:p>
                <a:pPr lvl="1">
                  <a:buSzPct val="50000"/>
                </a:pPr>
                <a:r>
                  <a:rPr lang="en-US" sz="2100">
                    <a:sym typeface="Wingdings" pitchFamily="2" charset="2"/>
                  </a:rPr>
                  <a:t>T</a:t>
                </a:r>
                <a:r>
                  <a:rPr lang="en-IL" sz="2100">
                    <a:sym typeface="Wingdings" pitchFamily="2" charset="2"/>
                  </a:rPr>
                  <a:t>he third bit every </a:t>
                </a:r>
                <a14:m>
                  <m:oMath xmlns:m="http://schemas.openxmlformats.org/officeDocument/2006/math">
                    <m:sSup>
                      <m:sSupPr>
                        <m:ctrlPr>
                          <a:rPr lang="en-US" sz="2100" b="0" i="1" smtClean="0">
                            <a:latin typeface="Cambria Math" panose="02040503050406030204" pitchFamily="18" charset="0"/>
                            <a:sym typeface="Wingdings" pitchFamily="2" charset="2"/>
                          </a:rPr>
                        </m:ctrlPr>
                      </m:sSupPr>
                      <m:e>
                        <m:r>
                          <a:rPr lang="en-US" sz="2100" b="0" i="1" smtClean="0">
                            <a:latin typeface="Cambria Math" panose="02040503050406030204" pitchFamily="18" charset="0"/>
                            <a:sym typeface="Wingdings" pitchFamily="2" charset="2"/>
                          </a:rPr>
                          <m:t>2</m:t>
                        </m:r>
                      </m:e>
                      <m:sup>
                        <m:r>
                          <a:rPr lang="en-US" sz="2100" b="0" i="1" smtClean="0">
                            <a:latin typeface="Cambria Math" panose="02040503050406030204" pitchFamily="18" charset="0"/>
                            <a:sym typeface="Wingdings" pitchFamily="2" charset="2"/>
                          </a:rPr>
                          <m:t>2</m:t>
                        </m:r>
                      </m:sup>
                    </m:sSup>
                  </m:oMath>
                </a14:m>
                <a:r>
                  <a:rPr lang="en-IL" sz="2100">
                    <a:sym typeface="Wingdings" pitchFamily="2" charset="2"/>
                  </a:rPr>
                  <a:t> </a:t>
                </a:r>
                <a:r>
                  <a:rPr lang="en-US" sz="2100">
                    <a:sym typeface="Wingdings" pitchFamily="2" charset="2"/>
                  </a:rPr>
                  <a:t>step</a:t>
                </a:r>
                <a:r>
                  <a:rPr lang="en-IL" sz="2100">
                    <a:sym typeface="Wingdings" pitchFamily="2" charset="2"/>
                  </a:rPr>
                  <a:t>s</a:t>
                </a:r>
                <a:r>
                  <a:rPr lang="en-US" sz="2100">
                    <a:sym typeface="Wingdings" pitchFamily="2" charset="2"/>
                  </a:rPr>
                  <a:t>.</a:t>
                </a:r>
              </a:p>
              <a:p>
                <a:pPr marL="0" indent="0">
                  <a:buNone/>
                </a:pPr>
                <a:r>
                  <a:rPr lang="en-US">
                    <a:sym typeface="Wingdings" pitchFamily="2" charset="2"/>
                  </a:rPr>
                  <a:t>In general, t</a:t>
                </a:r>
                <a:r>
                  <a:rPr lang="en-IL">
                    <a:sym typeface="Wingdings" pitchFamily="2" charset="2"/>
                  </a:rPr>
                  <a:t>he </a:t>
                </a:r>
                <a14:m>
                  <m:oMath xmlns:m="http://schemas.openxmlformats.org/officeDocument/2006/math">
                    <m:r>
                      <a:rPr lang="en-IL" i="1" dirty="0" smtClean="0">
                        <a:latin typeface="Cambria Math" panose="02040503050406030204" pitchFamily="18" charset="0"/>
                        <a:sym typeface="Wingdings" pitchFamily="2" charset="2"/>
                      </a:rPr>
                      <m:t>𝑖</m:t>
                    </m:r>
                  </m:oMath>
                </a14:m>
                <a:r>
                  <a:rPr lang="en-IL" baseline="30000">
                    <a:sym typeface="Wingdings" pitchFamily="2" charset="2"/>
                  </a:rPr>
                  <a:t>th</a:t>
                </a:r>
                <a:r>
                  <a:rPr lang="en-IL">
                    <a:sym typeface="Wingdings" pitchFamily="2" charset="2"/>
                  </a:rPr>
                  <a:t> bit flips every </a:t>
                </a:r>
                <a14:m>
                  <m:oMath xmlns:m="http://schemas.openxmlformats.org/officeDocument/2006/math">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i="1">
                            <a:latin typeface="Cambria Math" panose="02040503050406030204" pitchFamily="18" charset="0"/>
                            <a:sym typeface="Wingdings" pitchFamily="2" charset="2"/>
                          </a:rPr>
                          <m:t>𝑖</m:t>
                        </m:r>
                        <m:r>
                          <a:rPr lang="en-US" b="0" i="1" smtClean="0">
                            <a:latin typeface="Cambria Math" panose="02040503050406030204" pitchFamily="18" charset="0"/>
                            <a:sym typeface="Wingdings" pitchFamily="2" charset="2"/>
                          </a:rPr>
                          <m:t>−1</m:t>
                        </m:r>
                      </m:sup>
                    </m:sSup>
                  </m:oMath>
                </a14:m>
                <a:r>
                  <a:rPr lang="en-IL">
                    <a:sym typeface="Wingdings" pitchFamily="2" charset="2"/>
                  </a:rPr>
                  <a:t> </a:t>
                </a:r>
                <a:r>
                  <a:rPr lang="en-US">
                    <a:sym typeface="Wingdings" pitchFamily="2" charset="2"/>
                  </a:rPr>
                  <a:t>steps.</a:t>
                </a:r>
              </a:p>
              <a:p>
                <a:pPr marL="0" indent="0">
                  <a:buNone/>
                </a:pPr>
                <a:r>
                  <a:rPr lang="en-US">
                    <a:sym typeface="Wingdings" pitchFamily="2" charset="2"/>
                  </a:rPr>
                  <a:t>The total number of operations is the total number of flips.</a:t>
                </a:r>
              </a:p>
              <a:p>
                <a:pPr marL="0" indent="0">
                  <a:buNone/>
                </a:pPr>
                <a:r>
                  <a:rPr lang="en-US">
                    <a:sym typeface="Wingdings" pitchFamily="2" charset="2"/>
                  </a:rPr>
                  <a:t>When counting from 0 to </a:t>
                </a:r>
                <a14:m>
                  <m:oMath xmlns:m="http://schemas.openxmlformats.org/officeDocument/2006/math">
                    <m:r>
                      <a:rPr lang="en-US" b="0" i="1" smtClean="0">
                        <a:latin typeface="Cambria Math" panose="02040503050406030204" pitchFamily="18" charset="0"/>
                        <a:sym typeface="Wingdings" pitchFamily="2" charset="2"/>
                      </a:rPr>
                      <m:t>𝑛</m:t>
                    </m:r>
                  </m:oMath>
                </a14:m>
                <a:r>
                  <a:rPr lang="en-US">
                    <a:sym typeface="Wingdings" pitchFamily="2" charset="2"/>
                  </a:rPr>
                  <a:t> (using </a:t>
                </a:r>
                <a14:m>
                  <m:oMath xmlns:m="http://schemas.openxmlformats.org/officeDocument/2006/math">
                    <m:r>
                      <a:rPr lang="en-US" b="0" i="1" smtClean="0">
                        <a:latin typeface="Cambria Math" panose="02040503050406030204" pitchFamily="18" charset="0"/>
                        <a:sym typeface="Wingdings" pitchFamily="2" charset="2"/>
                      </a:rPr>
                      <m:t>𝑘</m:t>
                    </m:r>
                    <m:r>
                      <a:rPr lang="en-US" b="0" i="1" smtClean="0">
                        <a:latin typeface="Cambria Math" panose="02040503050406030204" pitchFamily="18" charset="0"/>
                        <a:sym typeface="Wingdings" pitchFamily="2" charset="2"/>
                      </a:rPr>
                      <m:t>=</m:t>
                    </m:r>
                    <m:d>
                      <m:dPr>
                        <m:begChr m:val="⌈"/>
                        <m:endChr m:val="⌉"/>
                        <m:ctrlPr>
                          <a:rPr lang="en-US" i="1" dirty="0">
                            <a:latin typeface="Cambria Math" panose="02040503050406030204" pitchFamily="18" charset="0"/>
                            <a:sym typeface="Wingdings" pitchFamily="2" charset="2"/>
                          </a:rPr>
                        </m:ctrlPr>
                      </m:dPr>
                      <m:e>
                        <m:func>
                          <m:funcPr>
                            <m:ctrlPr>
                              <a:rPr lang="en-US" i="1" dirty="0">
                                <a:latin typeface="Cambria Math" panose="02040503050406030204" pitchFamily="18" charset="0"/>
                                <a:sym typeface="Wingdings" pitchFamily="2" charset="2"/>
                              </a:rPr>
                            </m:ctrlPr>
                          </m:funcPr>
                          <m:fName>
                            <m:r>
                              <m:rPr>
                                <m:sty m:val="p"/>
                              </m:rPr>
                              <a:rPr lang="en-US" dirty="0">
                                <a:latin typeface="Cambria Math" panose="02040503050406030204" pitchFamily="18" charset="0"/>
                                <a:sym typeface="Wingdings" pitchFamily="2" charset="2"/>
                              </a:rPr>
                              <m:t>log</m:t>
                            </m:r>
                          </m:fName>
                          <m:e>
                            <m:r>
                              <a:rPr lang="en-US" i="1" dirty="0">
                                <a:latin typeface="Cambria Math" panose="02040503050406030204" pitchFamily="18" charset="0"/>
                                <a:sym typeface="Wingdings" pitchFamily="2" charset="2"/>
                              </a:rPr>
                              <m:t>𝑛</m:t>
                            </m:r>
                          </m:e>
                        </m:func>
                      </m:e>
                    </m:d>
                  </m:oMath>
                </a14:m>
                <a:r>
                  <a:rPr lang="en-US">
                    <a:sym typeface="Wingdings" pitchFamily="2" charset="2"/>
                  </a:rPr>
                  <a:t> bits)</a:t>
                </a:r>
              </a:p>
              <a:p>
                <a:pPr marL="0" indent="0">
                  <a:buNone/>
                </a:pPr>
                <a:r>
                  <a:rPr lang="en-US">
                    <a:sym typeface="Wingdings" pitchFamily="2" charset="2"/>
                  </a:rPr>
                  <a:t>Total number of flips = </a:t>
                </a:r>
                <a14:m>
                  <m:oMath xmlns:m="http://schemas.openxmlformats.org/officeDocument/2006/math">
                    <m:r>
                      <a:rPr lang="en-US" b="0" i="1" smtClean="0">
                        <a:latin typeface="Cambria Math" panose="02040503050406030204" pitchFamily="18" charset="0"/>
                        <a:sym typeface="Wingdings" pitchFamily="2" charset="2"/>
                      </a:rPr>
                      <m:t>𝑛</m:t>
                    </m:r>
                    <m:r>
                      <a:rPr lang="en-US" b="0" i="1" smtClean="0">
                        <a:latin typeface="Cambria Math" panose="02040503050406030204" pitchFamily="18" charset="0"/>
                        <a:sym typeface="Wingdings" pitchFamily="2" charset="2"/>
                      </a:rPr>
                      <m:t>+</m:t>
                    </m:r>
                    <m:d>
                      <m:dPr>
                        <m:begChr m:val="⌊"/>
                        <m:endChr m:val="⌋"/>
                        <m:ctrlPr>
                          <a:rPr lang="en-IL" i="1" dirty="0">
                            <a:latin typeface="Cambria Math" panose="02040503050406030204" pitchFamily="18" charset="0"/>
                            <a:sym typeface="Wingdings" pitchFamily="2" charset="2"/>
                          </a:rPr>
                        </m:ctrlPr>
                      </m:dPr>
                      <m:e>
                        <m:r>
                          <a:rPr lang="en-US" b="0" i="1" dirty="0" smtClean="0">
                            <a:latin typeface="Cambria Math" panose="02040503050406030204" pitchFamily="18" charset="0"/>
                            <a:sym typeface="Wingdings" pitchFamily="2" charset="2"/>
                          </a:rPr>
                          <m:t>𝑛</m:t>
                        </m:r>
                        <m:r>
                          <a:rPr lang="en-US" b="0" i="1" dirty="0" smtClean="0">
                            <a:latin typeface="Cambria Math" panose="02040503050406030204" pitchFamily="18" charset="0"/>
                            <a:sym typeface="Wingdings" pitchFamily="2" charset="2"/>
                          </a:rPr>
                          <m:t>/</m:t>
                        </m:r>
                        <m:sSup>
                          <m:sSupPr>
                            <m:ctrlPr>
                              <a:rPr lang="en-US" b="0" i="1" dirty="0" smtClean="0">
                                <a:latin typeface="Cambria Math" panose="02040503050406030204" pitchFamily="18" charset="0"/>
                                <a:sym typeface="Wingdings" pitchFamily="2" charset="2"/>
                              </a:rPr>
                            </m:ctrlPr>
                          </m:sSupPr>
                          <m:e>
                            <m:r>
                              <a:rPr lang="en-US" b="0" i="1" dirty="0" smtClean="0">
                                <a:latin typeface="Cambria Math" panose="02040503050406030204" pitchFamily="18" charset="0"/>
                                <a:sym typeface="Wingdings" pitchFamily="2" charset="2"/>
                              </a:rPr>
                              <m:t>2</m:t>
                            </m:r>
                          </m:e>
                          <m:sup>
                            <m:r>
                              <a:rPr lang="en-US" b="0" i="1" dirty="0" smtClean="0">
                                <a:latin typeface="Cambria Math" panose="02040503050406030204" pitchFamily="18" charset="0"/>
                                <a:sym typeface="Wingdings" pitchFamily="2" charset="2"/>
                              </a:rPr>
                              <m:t>1</m:t>
                            </m:r>
                          </m:sup>
                        </m:sSup>
                      </m:e>
                    </m:d>
                    <m:r>
                      <a:rPr lang="en-US" b="0" i="1" smtClean="0">
                        <a:latin typeface="Cambria Math" panose="02040503050406030204" pitchFamily="18" charset="0"/>
                        <a:sym typeface="Wingdings" pitchFamily="2" charset="2"/>
                      </a:rPr>
                      <m:t>+</m:t>
                    </m:r>
                    <m:d>
                      <m:dPr>
                        <m:begChr m:val="⌊"/>
                        <m:endChr m:val="⌋"/>
                        <m:ctrlPr>
                          <a:rPr lang="en-IL" i="1" dirty="0">
                            <a:latin typeface="Cambria Math" panose="02040503050406030204" pitchFamily="18" charset="0"/>
                            <a:sym typeface="Wingdings" pitchFamily="2" charset="2"/>
                          </a:rPr>
                        </m:ctrlPr>
                      </m:dPr>
                      <m:e>
                        <m:r>
                          <a:rPr lang="en-US" i="1" dirty="0">
                            <a:latin typeface="Cambria Math" panose="02040503050406030204" pitchFamily="18" charset="0"/>
                            <a:sym typeface="Wingdings" pitchFamily="2" charset="2"/>
                          </a:rPr>
                          <m:t>𝑛</m:t>
                        </m:r>
                        <m:r>
                          <a:rPr lang="en-US" i="1" dirty="0">
                            <a:latin typeface="Cambria Math" panose="02040503050406030204" pitchFamily="18" charset="0"/>
                            <a:sym typeface="Wingdings" pitchFamily="2" charset="2"/>
                          </a:rPr>
                          <m:t>/</m:t>
                        </m:r>
                        <m:sSup>
                          <m:sSupPr>
                            <m:ctrlPr>
                              <a:rPr lang="en-US" i="1" dirty="0">
                                <a:latin typeface="Cambria Math" panose="02040503050406030204" pitchFamily="18" charset="0"/>
                                <a:sym typeface="Wingdings" pitchFamily="2" charset="2"/>
                              </a:rPr>
                            </m:ctrlPr>
                          </m:sSupPr>
                          <m:e>
                            <m:r>
                              <a:rPr lang="en-US" i="1" dirty="0">
                                <a:latin typeface="Cambria Math" panose="02040503050406030204" pitchFamily="18" charset="0"/>
                                <a:sym typeface="Wingdings" pitchFamily="2" charset="2"/>
                              </a:rPr>
                              <m:t>2</m:t>
                            </m:r>
                          </m:e>
                          <m:sup>
                            <m:r>
                              <a:rPr lang="en-US" b="0" i="1" dirty="0" smtClean="0">
                                <a:latin typeface="Cambria Math" panose="02040503050406030204" pitchFamily="18" charset="0"/>
                                <a:sym typeface="Wingdings" pitchFamily="2" charset="2"/>
                              </a:rPr>
                              <m:t>2</m:t>
                            </m:r>
                          </m:sup>
                        </m:sSup>
                      </m:e>
                    </m:d>
                    <m:r>
                      <a:rPr lang="en-US" b="0" i="1" dirty="0" smtClean="0">
                        <a:latin typeface="Cambria Math" panose="02040503050406030204" pitchFamily="18" charset="0"/>
                        <a:sym typeface="Wingdings" pitchFamily="2" charset="2"/>
                      </a:rPr>
                      <m:t>+</m:t>
                    </m:r>
                    <m:r>
                      <a:rPr lang="en-US" b="0" i="1" dirty="0" smtClean="0">
                        <a:latin typeface="Cambria Math" panose="02040503050406030204" pitchFamily="18" charset="0"/>
                        <a:ea typeface="Cambria Math" panose="02040503050406030204" pitchFamily="18" charset="0"/>
                        <a:sym typeface="Wingdings" pitchFamily="2" charset="2"/>
                      </a:rPr>
                      <m:t>⋯+</m:t>
                    </m:r>
                    <m:d>
                      <m:dPr>
                        <m:begChr m:val="⌊"/>
                        <m:endChr m:val="⌋"/>
                        <m:ctrlPr>
                          <a:rPr lang="en-IL" i="1" dirty="0">
                            <a:latin typeface="Cambria Math" panose="02040503050406030204" pitchFamily="18" charset="0"/>
                            <a:sym typeface="Wingdings" pitchFamily="2" charset="2"/>
                          </a:rPr>
                        </m:ctrlPr>
                      </m:dPr>
                      <m:e>
                        <m:r>
                          <a:rPr lang="en-US" i="1" dirty="0">
                            <a:latin typeface="Cambria Math" panose="02040503050406030204" pitchFamily="18" charset="0"/>
                            <a:sym typeface="Wingdings" pitchFamily="2" charset="2"/>
                          </a:rPr>
                          <m:t>𝑛</m:t>
                        </m:r>
                        <m:r>
                          <a:rPr lang="en-US" i="1" dirty="0">
                            <a:latin typeface="Cambria Math" panose="02040503050406030204" pitchFamily="18" charset="0"/>
                            <a:sym typeface="Wingdings" pitchFamily="2" charset="2"/>
                          </a:rPr>
                          <m:t>/</m:t>
                        </m:r>
                        <m:sSup>
                          <m:sSupPr>
                            <m:ctrlPr>
                              <a:rPr lang="en-US" i="1" dirty="0">
                                <a:latin typeface="Cambria Math" panose="02040503050406030204" pitchFamily="18" charset="0"/>
                                <a:sym typeface="Wingdings" pitchFamily="2" charset="2"/>
                              </a:rPr>
                            </m:ctrlPr>
                          </m:sSupPr>
                          <m:e>
                            <m:r>
                              <a:rPr lang="en-US" i="1" dirty="0">
                                <a:latin typeface="Cambria Math" panose="02040503050406030204" pitchFamily="18" charset="0"/>
                                <a:sym typeface="Wingdings" pitchFamily="2" charset="2"/>
                              </a:rPr>
                              <m:t>2</m:t>
                            </m:r>
                          </m:e>
                          <m:sup>
                            <m:r>
                              <a:rPr lang="en-US" i="1" dirty="0" smtClean="0">
                                <a:latin typeface="Cambria Math" panose="02040503050406030204" pitchFamily="18" charset="0"/>
                                <a:sym typeface="Wingdings" pitchFamily="2" charset="2"/>
                              </a:rPr>
                              <m:t>𝑘</m:t>
                            </m:r>
                          </m:sup>
                        </m:sSup>
                      </m:e>
                    </m:d>
                  </m:oMath>
                </a14:m>
                <a:br>
                  <a:rPr lang="en-IL">
                    <a:sym typeface="Wingdings" pitchFamily="2" charset="2"/>
                  </a:rPr>
                </a:br>
                <a:endParaRPr lang="en-IL"/>
              </a:p>
            </p:txBody>
          </p:sp>
        </mc:Choice>
        <mc:Fallback xmlns="">
          <p:sp>
            <p:nvSpPr>
              <p:cNvPr id="3" name="Content Placeholder 2">
                <a:extLst>
                  <a:ext uri="{FF2B5EF4-FFF2-40B4-BE49-F238E27FC236}">
                    <a16:creationId xmlns:a16="http://schemas.microsoft.com/office/drawing/2014/main" id="{0AE44A52-64E8-BC2C-BF7B-CEFE7A69B904}"/>
                  </a:ext>
                </a:extLst>
              </p:cNvPr>
              <p:cNvSpPr>
                <a:spLocks noGrp="1" noRot="1" noChangeAspect="1" noMove="1" noResize="1" noEditPoints="1" noAdjustHandles="1" noChangeArrowheads="1" noChangeShapeType="1" noTextEdit="1"/>
              </p:cNvSpPr>
              <p:nvPr>
                <p:ph idx="1"/>
              </p:nvPr>
            </p:nvSpPr>
            <p:spPr>
              <a:xfrm>
                <a:off x="1097279" y="1845734"/>
                <a:ext cx="7093820" cy="4419142"/>
              </a:xfrm>
              <a:blipFill>
                <a:blip r:embed="rId2"/>
                <a:stretch>
                  <a:fillRect l="-2148" t="-151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A663640-71F7-9379-BBED-F777894D6948}"/>
              </a:ext>
            </a:extLst>
          </p:cNvPr>
          <p:cNvSpPr/>
          <p:nvPr/>
        </p:nvSpPr>
        <p:spPr>
          <a:xfrm>
            <a:off x="7199697" y="2258319"/>
            <a:ext cx="4872855" cy="2862322"/>
          </a:xfrm>
          <a:prstGeom prst="rect">
            <a:avLst/>
          </a:prstGeom>
        </p:spPr>
        <p:txBody>
          <a:bodyPr wrap="square">
            <a:spAutoFit/>
          </a:bodyPr>
          <a:lstStyle/>
          <a:p>
            <a:pPr algn="ctr"/>
            <a:r>
              <a:rPr lang="en-IL" b="1"/>
              <a:t>Example:</a:t>
            </a:r>
            <a:r>
              <a:rPr lang="en-IL"/>
              <a:t> counting from 0 to 7, using array size 3.</a:t>
            </a:r>
            <a:br>
              <a:rPr lang="en-IL"/>
            </a:br>
            <a:br>
              <a:rPr lang="en-IL"/>
            </a:br>
            <a:r>
              <a:rPr lang="en-US"/>
              <a:t>                     </a:t>
            </a:r>
            <a:r>
              <a:rPr lang="en-IL"/>
              <a:t> 0 = [0,0,0]			</a:t>
            </a:r>
            <a:br>
              <a:rPr lang="en-IL"/>
            </a:br>
            <a:r>
              <a:rPr lang="en-IL"/>
              <a:t> 1 = [</a:t>
            </a:r>
            <a:r>
              <a:rPr lang="en-US"/>
              <a:t>0</a:t>
            </a:r>
            <a:r>
              <a:rPr lang="en-IL"/>
              <a:t>,0,</a:t>
            </a:r>
            <a:r>
              <a:rPr lang="en-US"/>
              <a:t>1</a:t>
            </a:r>
            <a:r>
              <a:rPr lang="en-IL"/>
              <a:t>]</a:t>
            </a:r>
            <a:br>
              <a:rPr lang="en-IL"/>
            </a:br>
            <a:r>
              <a:rPr lang="en-IL"/>
              <a:t> 2 = [0,1,0]</a:t>
            </a:r>
            <a:br>
              <a:rPr lang="en-IL"/>
            </a:br>
            <a:r>
              <a:rPr lang="en-IL"/>
              <a:t> 3 = [</a:t>
            </a:r>
            <a:r>
              <a:rPr lang="en-US"/>
              <a:t>0</a:t>
            </a:r>
            <a:r>
              <a:rPr lang="en-IL"/>
              <a:t>,1,</a:t>
            </a:r>
            <a:r>
              <a:rPr lang="en-US"/>
              <a:t>1</a:t>
            </a:r>
            <a:r>
              <a:rPr lang="en-IL"/>
              <a:t>]</a:t>
            </a:r>
            <a:br>
              <a:rPr lang="en-IL"/>
            </a:br>
            <a:r>
              <a:rPr lang="en-IL"/>
              <a:t> 4 = [</a:t>
            </a:r>
            <a:r>
              <a:rPr lang="en-US"/>
              <a:t>1</a:t>
            </a:r>
            <a:r>
              <a:rPr lang="en-IL"/>
              <a:t>,0,</a:t>
            </a:r>
            <a:r>
              <a:rPr lang="en-US"/>
              <a:t>0</a:t>
            </a:r>
            <a:r>
              <a:rPr lang="en-IL"/>
              <a:t>]</a:t>
            </a:r>
            <a:br>
              <a:rPr lang="en-IL"/>
            </a:br>
            <a:r>
              <a:rPr lang="en-IL"/>
              <a:t> 5 = [1,0,1]</a:t>
            </a:r>
            <a:br>
              <a:rPr lang="en-IL"/>
            </a:br>
            <a:r>
              <a:rPr lang="en-IL"/>
              <a:t> 6 = [</a:t>
            </a:r>
            <a:r>
              <a:rPr lang="en-US"/>
              <a:t>1</a:t>
            </a:r>
            <a:r>
              <a:rPr lang="en-IL"/>
              <a:t>,1,</a:t>
            </a:r>
            <a:r>
              <a:rPr lang="en-US"/>
              <a:t>0</a:t>
            </a:r>
            <a:r>
              <a:rPr lang="en-IL"/>
              <a:t>]</a:t>
            </a:r>
            <a:br>
              <a:rPr lang="en-IL"/>
            </a:br>
            <a:r>
              <a:rPr lang="en-IL"/>
              <a:t> 7 = [1,1,1]</a:t>
            </a:r>
            <a:endParaRPr lang="en-IL">
              <a:sym typeface="Wingdings" pitchFamily="2" charset="2"/>
            </a:endParaRPr>
          </a:p>
        </p:txBody>
      </p:sp>
    </p:spTree>
    <p:extLst>
      <p:ext uri="{BB962C8B-B14F-4D97-AF65-F5344CB8AC3E}">
        <p14:creationId xmlns:p14="http://schemas.microsoft.com/office/powerpoint/2010/main" val="1448726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C1F0-F51D-3BF9-9E66-71F2FCFA7F65}"/>
              </a:ext>
            </a:extLst>
          </p:cNvPr>
          <p:cNvSpPr>
            <a:spLocks noGrp="1"/>
          </p:cNvSpPr>
          <p:nvPr>
            <p:ph type="title"/>
          </p:nvPr>
        </p:nvSpPr>
        <p:spPr/>
        <p:txBody>
          <a:bodyPr/>
          <a:lstStyle/>
          <a:p>
            <a:r>
              <a:rPr lang="en-IL"/>
              <a:t>Binary counter – amortize</a:t>
            </a:r>
            <a:r>
              <a:rPr lang="en-US"/>
              <a:t>d analysis</a:t>
            </a:r>
            <a:endParaRPr lang="en-IL"/>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9783B6-FD1A-8415-B437-7907CED698A5}"/>
                  </a:ext>
                </a:extLst>
              </p:cNvPr>
              <p:cNvSpPr>
                <a:spLocks noGrp="1"/>
              </p:cNvSpPr>
              <p:nvPr>
                <p:ph idx="1"/>
              </p:nvPr>
            </p:nvSpPr>
            <p:spPr>
              <a:xfrm>
                <a:off x="1249680" y="1937174"/>
                <a:ext cx="9692640" cy="4023360"/>
              </a:xfrm>
            </p:spPr>
            <p:txBody>
              <a:bodyPr>
                <a:normAutofit/>
              </a:bodyPr>
              <a:lstStyle/>
              <a:p>
                <a:pPr>
                  <a:lnSpc>
                    <a:spcPct val="150000"/>
                  </a:lnSpc>
                </a:pPr>
                <a:r>
                  <a:rPr lang="en-IL"/>
                  <a:t>What is the amortized </a:t>
                </a:r>
                <a:r>
                  <a:rPr lang="en-US"/>
                  <a:t>cost</a:t>
                </a:r>
                <a:r>
                  <a:rPr lang="en-IL"/>
                  <a:t> for a single operation o</a:t>
                </a:r>
                <a:r>
                  <a:rPr lang="en-US"/>
                  <a:t>f</a:t>
                </a:r>
                <a:r>
                  <a:rPr lang="en-IL"/>
                  <a:t> a binary counter </a:t>
                </a:r>
                <a:r>
                  <a:rPr lang="en-US"/>
                  <a:t>counting </a:t>
                </a:r>
                <a:r>
                  <a:rPr lang="en-IL"/>
                  <a:t>from </a:t>
                </a:r>
                <a14:m>
                  <m:oMath xmlns:m="http://schemas.openxmlformats.org/officeDocument/2006/math">
                    <m:r>
                      <a:rPr lang="en-IL" i="1" dirty="0" smtClean="0">
                        <a:latin typeface="Cambria Math" panose="02040503050406030204" pitchFamily="18" charset="0"/>
                      </a:rPr>
                      <m:t>0</m:t>
                    </m:r>
                  </m:oMath>
                </a14:m>
                <a:r>
                  <a:rPr lang="en-IL"/>
                  <a:t> to </a:t>
                </a:r>
                <a14:m>
                  <m:oMath xmlns:m="http://schemas.openxmlformats.org/officeDocument/2006/math">
                    <m:r>
                      <a:rPr lang="en-IL" i="1" dirty="0" smtClean="0">
                        <a:latin typeface="Cambria Math" panose="02040503050406030204" pitchFamily="18" charset="0"/>
                      </a:rPr>
                      <m:t>𝑛</m:t>
                    </m:r>
                  </m:oMath>
                </a14:m>
                <a:r>
                  <a:rPr lang="en-IL"/>
                  <a:t>?</a:t>
                </a:r>
                <a:br>
                  <a:rPr lang="en-IL"/>
                </a:br>
                <a:br>
                  <a:rPr lang="en-IL"/>
                </a:br>
                <a:r>
                  <a:rPr lang="en-IL"/>
                  <a:t>The total number of bits flips is: </a:t>
                </a:r>
                <a14:m>
                  <m:oMath xmlns:m="http://schemas.openxmlformats.org/officeDocument/2006/math">
                    <m:r>
                      <a:rPr lang="en-IL" i="1" dirty="0" smtClean="0">
                        <a:latin typeface="Cambria Math" panose="02040503050406030204" pitchFamily="18" charset="0"/>
                      </a:rPr>
                      <m:t>𝑛</m:t>
                    </m:r>
                  </m:oMath>
                </a14:m>
                <a:r>
                  <a:rPr lang="en-IL"/>
                  <a:t> + </a:t>
                </a:r>
                <a14:m>
                  <m:oMath xmlns:m="http://schemas.openxmlformats.org/officeDocument/2006/math">
                    <m:d>
                      <m:dPr>
                        <m:begChr m:val="⌊"/>
                        <m:endChr m:val="⌋"/>
                        <m:ctrlPr>
                          <a:rPr lang="en-IL" i="1" dirty="0" smtClean="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b="0" i="1" smtClean="0">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1</m:t>
                                </m:r>
                              </m:sup>
                            </m:sSup>
                          </m:den>
                        </m:f>
                      </m:e>
                    </m:d>
                  </m:oMath>
                </a14:m>
                <a:r>
                  <a:rPr lang="en-IL"/>
                  <a:t> + </a:t>
                </a:r>
                <a14:m>
                  <m:oMath xmlns:m="http://schemas.openxmlformats.org/officeDocument/2006/math">
                    <m:d>
                      <m:dPr>
                        <m:begChr m:val="⌊"/>
                        <m:endChr m:val="⌋"/>
                        <m:ctrlPr>
                          <a:rPr lang="en-IL" i="1" dirty="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2</m:t>
                                </m:r>
                              </m:sup>
                            </m:sSup>
                          </m:den>
                        </m:f>
                      </m:e>
                    </m:d>
                    <m:r>
                      <a:rPr lang="en-US" b="0" i="1" smtClean="0">
                        <a:latin typeface="Cambria Math" panose="02040503050406030204" pitchFamily="18" charset="0"/>
                        <a:sym typeface="Wingdings" pitchFamily="2" charset="2"/>
                      </a:rPr>
                      <m:t>+</m:t>
                    </m:r>
                    <m:d>
                      <m:dPr>
                        <m:begChr m:val="⌊"/>
                        <m:endChr m:val="⌋"/>
                        <m:ctrlPr>
                          <a:rPr lang="en-IL" i="1" dirty="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3</m:t>
                                </m:r>
                              </m:sup>
                            </m:sSup>
                          </m:den>
                        </m:f>
                      </m:e>
                    </m:d>
                  </m:oMath>
                </a14:m>
                <a:r>
                  <a:rPr lang="en-IL"/>
                  <a:t> + … + </a:t>
                </a:r>
                <a14:m>
                  <m:oMath xmlns:m="http://schemas.openxmlformats.org/officeDocument/2006/math">
                    <m:d>
                      <m:dPr>
                        <m:begChr m:val="⌊"/>
                        <m:endChr m:val="⌋"/>
                        <m:ctrlPr>
                          <a:rPr lang="en-IL" i="1" dirty="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𝑘</m:t>
                                </m:r>
                              </m:sup>
                            </m:sSup>
                          </m:den>
                        </m:f>
                      </m:e>
                    </m:d>
                  </m:oMath>
                </a14:m>
                <a:endParaRPr lang="en-IL"/>
              </a:p>
              <a:p>
                <a:pPr marL="0" indent="0" algn="ctr">
                  <a:lnSpc>
                    <a:spcPct val="150000"/>
                  </a:lnSpc>
                  <a:buNone/>
                </a:pPr>
                <a:r>
                  <a:rPr lang="en-IL"/>
                  <a:t>	</a:t>
                </a:r>
                <a14:m>
                  <m:oMath xmlns:m="http://schemas.openxmlformats.org/officeDocument/2006/math">
                    <m:r>
                      <a:rPr lang="en-IL" i="1" dirty="0" smtClean="0">
                        <a:latin typeface="Cambria Math" panose="02040503050406030204" pitchFamily="18" charset="0"/>
                      </a:rPr>
                      <m:t>𝑛</m:t>
                    </m:r>
                  </m:oMath>
                </a14:m>
                <a:r>
                  <a:rPr lang="en-IL"/>
                  <a:t> + </a:t>
                </a:r>
                <a14:m>
                  <m:oMath xmlns:m="http://schemas.openxmlformats.org/officeDocument/2006/math">
                    <m:d>
                      <m:dPr>
                        <m:begChr m:val="⌊"/>
                        <m:endChr m:val="⌋"/>
                        <m:ctrlPr>
                          <a:rPr lang="en-IL" i="1" dirty="0" smtClean="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b="0" i="1" smtClean="0">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1</m:t>
                                </m:r>
                              </m:sup>
                            </m:sSup>
                          </m:den>
                        </m:f>
                      </m:e>
                    </m:d>
                  </m:oMath>
                </a14:m>
                <a:r>
                  <a:rPr lang="en-IL"/>
                  <a:t> + </a:t>
                </a:r>
                <a14:m>
                  <m:oMath xmlns:m="http://schemas.openxmlformats.org/officeDocument/2006/math">
                    <m:d>
                      <m:dPr>
                        <m:begChr m:val="⌊"/>
                        <m:endChr m:val="⌋"/>
                        <m:ctrlPr>
                          <a:rPr lang="en-IL" i="1" dirty="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2</m:t>
                                </m:r>
                              </m:sup>
                            </m:sSup>
                          </m:den>
                        </m:f>
                      </m:e>
                    </m:d>
                    <m:r>
                      <a:rPr lang="en-US" b="0" i="1" smtClean="0">
                        <a:latin typeface="Cambria Math" panose="02040503050406030204" pitchFamily="18" charset="0"/>
                        <a:sym typeface="Wingdings" pitchFamily="2" charset="2"/>
                      </a:rPr>
                      <m:t>+</m:t>
                    </m:r>
                    <m:d>
                      <m:dPr>
                        <m:begChr m:val="⌊"/>
                        <m:endChr m:val="⌋"/>
                        <m:ctrlPr>
                          <a:rPr lang="en-IL" i="1" dirty="0">
                            <a:latin typeface="Cambria Math" panose="02040503050406030204" pitchFamily="18" charset="0"/>
                            <a:sym typeface="Wingdings" pitchFamily="2" charset="2"/>
                          </a:rPr>
                        </m:ctrlPr>
                      </m:dPr>
                      <m:e>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3</m:t>
                                </m:r>
                              </m:sup>
                            </m:sSup>
                          </m:den>
                        </m:f>
                      </m:e>
                    </m:d>
                  </m:oMath>
                </a14:m>
                <a:r>
                  <a:rPr lang="en-IL"/>
                  <a:t> + … + </a:t>
                </a:r>
                <a14:m>
                  <m:oMath xmlns:m="http://schemas.openxmlformats.org/officeDocument/2006/math">
                    <m:d>
                      <m:dPr>
                        <m:begChr m:val="⌊"/>
                        <m:endChr m:val="⌋"/>
                        <m:ctrlPr>
                          <a:rPr lang="en-IL" i="1" dirty="0" smtClean="0">
                            <a:latin typeface="Cambria Math" panose="02040503050406030204" pitchFamily="18" charset="0"/>
                            <a:sym typeface="Wingdings" pitchFamily="2" charset="2"/>
                          </a:rPr>
                        </m:ctrlPr>
                      </m:dPr>
                      <m:e>
                        <m:r>
                          <a:rPr lang="en-US" b="0" i="1" dirty="0" smtClean="0">
                            <a:latin typeface="Cambria Math" panose="02040503050406030204" pitchFamily="18" charset="0"/>
                            <a:sym typeface="Wingdings" pitchFamily="2" charset="2"/>
                          </a:rPr>
                          <m:t>1</m:t>
                        </m:r>
                      </m:e>
                    </m:d>
                  </m:oMath>
                </a14:m>
                <a:r>
                  <a:rPr lang="en-IL"/>
                  <a:t> </a:t>
                </a:r>
                <a14:m>
                  <m:oMath xmlns:m="http://schemas.openxmlformats.org/officeDocument/2006/math">
                    <m:r>
                      <a:rPr lang="en-IL" i="1" dirty="0" smtClean="0">
                        <a:latin typeface="Cambria Math" panose="02040503050406030204" pitchFamily="18" charset="0"/>
                        <a:ea typeface="Cambria Math" panose="02040503050406030204" pitchFamily="18" charset="0"/>
                      </a:rPr>
                      <m:t>≤</m:t>
                    </m:r>
                  </m:oMath>
                </a14:m>
                <a:r>
                  <a:rPr lang="en-IL"/>
                  <a:t> </a:t>
                </a:r>
                <a14:m>
                  <m:oMath xmlns:m="http://schemas.openxmlformats.org/officeDocument/2006/math">
                    <m:r>
                      <a:rPr lang="en-IL" i="1" dirty="0" smtClean="0">
                        <a:latin typeface="Cambria Math" panose="02040503050406030204" pitchFamily="18" charset="0"/>
                      </a:rPr>
                      <m:t>𝑛</m:t>
                    </m:r>
                    <m:r>
                      <a:rPr lang="en-IL" i="1" dirty="0" smtClean="0">
                        <a:latin typeface="Cambria Math" panose="02040503050406030204" pitchFamily="18" charset="0"/>
                      </a:rPr>
                      <m:t> </m:t>
                    </m:r>
                  </m:oMath>
                </a14:m>
                <a:r>
                  <a:rPr lang="en-IL"/>
                  <a:t>+ </a:t>
                </a:r>
                <a14:m>
                  <m:oMath xmlns:m="http://schemas.openxmlformats.org/officeDocument/2006/math">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i="1">
                                <a:latin typeface="Cambria Math" panose="02040503050406030204" pitchFamily="18" charset="0"/>
                                <a:sym typeface="Wingdings" pitchFamily="2" charset="2"/>
                              </a:rPr>
                              <m:t>1</m:t>
                            </m:r>
                          </m:sup>
                        </m:sSup>
                      </m:den>
                    </m:f>
                  </m:oMath>
                </a14:m>
                <a:r>
                  <a:rPr lang="en-IL"/>
                  <a:t> + </a:t>
                </a:r>
                <a14:m>
                  <m:oMath xmlns:m="http://schemas.openxmlformats.org/officeDocument/2006/math">
                    <m:f>
                      <m:fPr>
                        <m:ctrlPr>
                          <a:rPr lang="en-IL" i="1">
                            <a:latin typeface="Cambria Math" panose="02040503050406030204" pitchFamily="18" charset="0"/>
                            <a:sym typeface="Wingdings" pitchFamily="2" charset="2"/>
                          </a:rPr>
                        </m:ctrlPr>
                      </m:fPr>
                      <m:num>
                        <m:r>
                          <a:rPr lang="en-US" i="1">
                            <a:latin typeface="Cambria Math" panose="02040503050406030204" pitchFamily="18" charset="0"/>
                            <a:sym typeface="Wingdings" pitchFamily="2" charset="2"/>
                          </a:rPr>
                          <m:t>𝑛</m:t>
                        </m:r>
                      </m:num>
                      <m:den>
                        <m:sSup>
                          <m:sSupPr>
                            <m:ctrlPr>
                              <a:rPr lang="en-US" i="1">
                                <a:latin typeface="Cambria Math" panose="02040503050406030204" pitchFamily="18" charset="0"/>
                                <a:sym typeface="Wingdings" pitchFamily="2" charset="2"/>
                              </a:rPr>
                            </m:ctrlPr>
                          </m:sSupPr>
                          <m:e>
                            <m:r>
                              <a:rPr lang="en-US" i="1">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2</m:t>
                            </m:r>
                          </m:sup>
                        </m:sSup>
                      </m:den>
                    </m:f>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𝑛</m:t>
                        </m:r>
                      </m:num>
                      <m:den>
                        <m:sSup>
                          <m:sSupPr>
                            <m:ctrlPr>
                              <a:rPr lang="en-US" b="0" i="1" smtClean="0">
                                <a:latin typeface="Cambria Math" panose="02040503050406030204" pitchFamily="18" charset="0"/>
                                <a:sym typeface="Wingdings" pitchFamily="2" charset="2"/>
                              </a:rPr>
                            </m:ctrlPr>
                          </m:sSupPr>
                          <m:e>
                            <m:r>
                              <a:rPr lang="en-US" b="0" i="1" smtClean="0">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3</m:t>
                            </m:r>
                          </m:sup>
                        </m:sSup>
                      </m:den>
                    </m:f>
                    <m:r>
                      <a:rPr lang="en-US" b="0" i="1" smtClean="0">
                        <a:latin typeface="Cambria Math" panose="02040503050406030204" pitchFamily="18" charset="0"/>
                        <a:sym typeface="Wingdings" pitchFamily="2" charset="2"/>
                      </a:rPr>
                      <m:t> …+ 1=</m:t>
                    </m:r>
                    <m:r>
                      <a:rPr lang="en-US" b="0" i="1" smtClean="0">
                        <a:latin typeface="Cambria Math" panose="02040503050406030204" pitchFamily="18" charset="0"/>
                        <a:sym typeface="Wingdings" pitchFamily="2" charset="2"/>
                      </a:rPr>
                      <m:t>𝑛</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1+</m:t>
                        </m:r>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1</m:t>
                            </m:r>
                          </m:num>
                          <m:den>
                            <m:r>
                              <a:rPr lang="en-US" b="0" i="1" smtClean="0">
                                <a:latin typeface="Cambria Math" panose="02040503050406030204" pitchFamily="18" charset="0"/>
                                <a:sym typeface="Wingdings" pitchFamily="2" charset="2"/>
                              </a:rPr>
                              <m:t>2</m:t>
                            </m:r>
                          </m:den>
                        </m:f>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1</m:t>
                            </m:r>
                          </m:num>
                          <m:den>
                            <m:r>
                              <a:rPr lang="en-US" b="0" i="1" smtClean="0">
                                <a:latin typeface="Cambria Math" panose="02040503050406030204" pitchFamily="18" charset="0"/>
                                <a:sym typeface="Wingdings" pitchFamily="2" charset="2"/>
                              </a:rPr>
                              <m:t>4</m:t>
                            </m:r>
                          </m:den>
                        </m:f>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1</m:t>
                            </m:r>
                          </m:num>
                          <m:den>
                            <m:sSup>
                              <m:sSupPr>
                                <m:ctrlPr>
                                  <a:rPr lang="en-US" b="0" i="1" smtClean="0">
                                    <a:latin typeface="Cambria Math" panose="02040503050406030204" pitchFamily="18" charset="0"/>
                                    <a:sym typeface="Wingdings" pitchFamily="2" charset="2"/>
                                  </a:rPr>
                                </m:ctrlPr>
                              </m:sSupPr>
                              <m:e>
                                <m:r>
                                  <a:rPr lang="en-US" b="0" i="1" smtClean="0">
                                    <a:latin typeface="Cambria Math" panose="02040503050406030204" pitchFamily="18" charset="0"/>
                                    <a:sym typeface="Wingdings" pitchFamily="2" charset="2"/>
                                  </a:rPr>
                                  <m:t>2</m:t>
                                </m:r>
                              </m:e>
                              <m:sup>
                                <m:r>
                                  <a:rPr lang="en-US" b="0" i="1" smtClean="0">
                                    <a:latin typeface="Cambria Math" panose="02040503050406030204" pitchFamily="18" charset="0"/>
                                    <a:sym typeface="Wingdings" pitchFamily="2" charset="2"/>
                                  </a:rPr>
                                  <m:t>𝑘</m:t>
                                </m:r>
                              </m:sup>
                            </m:sSup>
                          </m:den>
                        </m:f>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𝑛</m:t>
                    </m:r>
                    <m:r>
                      <a:rPr lang="en-US" b="0" i="1" smtClean="0">
                        <a:latin typeface="Cambria Math" panose="02040503050406030204" pitchFamily="18" charset="0"/>
                        <a:sym typeface="Wingdings" pitchFamily="2" charset="2"/>
                      </a:rPr>
                      <m:t>⋅</m:t>
                    </m:r>
                  </m:oMath>
                </a14:m>
                <a:r>
                  <a:rPr lang="en-IL"/>
                  <a:t> </a:t>
                </a:r>
                <a14:m>
                  <m:oMath xmlns:m="http://schemas.openxmlformats.org/officeDocument/2006/math">
                    <m:r>
                      <a:rPr lang="en-US" b="0" i="1" dirty="0" smtClean="0">
                        <a:latin typeface="Cambria Math" panose="02040503050406030204" pitchFamily="18" charset="0"/>
                      </a:rPr>
                      <m:t>2=2</m:t>
                    </m:r>
                    <m:r>
                      <a:rPr lang="en-IL" i="1" dirty="0" smtClean="0">
                        <a:latin typeface="Cambria Math" panose="02040503050406030204" pitchFamily="18" charset="0"/>
                      </a:rPr>
                      <m:t>𝑛</m:t>
                    </m:r>
                  </m:oMath>
                </a14:m>
                <a:endParaRPr lang="en-IL"/>
              </a:p>
              <a:p>
                <a:pPr marL="0" indent="0">
                  <a:lnSpc>
                    <a:spcPct val="150000"/>
                  </a:lnSpc>
                  <a:buNone/>
                </a:pPr>
                <a:r>
                  <a:rPr lang="en-IL"/>
                  <a:t>	So, the amortized </a:t>
                </a:r>
                <a:r>
                  <a:rPr lang="en-US"/>
                  <a:t>cost</a:t>
                </a:r>
                <a:r>
                  <a:rPr lang="en-IL"/>
                  <a:t> is </a:t>
                </a:r>
                <a14:m>
                  <m:oMath xmlns:m="http://schemas.openxmlformats.org/officeDocument/2006/math">
                    <m:f>
                      <m:fPr>
                        <m:ctrlPr>
                          <a:rPr lang="en-IL"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2</m:t>
                        </m:r>
                        <m:r>
                          <a:rPr lang="en-US" i="1">
                            <a:latin typeface="Cambria Math" panose="02040503050406030204" pitchFamily="18" charset="0"/>
                            <a:sym typeface="Wingdings" pitchFamily="2" charset="2"/>
                          </a:rPr>
                          <m:t>𝑛</m:t>
                        </m:r>
                      </m:num>
                      <m:den>
                        <m:r>
                          <a:rPr lang="en-US" b="0" i="1" smtClean="0">
                            <a:latin typeface="Cambria Math" panose="02040503050406030204" pitchFamily="18" charset="0"/>
                            <a:sym typeface="Wingdings" pitchFamily="2" charset="2"/>
                          </a:rPr>
                          <m:t>𝑛</m:t>
                        </m:r>
                      </m:den>
                    </m:f>
                  </m:oMath>
                </a14:m>
                <a:r>
                  <a:rPr lang="en-IL"/>
                  <a:t> = </a:t>
                </a:r>
                <a:r>
                  <a:rPr lang="en-US"/>
                  <a:t>2 = </a:t>
                </a:r>
                <a14:m>
                  <m:oMath xmlns:m="http://schemas.openxmlformats.org/officeDocument/2006/math">
                    <m:r>
                      <a:rPr lang="en-IL" i="1" dirty="0" smtClean="0">
                        <a:latin typeface="Cambria Math" panose="02040503050406030204" pitchFamily="18" charset="0"/>
                      </a:rPr>
                      <m:t>𝑂</m:t>
                    </m:r>
                    <m:r>
                      <a:rPr lang="en-IL" i="1" dirty="0" smtClean="0">
                        <a:latin typeface="Cambria Math" panose="02040503050406030204" pitchFamily="18" charset="0"/>
                      </a:rPr>
                      <m:t>(1)</m:t>
                    </m:r>
                  </m:oMath>
                </a14:m>
                <a:r>
                  <a:rPr lang="en-IL"/>
                  <a:t> = constant time.</a:t>
                </a:r>
              </a:p>
            </p:txBody>
          </p:sp>
        </mc:Choice>
        <mc:Fallback xmlns="">
          <p:sp>
            <p:nvSpPr>
              <p:cNvPr id="3" name="Content Placeholder 2">
                <a:extLst>
                  <a:ext uri="{FF2B5EF4-FFF2-40B4-BE49-F238E27FC236}">
                    <a16:creationId xmlns:a16="http://schemas.microsoft.com/office/drawing/2014/main" id="{B79783B6-FD1A-8415-B437-7907CED698A5}"/>
                  </a:ext>
                </a:extLst>
              </p:cNvPr>
              <p:cNvSpPr>
                <a:spLocks noGrp="1" noRot="1" noChangeAspect="1" noMove="1" noResize="1" noEditPoints="1" noAdjustHandles="1" noChangeArrowheads="1" noChangeShapeType="1" noTextEdit="1"/>
              </p:cNvSpPr>
              <p:nvPr>
                <p:ph idx="1"/>
              </p:nvPr>
            </p:nvSpPr>
            <p:spPr>
              <a:xfrm>
                <a:off x="1249680" y="1937174"/>
                <a:ext cx="9692640" cy="4023360"/>
              </a:xfrm>
              <a:blipFill>
                <a:blip r:embed="rId3"/>
                <a:stretch>
                  <a:fillRect l="-629"/>
                </a:stretch>
              </a:blipFill>
            </p:spPr>
            <p:txBody>
              <a:bodyPr/>
              <a:lstStyle/>
              <a:p>
                <a:r>
                  <a:rPr lang="en-US">
                    <a:noFill/>
                  </a:rPr>
                  <a:t> </a:t>
                </a:r>
              </a:p>
            </p:txBody>
          </p:sp>
        </mc:Fallback>
      </mc:AlternateContent>
    </p:spTree>
    <p:extLst>
      <p:ext uri="{BB962C8B-B14F-4D97-AF65-F5344CB8AC3E}">
        <p14:creationId xmlns:p14="http://schemas.microsoft.com/office/powerpoint/2010/main" val="2463529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 (ADT)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45734"/>
                <a:ext cx="10326782" cy="4023360"/>
              </a:xfrm>
            </p:spPr>
            <p:txBody>
              <a:bodyPr/>
              <a:lstStyle/>
              <a:p>
                <a:pPr lvl="1"/>
                <a:r>
                  <a:rPr lang="en-US" sz="2400" dirty="0"/>
                  <a:t>Maintain a set of elements where each element has a priority (key).</a:t>
                </a:r>
              </a:p>
              <a:p>
                <a:pPr lvl="1"/>
                <a:r>
                  <a:rPr lang="en-US" sz="2400" dirty="0"/>
                  <a:t>Main operations:</a:t>
                </a:r>
              </a:p>
              <a:p>
                <a:pPr lvl="2"/>
                <a:r>
                  <a:rPr lang="en-US" sz="2400" b="1" dirty="0"/>
                  <a:t>find-min(): </a:t>
                </a:r>
                <a:r>
                  <a:rPr lang="en-US" sz="2400" dirty="0"/>
                  <a:t>return element with minimum key.</a:t>
                </a:r>
              </a:p>
              <a:p>
                <a:pPr lvl="2"/>
                <a:r>
                  <a:rPr lang="en-US" sz="2400" b="1" dirty="0"/>
                  <a:t>delete-min(): </a:t>
                </a:r>
                <a:r>
                  <a:rPr lang="en-US" sz="2400" dirty="0"/>
                  <a:t>delete the element with minimum key and return it.</a:t>
                </a:r>
              </a:p>
              <a:p>
                <a:pPr lvl="2"/>
                <a:r>
                  <a:rPr lang="en-US" sz="2400" b="1" dirty="0"/>
                  <a:t>insert(x, k): </a:t>
                </a:r>
                <a:r>
                  <a:rPr lang="en-US" sz="2400" dirty="0"/>
                  <a:t>insert element </a:t>
                </a:r>
                <a14:m>
                  <m:oMath xmlns:m="http://schemas.openxmlformats.org/officeDocument/2006/math">
                    <m:r>
                      <a:rPr lang="en-US" sz="2400" i="1" dirty="0" smtClean="0">
                        <a:latin typeface="Cambria Math" panose="02040503050406030204" pitchFamily="18" charset="0"/>
                      </a:rPr>
                      <m:t>𝑥</m:t>
                    </m:r>
                  </m:oMath>
                </a14:m>
                <a:r>
                  <a:rPr lang="en-US" sz="2400" dirty="0"/>
                  <a:t> with key </a:t>
                </a:r>
                <a14:m>
                  <m:oMath xmlns:m="http://schemas.openxmlformats.org/officeDocument/2006/math">
                    <m:r>
                      <a:rPr lang="en-US" sz="2400" i="1" dirty="0" smtClean="0">
                        <a:latin typeface="Cambria Math" panose="02040503050406030204" pitchFamily="18" charset="0"/>
                      </a:rPr>
                      <m:t>𝑘</m:t>
                    </m:r>
                  </m:oMath>
                </a14:m>
                <a:r>
                  <a:rPr lang="en-US" sz="2400" dirty="0"/>
                  <a:t> and return a handle to that element.</a:t>
                </a:r>
              </a:p>
              <a:p>
                <a:pPr lvl="2"/>
                <a:r>
                  <a:rPr lang="en-US" sz="2400" b="1" dirty="0"/>
                  <a:t>decrease-key(h, k): </a:t>
                </a:r>
                <a:r>
                  <a:rPr lang="en-US" sz="2400" dirty="0"/>
                  <a:t>decrease the key of the element given by handle </a:t>
                </a:r>
                <a14:m>
                  <m:oMath xmlns:m="http://schemas.openxmlformats.org/officeDocument/2006/math">
                    <m:r>
                      <a:rPr lang="en-US" sz="2400" i="1" dirty="0" smtClean="0">
                        <a:latin typeface="Cambria Math" panose="02040503050406030204" pitchFamily="18" charset="0"/>
                      </a:rPr>
                      <m:t>h</m:t>
                    </m:r>
                  </m:oMath>
                </a14:m>
                <a:r>
                  <a:rPr lang="en-US" sz="2400" dirty="0"/>
                  <a:t> to </a:t>
                </a:r>
                <a14:m>
                  <m:oMath xmlns:m="http://schemas.openxmlformats.org/officeDocument/2006/math">
                    <m:r>
                      <a:rPr lang="en-US" sz="2400" i="1" dirty="0" smtClean="0">
                        <a:latin typeface="Cambria Math" panose="02040503050406030204" pitchFamily="18" charset="0"/>
                      </a:rPr>
                      <m:t>𝑘</m:t>
                    </m:r>
                  </m:oMath>
                </a14:m>
                <a:r>
                  <a:rPr lang="en-US" sz="2400" dirty="0"/>
                  <a:t>.</a:t>
                </a:r>
              </a:p>
              <a:p>
                <a:pPr lvl="2"/>
                <a:endParaRPr lang="en-US" sz="2400" dirty="0"/>
              </a:p>
              <a:p>
                <a:pPr lvl="2"/>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80" y="1845734"/>
                <a:ext cx="10326782" cy="4023360"/>
              </a:xfrm>
              <a:blipFill>
                <a:blip r:embed="rId3"/>
                <a:stretch>
                  <a:fillRect t="-2201"/>
                </a:stretch>
              </a:blipFill>
            </p:spPr>
            <p:txBody>
              <a:bodyPr/>
              <a:lstStyle/>
              <a:p>
                <a:r>
                  <a:rPr lang="en-IL">
                    <a:noFill/>
                  </a:rPr>
                  <a:t> </a:t>
                </a:r>
              </a:p>
            </p:txBody>
          </p:sp>
        </mc:Fallback>
      </mc:AlternateContent>
    </p:spTree>
    <p:extLst>
      <p:ext uri="{BB962C8B-B14F-4D97-AF65-F5344CB8AC3E}">
        <p14:creationId xmlns:p14="http://schemas.microsoft.com/office/powerpoint/2010/main" val="249237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7122836" y="3801728"/>
            <a:ext cx="4297086" cy="2175740"/>
          </a:xfrm>
          <a:prstGeom prst="rect">
            <a:avLst/>
          </a:prstGeom>
        </p:spPr>
      </p:pic>
      <p:sp>
        <p:nvSpPr>
          <p:cNvPr id="2" name="Title 1"/>
          <p:cNvSpPr>
            <a:spLocks noGrp="1"/>
          </p:cNvSpPr>
          <p:nvPr>
            <p:ph type="title"/>
          </p:nvPr>
        </p:nvSpPr>
        <p:spPr/>
        <p:txBody>
          <a:bodyPr/>
          <a:lstStyle/>
          <a:p>
            <a:r>
              <a:rPr lang="en-US" dirty="0"/>
              <a:t>Binary Tree</a:t>
            </a:r>
          </a:p>
        </p:txBody>
      </p:sp>
      <p:sp>
        <p:nvSpPr>
          <p:cNvPr id="3" name="Content Placeholder 2"/>
          <p:cNvSpPr>
            <a:spLocks noGrp="1"/>
          </p:cNvSpPr>
          <p:nvPr>
            <p:ph idx="1"/>
          </p:nvPr>
        </p:nvSpPr>
        <p:spPr/>
        <p:txBody>
          <a:bodyPr/>
          <a:lstStyle/>
          <a:p>
            <a:pPr lvl="1"/>
            <a:r>
              <a:rPr lang="en-US" sz="2400" dirty="0"/>
              <a:t>An ordered tree where each node has at most two children</a:t>
            </a:r>
          </a:p>
          <a:p>
            <a:pPr lvl="2"/>
            <a:r>
              <a:rPr lang="en-US" sz="2400" dirty="0"/>
              <a:t>Such a tree is composed of nodes.</a:t>
            </a:r>
          </a:p>
          <a:p>
            <a:pPr lvl="2"/>
            <a:r>
              <a:rPr lang="en-US" sz="2400" dirty="0"/>
              <a:t>A childless node is called a leaf.</a:t>
            </a:r>
          </a:p>
          <a:p>
            <a:pPr lvl="2"/>
            <a:r>
              <a:rPr lang="en-US" sz="2400" dirty="0"/>
              <a:t>In a complete tree, all leaves are on the same level.</a:t>
            </a:r>
          </a:p>
          <a:p>
            <a:pPr marL="201168" lvl="1" indent="0">
              <a:buNone/>
            </a:pPr>
            <a:endParaRPr lang="en-US" dirty="0"/>
          </a:p>
        </p:txBody>
      </p:sp>
      <p:sp>
        <p:nvSpPr>
          <p:cNvPr id="4" name="Rectangle 3"/>
          <p:cNvSpPr/>
          <p:nvPr/>
        </p:nvSpPr>
        <p:spPr>
          <a:xfrm>
            <a:off x="7020233" y="5486400"/>
            <a:ext cx="1573161" cy="5997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73350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FA9D-44F6-4B0E-AC93-CADF9928FE7D}"/>
              </a:ext>
            </a:extLst>
          </p:cNvPr>
          <p:cNvSpPr>
            <a:spLocks noGrp="1"/>
          </p:cNvSpPr>
          <p:nvPr>
            <p:ph type="title"/>
          </p:nvPr>
        </p:nvSpPr>
        <p:spPr/>
        <p:txBody>
          <a:bodyPr/>
          <a:lstStyle/>
          <a:p>
            <a:r>
              <a:rPr lang="en-US" dirty="0"/>
              <a:t>Definitions - Reminder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E133C4-5B3F-4402-A19A-7412456F23C8}"/>
                  </a:ext>
                </a:extLst>
              </p:cNvPr>
              <p:cNvSpPr>
                <a:spLocks noGrp="1"/>
              </p:cNvSpPr>
              <p:nvPr>
                <p:ph idx="1"/>
              </p:nvPr>
            </p:nvSpPr>
            <p:spPr>
              <a:xfrm>
                <a:off x="1097279" y="1845734"/>
                <a:ext cx="10638253" cy="4023360"/>
              </a:xfrm>
            </p:spPr>
            <p:txBody>
              <a:bodyPr>
                <a:normAutofit lnSpcReduction="10000"/>
              </a:bodyPr>
              <a:lstStyle/>
              <a:p>
                <a:r>
                  <a:rPr lang="en-US" b="1" dirty="0"/>
                  <a:t>Full binary tree:</a:t>
                </a:r>
              </a:p>
              <a:p>
                <a:pPr lvl="1"/>
                <a:r>
                  <a:rPr lang="en-US" dirty="0"/>
                  <a:t>A tree where each node has two children, or the node is a leaf.</a:t>
                </a:r>
              </a:p>
              <a:p>
                <a:pPr marL="0" indent="0">
                  <a:buNone/>
                </a:pPr>
                <a:endParaRPr lang="en-US" dirty="0"/>
              </a:p>
              <a:p>
                <a:r>
                  <a:rPr lang="en-US" b="1" dirty="0"/>
                  <a:t>(almost) Complete binary tree:</a:t>
                </a:r>
              </a:p>
              <a:p>
                <a:pPr lvl="1"/>
                <a:r>
                  <a:rPr lang="en-US" dirty="0"/>
                  <a:t>A binary tree in which every level, except possibly the </a:t>
                </a:r>
              </a:p>
              <a:p>
                <a:pPr marL="201168" lvl="1" indent="0">
                  <a:buNone/>
                </a:pPr>
                <a:r>
                  <a:rPr lang="en-US" dirty="0"/>
                  <a:t>   last is completely filled. The elements on the last level</a:t>
                </a:r>
                <a:br>
                  <a:rPr lang="en-US" dirty="0"/>
                </a:br>
                <a:r>
                  <a:rPr lang="en-US" dirty="0"/>
                  <a:t>   are positioned “on the left”. </a:t>
                </a:r>
              </a:p>
              <a:p>
                <a:pPr lvl="1"/>
                <a:endParaRPr lang="en-US" dirty="0"/>
              </a:p>
              <a:p>
                <a:r>
                  <a:rPr lang="en-US" b="1" dirty="0"/>
                  <a:t>Complete binary tree:</a:t>
                </a:r>
              </a:p>
              <a:p>
                <a:pPr lvl="1"/>
                <a:r>
                  <a:rPr lang="en-US" dirty="0"/>
                  <a:t>A binary tree in which every level is completely filled.</a:t>
                </a:r>
              </a:p>
              <a:p>
                <a:pPr lvl="1"/>
                <a:r>
                  <a:rPr lang="en-US" dirty="0"/>
                  <a:t>Such a tree will always have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r>
                      <a:rPr lang="en-US" b="0" i="0"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𝑑</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𝑑</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r>
                  <a:rPr lang="en-US" dirty="0"/>
                  <a:t> nodes overall (where d is the depth of the tree).</a:t>
                </a:r>
              </a:p>
            </p:txBody>
          </p:sp>
        </mc:Choice>
        <mc:Fallback>
          <p:sp>
            <p:nvSpPr>
              <p:cNvPr id="3" name="Content Placeholder 2">
                <a:extLst>
                  <a:ext uri="{FF2B5EF4-FFF2-40B4-BE49-F238E27FC236}">
                    <a16:creationId xmlns:a16="http://schemas.microsoft.com/office/drawing/2014/main" id="{5AE133C4-5B3F-4402-A19A-7412456F23C8}"/>
                  </a:ext>
                </a:extLst>
              </p:cNvPr>
              <p:cNvSpPr>
                <a:spLocks noGrp="1" noRot="1" noChangeAspect="1" noMove="1" noResize="1" noEditPoints="1" noAdjustHandles="1" noChangeArrowheads="1" noChangeShapeType="1" noTextEdit="1"/>
              </p:cNvSpPr>
              <p:nvPr>
                <p:ph idx="1"/>
              </p:nvPr>
            </p:nvSpPr>
            <p:spPr>
              <a:xfrm>
                <a:off x="1097279" y="1845734"/>
                <a:ext cx="10638253" cy="4023360"/>
              </a:xfrm>
              <a:blipFill>
                <a:blip r:embed="rId2"/>
                <a:stretch>
                  <a:fillRect l="-573" t="-2273"/>
                </a:stretch>
              </a:blipFill>
            </p:spPr>
            <p:txBody>
              <a:bodyPr/>
              <a:lstStyle/>
              <a:p>
                <a:r>
                  <a:rPr lang="en-IL">
                    <a:noFill/>
                  </a:rPr>
                  <a:t> </a:t>
                </a:r>
              </a:p>
            </p:txBody>
          </p:sp>
        </mc:Fallback>
      </mc:AlternateContent>
      <p:pic>
        <p:nvPicPr>
          <p:cNvPr id="1026" name="Picture 2" descr="תוצאת תמונה עבור ‪full binary tree‬‏">
            <a:extLst>
              <a:ext uri="{FF2B5EF4-FFF2-40B4-BE49-F238E27FC236}">
                <a16:creationId xmlns:a16="http://schemas.microsoft.com/office/drawing/2014/main" id="{A6D03E86-45E9-48FD-9034-C2721B683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0847" y="2194956"/>
            <a:ext cx="4861153" cy="2678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98E771B-64DA-F9AA-8D2D-34917E2EA9A1}"/>
              </a:ext>
            </a:extLst>
          </p:cNvPr>
          <p:cNvSpPr txBox="1"/>
          <p:nvPr/>
        </p:nvSpPr>
        <p:spPr>
          <a:xfrm>
            <a:off x="9381392" y="4519413"/>
            <a:ext cx="1031631" cy="353943"/>
          </a:xfrm>
          <a:prstGeom prst="rect">
            <a:avLst/>
          </a:prstGeom>
          <a:noFill/>
        </p:spPr>
        <p:txBody>
          <a:bodyPr wrap="square">
            <a:spAutoFit/>
          </a:bodyPr>
          <a:lstStyle/>
          <a:p>
            <a:r>
              <a:rPr lang="en-US" sz="1700" b="1" dirty="0"/>
              <a:t>almost</a:t>
            </a:r>
            <a:endParaRPr lang="en-IL" sz="1700" b="1" dirty="0"/>
          </a:p>
        </p:txBody>
      </p:sp>
    </p:spTree>
    <p:extLst>
      <p:ext uri="{BB962C8B-B14F-4D97-AF65-F5344CB8AC3E}">
        <p14:creationId xmlns:p14="http://schemas.microsoft.com/office/powerpoint/2010/main" val="3466187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Heap</a:t>
            </a:r>
          </a:p>
        </p:txBody>
      </p:sp>
      <p:sp>
        <p:nvSpPr>
          <p:cNvPr id="3" name="Content Placeholder 2"/>
          <p:cNvSpPr>
            <a:spLocks noGrp="1"/>
          </p:cNvSpPr>
          <p:nvPr>
            <p:ph idx="1"/>
          </p:nvPr>
        </p:nvSpPr>
        <p:spPr/>
        <p:txBody>
          <a:bodyPr/>
          <a:lstStyle/>
          <a:p>
            <a:pPr lvl="1"/>
            <a:r>
              <a:rPr lang="en-US" sz="2400" dirty="0"/>
              <a:t>A heap is a data structure that supports priority queue operations.</a:t>
            </a:r>
          </a:p>
          <a:p>
            <a:pPr lvl="1"/>
            <a:r>
              <a:rPr lang="en-US" sz="2400" dirty="0"/>
              <a:t>A binary heap is an </a:t>
            </a:r>
            <a:r>
              <a:rPr lang="en-US" sz="2400" b="1" dirty="0"/>
              <a:t>almost complete</a:t>
            </a:r>
            <a:r>
              <a:rPr lang="en-US" sz="2400" dirty="0"/>
              <a:t> binary tree.</a:t>
            </a:r>
          </a:p>
          <a:p>
            <a:pPr lvl="2"/>
            <a:r>
              <a:rPr lang="en-US" sz="2400" dirty="0"/>
              <a:t>All leaves on the lowest level occur “to the left”.</a:t>
            </a:r>
          </a:p>
          <a:p>
            <a:pPr lvl="2"/>
            <a:r>
              <a:rPr lang="en-US" sz="2400" dirty="0"/>
              <a:t>All levels except the lowest one are completely filled.</a:t>
            </a:r>
          </a:p>
          <a:p>
            <a:pPr marL="201168" lvl="1" indent="0">
              <a:buNone/>
            </a:pPr>
            <a:endParaRPr lang="en-US" dirty="0"/>
          </a:p>
        </p:txBody>
      </p:sp>
      <p:pic>
        <p:nvPicPr>
          <p:cNvPr id="4" name="Picture 3"/>
          <p:cNvPicPr>
            <a:picLocks noChangeAspect="1"/>
          </p:cNvPicPr>
          <p:nvPr/>
        </p:nvPicPr>
        <p:blipFill>
          <a:blip r:embed="rId3"/>
          <a:stretch>
            <a:fillRect/>
          </a:stretch>
        </p:blipFill>
        <p:spPr>
          <a:xfrm>
            <a:off x="7122836" y="3801728"/>
            <a:ext cx="4297086" cy="2175740"/>
          </a:xfrm>
          <a:prstGeom prst="rect">
            <a:avLst/>
          </a:prstGeom>
        </p:spPr>
      </p:pic>
    </p:spTree>
    <p:extLst>
      <p:ext uri="{BB962C8B-B14F-4D97-AF65-F5344CB8AC3E}">
        <p14:creationId xmlns:p14="http://schemas.microsoft.com/office/powerpoint/2010/main" val="89996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8715025" y="4250448"/>
            <a:ext cx="3476975" cy="2086185"/>
          </a:xfrm>
          <a:prstGeom prst="rect">
            <a:avLst/>
          </a:prstGeom>
        </p:spPr>
      </p:pic>
      <p:sp>
        <p:nvSpPr>
          <p:cNvPr id="2" name="Title 1"/>
          <p:cNvSpPr>
            <a:spLocks noGrp="1"/>
          </p:cNvSpPr>
          <p:nvPr>
            <p:ph type="title"/>
          </p:nvPr>
        </p:nvSpPr>
        <p:spPr/>
        <p:txBody>
          <a:bodyPr/>
          <a:lstStyle/>
          <a:p>
            <a:r>
              <a:rPr lang="en-US" dirty="0"/>
              <a:t>Binary Heap</a:t>
            </a:r>
          </a:p>
        </p:txBody>
      </p:sp>
      <p:sp>
        <p:nvSpPr>
          <p:cNvPr id="3" name="Content Placeholder 2"/>
          <p:cNvSpPr>
            <a:spLocks noGrp="1"/>
          </p:cNvSpPr>
          <p:nvPr>
            <p:ph idx="1"/>
          </p:nvPr>
        </p:nvSpPr>
        <p:spPr>
          <a:xfrm>
            <a:off x="768096" y="1845734"/>
            <a:ext cx="10387584" cy="4023360"/>
          </a:xfrm>
        </p:spPr>
        <p:txBody>
          <a:bodyPr>
            <a:normAutofit/>
          </a:bodyPr>
          <a:lstStyle/>
          <a:p>
            <a:pPr lvl="1"/>
            <a:r>
              <a:rPr lang="en-US" sz="2400" dirty="0"/>
              <a:t>In addition to being an almost complete binary, nodes in a binary heap satisfy the </a:t>
            </a:r>
            <a:r>
              <a:rPr lang="en-US" sz="2400" b="1" dirty="0"/>
              <a:t>heap property.</a:t>
            </a:r>
          </a:p>
          <a:p>
            <a:pPr lvl="1"/>
            <a:r>
              <a:rPr lang="en-US" sz="2400" dirty="0"/>
              <a:t>The element at each node is always smaller (or equal) to all its descendants.</a:t>
            </a:r>
          </a:p>
          <a:p>
            <a:pPr lvl="1"/>
            <a:r>
              <a:rPr lang="en-US" sz="2400" dirty="0"/>
              <a:t>In this case, we call the structure a </a:t>
            </a:r>
            <a:r>
              <a:rPr lang="en-US" sz="2400" b="1" dirty="0"/>
              <a:t>min-heap.</a:t>
            </a:r>
            <a:endParaRPr lang="en-US" sz="2400" dirty="0"/>
          </a:p>
          <a:p>
            <a:pPr lvl="1"/>
            <a:r>
              <a:rPr lang="en-US" sz="2400" dirty="0"/>
              <a:t>Analogously, we could define a max-heap by requiring that the element at each node be bigger (or equal) than all of its descendants.</a:t>
            </a:r>
          </a:p>
          <a:p>
            <a:pPr lvl="1"/>
            <a:r>
              <a:rPr lang="en-US" sz="2400" dirty="0"/>
              <a:t>We only draw the key associated with each element to simplify the diagrams. Elements can include any data so long as they have a key.</a:t>
            </a:r>
          </a:p>
          <a:p>
            <a:pPr marL="201168" lvl="1" indent="0">
              <a:buNone/>
            </a:pPr>
            <a:endParaRPr lang="en-US" sz="1400" dirty="0"/>
          </a:p>
          <a:p>
            <a:pPr marL="201168" lvl="1" indent="0">
              <a:buNone/>
            </a:pPr>
            <a:r>
              <a:rPr lang="en-US" dirty="0"/>
              <a:t>			</a:t>
            </a:r>
          </a:p>
          <a:p>
            <a:pPr marL="201168" lvl="1" indent="0">
              <a:buNone/>
            </a:pPr>
            <a:r>
              <a:rPr lang="en-US" dirty="0"/>
              <a:t>		                                                                              Example: max heap</a:t>
            </a:r>
          </a:p>
        </p:txBody>
      </p:sp>
    </p:spTree>
    <p:extLst>
      <p:ext uri="{BB962C8B-B14F-4D97-AF65-F5344CB8AC3E}">
        <p14:creationId xmlns:p14="http://schemas.microsoft.com/office/powerpoint/2010/main" val="256685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249680" y="199813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400" b="1" dirty="0"/>
                  <a:t>Prove: </a:t>
                </a:r>
                <a:r>
                  <a:rPr lang="en-US" sz="2400" dirty="0"/>
                  <a:t>in every almost complete binary tree with </a:t>
                </a:r>
                <a14:m>
                  <m:oMath xmlns:m="http://schemas.openxmlformats.org/officeDocument/2006/math">
                    <m:r>
                      <a:rPr lang="en-US" sz="2400" b="0" i="1" smtClean="0">
                        <a:latin typeface="Cambria Math" panose="02040503050406030204" pitchFamily="18" charset="0"/>
                      </a:rPr>
                      <m:t>𝑛</m:t>
                    </m:r>
                  </m:oMath>
                </a14:m>
                <a:r>
                  <a:rPr lang="en-US" sz="2400" dirty="0"/>
                  <a:t> vertices, exactly </a:t>
                </a:r>
                <a14:m>
                  <m:oMath xmlns:m="http://schemas.openxmlformats.org/officeDocument/2006/math">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e>
                    </m:d>
                  </m:oMath>
                </a14:m>
                <a:r>
                  <a:rPr lang="en-US" sz="2400" dirty="0"/>
                  <a:t> of the vertices are leaves.</a:t>
                </a:r>
              </a:p>
              <a:p>
                <a:pPr marL="201168" lvl="1" indent="0">
                  <a:buNone/>
                </a:pPr>
                <a:endParaRPr lang="en-US" dirty="0"/>
              </a:p>
              <a:p>
                <a:pPr marL="201168" lvl="1" indent="0">
                  <a:buFont typeface="Calibri" pitchFamily="34" charset="0"/>
                  <a:buNone/>
                </a:pPr>
                <a:endParaRPr lang="en-US" sz="1400" dirty="0"/>
              </a:p>
              <a:p>
                <a:pPr marL="201168" lvl="1" indent="0">
                  <a:buFont typeface="Calibri" pitchFamily="34" charset="0"/>
                  <a:buNone/>
                </a:pPr>
                <a:endParaRPr lang="en-US"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249680" y="1998134"/>
                <a:ext cx="10058400" cy="4023360"/>
              </a:xfrm>
              <a:prstGeom prst="rect">
                <a:avLst/>
              </a:prstGeom>
              <a:blipFill>
                <a:blip r:embed="rId3"/>
                <a:stretch>
                  <a:fillRect r="-1387"/>
                </a:stretch>
              </a:blipFill>
            </p:spPr>
            <p:txBody>
              <a:bodyPr/>
              <a:lstStyle/>
              <a:p>
                <a:r>
                  <a:rPr lang="en-IL">
                    <a:noFill/>
                  </a:rPr>
                  <a:t> </a:t>
                </a:r>
              </a:p>
            </p:txBody>
          </p:sp>
        </mc:Fallback>
      </mc:AlternateContent>
      <p:pic>
        <p:nvPicPr>
          <p:cNvPr id="6" name="Picture 5"/>
          <p:cNvPicPr>
            <a:picLocks noChangeAspect="1"/>
          </p:cNvPicPr>
          <p:nvPr/>
        </p:nvPicPr>
        <p:blipFill>
          <a:blip r:embed="rId4"/>
          <a:stretch>
            <a:fillRect/>
          </a:stretch>
        </p:blipFill>
        <p:spPr>
          <a:xfrm>
            <a:off x="4465169" y="3080303"/>
            <a:ext cx="4422549" cy="2239266"/>
          </a:xfrm>
          <a:prstGeom prst="rect">
            <a:avLst/>
          </a:prstGeom>
        </p:spPr>
      </p:pic>
    </p:spTree>
    <p:extLst>
      <p:ext uri="{BB962C8B-B14F-4D97-AF65-F5344CB8AC3E}">
        <p14:creationId xmlns:p14="http://schemas.microsoft.com/office/powerpoint/2010/main" val="4007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 – Solution</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335280" y="1968637"/>
                <a:ext cx="10058400" cy="402336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400" dirty="0"/>
                  <a:t>The number of </a:t>
                </a:r>
                <a:r>
                  <a:rPr lang="en-US" sz="2400" u="sng" dirty="0"/>
                  <a:t>leaves</a:t>
                </a:r>
                <a:r>
                  <a:rPr lang="en-US" sz="2400" dirty="0"/>
                  <a:t> in depth </a:t>
                </a:r>
                <a14:m>
                  <m:oMath xmlns:m="http://schemas.openxmlformats.org/officeDocument/2006/math">
                    <m:r>
                      <a:rPr lang="en-US" sz="2400">
                        <a:latin typeface="Cambria Math" panose="02040503050406030204" pitchFamily="18" charset="0"/>
                      </a:rPr>
                      <m:t>𝑘</m:t>
                    </m:r>
                  </m:oMath>
                </a14:m>
                <a:r>
                  <a:rPr lang="en-US" sz="2400" dirty="0"/>
                  <a:t> is </a:t>
                </a:r>
                <a14:m>
                  <m:oMath xmlns:m="http://schemas.openxmlformats.org/officeDocument/2006/math">
                    <m:r>
                      <a:rPr lang="en-US" sz="2400">
                        <a:latin typeface="Cambria Math" panose="02040503050406030204" pitchFamily="18" charset="0"/>
                      </a:rPr>
                      <m:t>𝑙</m:t>
                    </m:r>
                  </m:oMath>
                </a14:m>
                <a:r>
                  <a:rPr lang="en-US" sz="2400" dirty="0"/>
                  <a:t> (unknown)</a:t>
                </a:r>
              </a:p>
              <a:p>
                <a:pPr lvl="1"/>
                <a:r>
                  <a:rPr lang="en-US" sz="2400" dirty="0"/>
                  <a:t>The number of </a:t>
                </a:r>
                <a:r>
                  <a:rPr lang="en-US" sz="2400" u="sng" dirty="0"/>
                  <a:t>vertices</a:t>
                </a:r>
                <a:r>
                  <a:rPr lang="en-US" sz="2400" dirty="0"/>
                  <a:t> in depth </a:t>
                </a:r>
                <a14:m>
                  <m:oMath xmlns:m="http://schemas.openxmlformats.org/officeDocument/2006/math">
                    <m:r>
                      <a:rPr lang="en-US" sz="2400">
                        <a:latin typeface="Cambria Math" panose="02040503050406030204" pitchFamily="18" charset="0"/>
                      </a:rPr>
                      <m:t>𝑘</m:t>
                    </m:r>
                    <m:r>
                      <a:rPr lang="en-US" sz="2400">
                        <a:latin typeface="Cambria Math" panose="02040503050406030204" pitchFamily="18" charset="0"/>
                      </a:rPr>
                      <m:t>−1 </m:t>
                    </m:r>
                  </m:oMath>
                </a14:m>
                <a:r>
                  <a:rPr lang="en-US" sz="2400" dirty="0"/>
                  <a:t>is </a:t>
                </a:r>
                <a14:m>
                  <m:oMath xmlns:m="http://schemas.openxmlformats.org/officeDocument/2006/math">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𝑘</m:t>
                        </m:r>
                        <m:r>
                          <a:rPr lang="en-US" sz="2400">
                            <a:latin typeface="Cambria Math" panose="02040503050406030204" pitchFamily="18" charset="0"/>
                          </a:rPr>
                          <m:t>−1</m:t>
                        </m:r>
                      </m:sup>
                    </m:sSup>
                    <m:r>
                      <a:rPr lang="en-US" sz="2400">
                        <a:latin typeface="Cambria Math" panose="02040503050406030204" pitchFamily="18" charset="0"/>
                      </a:rPr>
                      <m:t>.</m:t>
                    </m:r>
                  </m:oMath>
                </a14:m>
                <a:endParaRPr lang="he-IL" sz="2400" dirty="0"/>
              </a:p>
              <a:p>
                <a:pPr lvl="1"/>
                <a:r>
                  <a:rPr lang="en-US" sz="2400" dirty="0"/>
                  <a:t>Consider the nodes in depth </a:t>
                </a:r>
                <a14:m>
                  <m:oMath xmlns:m="http://schemas.openxmlformats.org/officeDocument/2006/math">
                    <m:r>
                      <a:rPr lang="en-US" sz="2400" i="1" dirty="0" smtClean="0">
                        <a:latin typeface="Cambria Math" panose="02040503050406030204" pitchFamily="18" charset="0"/>
                      </a:rPr>
                      <m:t>𝑘</m:t>
                    </m:r>
                    <m:r>
                      <a:rPr lang="en-US" sz="2400" i="1" dirty="0" smtClean="0">
                        <a:latin typeface="Cambria Math" panose="02040503050406030204" pitchFamily="18" charset="0"/>
                      </a:rPr>
                      <m:t>−1</m:t>
                    </m:r>
                  </m:oMath>
                </a14:m>
                <a:r>
                  <a:rPr lang="en-US" sz="2400" dirty="0"/>
                  <a:t>. The number of parents of the leaves in depth </a:t>
                </a:r>
                <a14:m>
                  <m:oMath xmlns:m="http://schemas.openxmlformats.org/officeDocument/2006/math">
                    <m:r>
                      <a:rPr lang="en-US" sz="2400" b="0" i="1" smtClean="0">
                        <a:latin typeface="Cambria Math" panose="02040503050406030204" pitchFamily="18" charset="0"/>
                      </a:rPr>
                      <m:t>𝑘</m:t>
                    </m:r>
                  </m:oMath>
                </a14:m>
                <a:r>
                  <a:rPr lang="en-US" sz="2400" dirty="0"/>
                  <a:t> is</a:t>
                </a:r>
                <a14:m>
                  <m:oMath xmlns:m="http://schemas.openxmlformats.org/officeDocument/2006/math">
                    <m:r>
                      <a:rPr lang="en-US" sz="2400" b="0" i="0" smtClean="0">
                        <a:latin typeface="Cambria Math" panose="02040503050406030204" pitchFamily="18" charset="0"/>
                      </a:rPr>
                      <m:t> </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𝑙</m:t>
                        </m:r>
                      </m:num>
                      <m:den>
                        <m:r>
                          <a:rPr lang="en-US" sz="2400" i="1">
                            <a:latin typeface="Cambria Math" panose="02040503050406030204" pitchFamily="18" charset="0"/>
                          </a:rPr>
                          <m:t>2</m:t>
                        </m:r>
                      </m:den>
                    </m:f>
                    <m:r>
                      <a:rPr lang="en-US" sz="2400" i="1">
                        <a:latin typeface="Cambria Math" panose="02040503050406030204" pitchFamily="18" charset="0"/>
                      </a:rPr>
                      <m:t>⌉</m:t>
                    </m:r>
                    <m:r>
                      <a:rPr lang="en-US" sz="2400" b="0" i="1" smtClean="0">
                        <a:latin typeface="Cambria Math" panose="02040503050406030204" pitchFamily="18" charset="0"/>
                      </a:rPr>
                      <m:t>,</m:t>
                    </m:r>
                  </m:oMath>
                </a14:m>
                <a:r>
                  <a:rPr lang="en-US" sz="2400" dirty="0"/>
                  <a:t> the remaining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𝑘</m:t>
                        </m:r>
                        <m:r>
                          <a:rPr lang="en-US" sz="2400" i="1">
                            <a:latin typeface="Cambria Math" panose="02040503050406030204" pitchFamily="18" charset="0"/>
                          </a:rPr>
                          <m:t>−1</m:t>
                        </m:r>
                      </m:sup>
                    </m:s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𝑙</m:t>
                        </m:r>
                      </m:num>
                      <m:den>
                        <m:r>
                          <a:rPr lang="en-US" sz="2400" i="1">
                            <a:latin typeface="Cambria Math" panose="02040503050406030204" pitchFamily="18" charset="0"/>
                          </a:rPr>
                          <m:t>2</m:t>
                        </m:r>
                      </m:den>
                    </m:f>
                    <m:r>
                      <a:rPr lang="en-US" sz="2400" i="1">
                        <a:latin typeface="Cambria Math" panose="02040503050406030204" pitchFamily="18" charset="0"/>
                      </a:rPr>
                      <m:t>⌉</m:t>
                    </m:r>
                  </m:oMath>
                </a14:m>
                <a:r>
                  <a:rPr lang="en-US" sz="2400" dirty="0"/>
                  <a:t> nodes are leaves.</a:t>
                </a:r>
              </a:p>
              <a:p>
                <a:pPr lvl="1"/>
                <a:r>
                  <a:rPr lang="en-US" sz="2400" dirty="0"/>
                  <a:t>The total number of leaves is </a:t>
                </a:r>
                <a14:m>
                  <m:oMath xmlns:m="http://schemas.openxmlformats.org/officeDocument/2006/math">
                    <m:r>
                      <a:rPr lang="en-US" sz="2400" b="0" i="1" smtClean="0">
                        <a:latin typeface="Cambria Math" panose="02040503050406030204" pitchFamily="18" charset="0"/>
                      </a:rPr>
                      <m:t>𝑙</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GB" sz="2400" b="0" i="1" smtClean="0">
                            <a:latin typeface="Cambria Math" panose="02040503050406030204" pitchFamily="18" charset="0"/>
                          </a:rPr>
                          <m:t>(</m:t>
                        </m:r>
                        <m:r>
                          <a:rPr lang="en-US" sz="2400" b="0" i="1" smtClean="0">
                            <a:latin typeface="Cambria Math" panose="02040503050406030204" pitchFamily="18" charset="0"/>
                          </a:rPr>
                          <m:t>2</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𝑙</m:t>
                            </m:r>
                          </m:num>
                          <m:den>
                            <m:r>
                              <a:rPr lang="en-US" sz="2400" i="1">
                                <a:latin typeface="Cambria Math" panose="02040503050406030204" pitchFamily="18" charset="0"/>
                              </a:rPr>
                              <m:t>2</m:t>
                            </m:r>
                          </m:den>
                        </m:f>
                      </m:e>
                    </m:d>
                    <m:r>
                      <a:rPr lang="en-GB" sz="2400" b="0" i="1" smtClean="0">
                        <a:latin typeface="Cambria Math" panose="02040503050406030204" pitchFamily="18" charset="0"/>
                      </a:rPr>
                      <m:t>)</m:t>
                    </m:r>
                  </m:oMath>
                </a14:m>
                <a:endParaRPr lang="en-GB" sz="2400" dirty="0"/>
              </a:p>
              <a:p>
                <a:pPr lvl="1"/>
                <a:r>
                  <a:rPr lang="en-US" sz="2400" dirty="0"/>
                  <a:t>The total number of </a:t>
                </a:r>
                <a:r>
                  <a:rPr lang="en-US" sz="2400" u="sng" dirty="0"/>
                  <a:t>vertices</a:t>
                </a:r>
                <a:r>
                  <a:rPr lang="en-US" sz="2400" dirty="0"/>
                  <a:t> in the tree:</a:t>
                </a:r>
              </a:p>
              <a:p>
                <a:pPr lvl="2"/>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𝑘</m:t>
                        </m:r>
                      </m:sup>
                    </m:sSup>
                    <m:r>
                      <a:rPr lang="en-GB" sz="2000" b="0" i="1" smtClean="0">
                        <a:latin typeface="Cambria Math" panose="02040503050406030204" pitchFamily="18" charset="0"/>
                      </a:rPr>
                      <m:t>−1</m:t>
                    </m:r>
                    <m:r>
                      <a:rPr lang="en-US" sz="2000" i="1">
                        <a:latin typeface="Cambria Math" panose="02040503050406030204" pitchFamily="18" charset="0"/>
                      </a:rPr>
                      <m:t>+</m:t>
                    </m:r>
                    <m:r>
                      <a:rPr lang="en-US" sz="2000" i="1">
                        <a:latin typeface="Cambria Math" panose="02040503050406030204" pitchFamily="18" charset="0"/>
                      </a:rPr>
                      <m:t>𝑙</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𝑘</m:t>
                        </m:r>
                      </m:sup>
                    </m:sSup>
                    <m:r>
                      <a:rPr lang="en-GB" sz="2000" b="0" i="1" smtClean="0">
                        <a:latin typeface="Cambria Math" panose="02040503050406030204" pitchFamily="18" charset="0"/>
                      </a:rPr>
                      <m:t>+</m:t>
                    </m:r>
                    <m:r>
                      <a:rPr lang="en-GB" sz="2000" b="0" i="1" smtClean="0">
                        <a:latin typeface="Cambria Math" panose="02040503050406030204" pitchFamily="18" charset="0"/>
                      </a:rPr>
                      <m:t>𝑙</m:t>
                    </m:r>
                    <m:r>
                      <a:rPr lang="en-GB" sz="2000" b="0" i="1" smtClean="0">
                        <a:latin typeface="Cambria Math" panose="02040503050406030204" pitchFamily="18" charset="0"/>
                      </a:rPr>
                      <m:t> −1, </m:t>
                    </m:r>
                  </m:oMath>
                </a14:m>
                <a:endParaRPr lang="en-US" sz="2000" dirty="0"/>
              </a:p>
              <a:p>
                <a:pPr lvl="1"/>
                <a:r>
                  <a:rPr lang="en-US" sz="2400" dirty="0"/>
                  <a:t>If </a:t>
                </a:r>
                <a14:m>
                  <m:oMath xmlns:m="http://schemas.openxmlformats.org/officeDocument/2006/math">
                    <m:r>
                      <a:rPr lang="en-US" sz="2400" b="0" i="1" smtClean="0">
                        <a:latin typeface="Cambria Math" panose="02040503050406030204" pitchFamily="18" charset="0"/>
                      </a:rPr>
                      <m:t>𝑙</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is</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even</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n</m:t>
                    </m:r>
                  </m:oMath>
                </a14:m>
                <a:r>
                  <a:rPr lang="en-US" sz="2400" dirty="0"/>
                  <a:t> is odd,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𝑙</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𝑙</m:t>
                        </m:r>
                        <m:r>
                          <a:rPr lang="en-US" sz="2400" b="0" i="1" smtClean="0">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m:t>
                    </m:r>
                    <m:r>
                      <a:rPr lang="en-US" sz="2400" b="0" i="1" smtClean="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r>
                      <a:rPr lang="en-US" sz="2400" i="1">
                        <a:latin typeface="Cambria Math" panose="02040503050406030204" pitchFamily="18" charset="0"/>
                      </a:rPr>
                      <m:t>⌉</m:t>
                    </m:r>
                  </m:oMath>
                </a14:m>
                <a:endParaRPr lang="en-US" sz="2400" dirty="0"/>
              </a:p>
              <a:p>
                <a:pPr lvl="1"/>
                <a:r>
                  <a:rPr lang="en-US" sz="2400" dirty="0"/>
                  <a:t>If </a:t>
                </a:r>
                <a14:m>
                  <m:oMath xmlns:m="http://schemas.openxmlformats.org/officeDocument/2006/math">
                    <m:r>
                      <a:rPr lang="en-US" sz="2400" b="0" i="1" smtClean="0">
                        <a:latin typeface="Cambria Math" panose="02040503050406030204" pitchFamily="18" charset="0"/>
                      </a:rPr>
                      <m:t>𝑙</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is</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odd</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n</m:t>
                    </m:r>
                  </m:oMath>
                </a14:m>
                <a:r>
                  <a:rPr lang="en-US" sz="2400" dirty="0"/>
                  <a:t> is even,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𝑙</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𝑙</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oMath>
                </a14:m>
                <a:endParaRPr lang="en-US" sz="2400" dirty="0"/>
              </a:p>
              <a:p>
                <a:pPr lvl="2"/>
                <a:endParaRPr lang="en-US" sz="200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335280" y="1968637"/>
                <a:ext cx="10058400" cy="4023360"/>
              </a:xfrm>
              <a:prstGeom prst="rect">
                <a:avLst/>
              </a:prstGeom>
              <a:blipFill>
                <a:blip r:embed="rId3"/>
                <a:stretch>
                  <a:fillRect t="-3470"/>
                </a:stretch>
              </a:blipFill>
            </p:spPr>
            <p:txBody>
              <a:bodyPr/>
              <a:lstStyle/>
              <a:p>
                <a:r>
                  <a:rPr lang="en-IL">
                    <a:noFill/>
                  </a:rPr>
                  <a:t> </a:t>
                </a:r>
              </a:p>
            </p:txBody>
          </p:sp>
        </mc:Fallback>
      </mc:AlternateContent>
      <p:pic>
        <p:nvPicPr>
          <p:cNvPr id="4" name="Picture 3">
            <a:extLst>
              <a:ext uri="{FF2B5EF4-FFF2-40B4-BE49-F238E27FC236}">
                <a16:creationId xmlns:a16="http://schemas.microsoft.com/office/drawing/2014/main" id="{2B884F95-73DF-408A-B59F-ED806D9B9012}"/>
              </a:ext>
            </a:extLst>
          </p:cNvPr>
          <p:cNvPicPr>
            <a:picLocks noChangeAspect="1"/>
          </p:cNvPicPr>
          <p:nvPr/>
        </p:nvPicPr>
        <p:blipFill>
          <a:blip r:embed="rId4"/>
          <a:stretch>
            <a:fillRect/>
          </a:stretch>
        </p:blipFill>
        <p:spPr>
          <a:xfrm>
            <a:off x="7532126" y="3402831"/>
            <a:ext cx="3017174" cy="1527683"/>
          </a:xfrm>
          <a:prstGeom prst="rect">
            <a:avLst/>
          </a:prstGeom>
        </p:spPr>
      </p:pic>
      <p:sp>
        <p:nvSpPr>
          <p:cNvPr id="3" name="Right Brace 2"/>
          <p:cNvSpPr/>
          <p:nvPr/>
        </p:nvSpPr>
        <p:spPr>
          <a:xfrm>
            <a:off x="7893232" y="4661633"/>
            <a:ext cx="117987" cy="799622"/>
          </a:xfrm>
          <a:prstGeom prst="rightBrace">
            <a:avLst/>
          </a:prstGeom>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6" name="Rectangle 5"/>
              <p:cNvSpPr/>
              <p:nvPr/>
            </p:nvSpPr>
            <p:spPr>
              <a:xfrm>
                <a:off x="7847103" y="5172628"/>
                <a:ext cx="3282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𝑙</m:t>
                      </m:r>
                    </m:oMath>
                  </m:oMathPara>
                </a14:m>
                <a:endParaRPr lang="he-IL" dirty="0"/>
              </a:p>
            </p:txBody>
          </p:sp>
        </mc:Choice>
        <mc:Fallback xmlns="">
          <p:sp>
            <p:nvSpPr>
              <p:cNvPr id="6" name="Rectangle 5"/>
              <p:cNvSpPr>
                <a:spLocks noRot="1" noChangeAspect="1" noMove="1" noResize="1" noEditPoints="1" noAdjustHandles="1" noChangeArrowheads="1" noChangeShapeType="1" noTextEdit="1"/>
              </p:cNvSpPr>
              <p:nvPr/>
            </p:nvSpPr>
            <p:spPr>
              <a:xfrm>
                <a:off x="7847103" y="5172628"/>
                <a:ext cx="328231" cy="369332"/>
              </a:xfrm>
              <a:prstGeom prst="rect">
                <a:avLst/>
              </a:prstGeom>
              <a:blipFill>
                <a:blip r:embed="rId5"/>
                <a:stretch>
                  <a:fillRect t="-6667" r="-22222" b="-26667"/>
                </a:stretch>
              </a:blipFill>
            </p:spPr>
            <p:txBody>
              <a:bodyPr/>
              <a:lstStyle/>
              <a:p>
                <a:r>
                  <a:rPr lang="en-IL">
                    <a:noFill/>
                  </a:rPr>
                  <a:t> </a:t>
                </a:r>
              </a:p>
            </p:txBody>
          </p:sp>
        </mc:Fallback>
      </mc:AlternateContent>
      <p:sp>
        <p:nvSpPr>
          <p:cNvPr id="7" name="Right Brace 6"/>
          <p:cNvSpPr/>
          <p:nvPr/>
        </p:nvSpPr>
        <p:spPr>
          <a:xfrm>
            <a:off x="9502604" y="3872892"/>
            <a:ext cx="175410" cy="1832003"/>
          </a:xfrm>
          <a:prstGeom prst="rightBrace">
            <a:avLst/>
          </a:prstGeom>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8" name="Rectangle 7"/>
              <p:cNvSpPr/>
              <p:nvPr/>
            </p:nvSpPr>
            <p:spPr>
              <a:xfrm>
                <a:off x="9039024" y="4853565"/>
                <a:ext cx="1277979" cy="6164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r>
                            <a:rPr lang="en-US" i="1">
                              <a:latin typeface="Cambria Math" panose="02040503050406030204" pitchFamily="18" charset="0"/>
                            </a:rPr>
                            <m:t>−1</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𝑙</m:t>
                          </m:r>
                        </m:num>
                        <m:den>
                          <m:r>
                            <a:rPr lang="en-US" i="1">
                              <a:latin typeface="Cambria Math" panose="02040503050406030204" pitchFamily="18" charset="0"/>
                            </a:rPr>
                            <m:t>2</m:t>
                          </m:r>
                        </m:den>
                      </m:f>
                      <m:r>
                        <a:rPr lang="en-US" i="1">
                          <a:latin typeface="Cambria Math" panose="02040503050406030204" pitchFamily="18" charset="0"/>
                        </a:rPr>
                        <m:t>⌉</m:t>
                      </m:r>
                    </m:oMath>
                  </m:oMathPara>
                </a14:m>
                <a:endParaRPr lang="he-IL" dirty="0"/>
              </a:p>
            </p:txBody>
          </p:sp>
        </mc:Choice>
        <mc:Fallback xmlns="">
          <p:sp>
            <p:nvSpPr>
              <p:cNvPr id="8" name="Rectangle 7"/>
              <p:cNvSpPr>
                <a:spLocks noRot="1" noChangeAspect="1" noMove="1" noResize="1" noEditPoints="1" noAdjustHandles="1" noChangeArrowheads="1" noChangeShapeType="1" noTextEdit="1"/>
              </p:cNvSpPr>
              <p:nvPr/>
            </p:nvSpPr>
            <p:spPr>
              <a:xfrm>
                <a:off x="9039024" y="4853565"/>
                <a:ext cx="1277979" cy="616451"/>
              </a:xfrm>
              <a:prstGeom prst="rect">
                <a:avLst/>
              </a:prstGeom>
              <a:blipFill>
                <a:blip r:embed="rId6"/>
                <a:stretch>
                  <a:fillRect r="-5882" b="-4082"/>
                </a:stretch>
              </a:blipFill>
            </p:spPr>
            <p:txBody>
              <a:bodyPr/>
              <a:lstStyle/>
              <a:p>
                <a:r>
                  <a:rPr lang="en-IL">
                    <a:noFill/>
                  </a:rPr>
                  <a:t> </a:t>
                </a:r>
              </a:p>
            </p:txBody>
          </p:sp>
        </mc:Fallback>
      </mc:AlternateContent>
      <p:graphicFrame>
        <p:nvGraphicFramePr>
          <p:cNvPr id="9" name="Table 8"/>
          <p:cNvGraphicFramePr>
            <a:graphicFrameLocks noGrp="1"/>
          </p:cNvGraphicFramePr>
          <p:nvPr>
            <p:extLst>
              <p:ext uri="{D42A27DB-BD31-4B8C-83A1-F6EECF244321}">
                <p14:modId xmlns:p14="http://schemas.microsoft.com/office/powerpoint/2010/main" val="1931538899"/>
              </p:ext>
            </p:extLst>
          </p:nvPr>
        </p:nvGraphicFramePr>
        <p:xfrm>
          <a:off x="10754786" y="2983248"/>
          <a:ext cx="1373652" cy="1678385"/>
        </p:xfrm>
        <a:graphic>
          <a:graphicData uri="http://schemas.openxmlformats.org/drawingml/2006/table">
            <a:tbl>
              <a:tblPr rtl="1" firstRow="1" bandRow="1">
                <a:tableStyleId>{5C22544A-7EE6-4342-B048-85BDC9FD1C3A}</a:tableStyleId>
              </a:tblPr>
              <a:tblGrid>
                <a:gridCol w="686826">
                  <a:extLst>
                    <a:ext uri="{9D8B030D-6E8A-4147-A177-3AD203B41FA5}">
                      <a16:colId xmlns:a16="http://schemas.microsoft.com/office/drawing/2014/main" val="250602529"/>
                    </a:ext>
                  </a:extLst>
                </a:gridCol>
                <a:gridCol w="686826">
                  <a:extLst>
                    <a:ext uri="{9D8B030D-6E8A-4147-A177-3AD203B41FA5}">
                      <a16:colId xmlns:a16="http://schemas.microsoft.com/office/drawing/2014/main" val="3844492491"/>
                    </a:ext>
                  </a:extLst>
                </a:gridCol>
              </a:tblGrid>
              <a:tr h="335677">
                <a:tc>
                  <a:txBody>
                    <a:bodyPr/>
                    <a:lstStyle/>
                    <a:p>
                      <a:pPr rtl="1"/>
                      <a:r>
                        <a:rPr lang="en-US" sz="1600" dirty="0"/>
                        <a:t>#</a:t>
                      </a:r>
                      <a:endParaRPr lang="he-IL" sz="1600" dirty="0"/>
                    </a:p>
                  </a:txBody>
                  <a:tcPr/>
                </a:tc>
                <a:tc>
                  <a:txBody>
                    <a:bodyPr/>
                    <a:lstStyle/>
                    <a:p>
                      <a:pPr rtl="1"/>
                      <a:r>
                        <a:rPr lang="en-US" sz="1600" dirty="0"/>
                        <a:t>depth</a:t>
                      </a:r>
                      <a:endParaRPr lang="he-IL" sz="1600" dirty="0"/>
                    </a:p>
                  </a:txBody>
                  <a:tcPr/>
                </a:tc>
                <a:extLst>
                  <a:ext uri="{0D108BD9-81ED-4DB2-BD59-A6C34878D82A}">
                    <a16:rowId xmlns:a16="http://schemas.microsoft.com/office/drawing/2014/main" val="3514991961"/>
                  </a:ext>
                </a:extLst>
              </a:tr>
              <a:tr h="335677">
                <a:tc>
                  <a:txBody>
                    <a:bodyPr/>
                    <a:lstStyle/>
                    <a:p>
                      <a:pPr rtl="1"/>
                      <a:r>
                        <a:rPr lang="en-US" sz="1600" dirty="0"/>
                        <a:t>1</a:t>
                      </a:r>
                      <a:endParaRPr lang="he-IL" sz="1600" dirty="0"/>
                    </a:p>
                  </a:txBody>
                  <a:tcPr/>
                </a:tc>
                <a:tc>
                  <a:txBody>
                    <a:bodyPr/>
                    <a:lstStyle/>
                    <a:p>
                      <a:pPr rtl="1"/>
                      <a:r>
                        <a:rPr lang="en-US" sz="1600" dirty="0"/>
                        <a:t>0</a:t>
                      </a:r>
                      <a:endParaRPr lang="he-IL" sz="1600" dirty="0"/>
                    </a:p>
                  </a:txBody>
                  <a:tcPr/>
                </a:tc>
                <a:extLst>
                  <a:ext uri="{0D108BD9-81ED-4DB2-BD59-A6C34878D82A}">
                    <a16:rowId xmlns:a16="http://schemas.microsoft.com/office/drawing/2014/main" val="2248436024"/>
                  </a:ext>
                </a:extLst>
              </a:tr>
              <a:tr h="335677">
                <a:tc>
                  <a:txBody>
                    <a:bodyPr/>
                    <a:lstStyle/>
                    <a:p>
                      <a:pPr rtl="1"/>
                      <a:r>
                        <a:rPr lang="en-US" sz="1600" dirty="0"/>
                        <a:t>2</a:t>
                      </a:r>
                      <a:endParaRPr lang="he-IL" sz="1600" dirty="0"/>
                    </a:p>
                  </a:txBody>
                  <a:tcPr/>
                </a:tc>
                <a:tc>
                  <a:txBody>
                    <a:bodyPr/>
                    <a:lstStyle/>
                    <a:p>
                      <a:pPr rtl="1"/>
                      <a:r>
                        <a:rPr lang="en-US" sz="1600" dirty="0"/>
                        <a:t>1</a:t>
                      </a:r>
                      <a:endParaRPr lang="he-IL" sz="1600" dirty="0"/>
                    </a:p>
                  </a:txBody>
                  <a:tcPr/>
                </a:tc>
                <a:extLst>
                  <a:ext uri="{0D108BD9-81ED-4DB2-BD59-A6C34878D82A}">
                    <a16:rowId xmlns:a16="http://schemas.microsoft.com/office/drawing/2014/main" val="342835929"/>
                  </a:ext>
                </a:extLst>
              </a:tr>
              <a:tr h="335677">
                <a:tc>
                  <a:txBody>
                    <a:bodyPr/>
                    <a:lstStyle/>
                    <a:p>
                      <a:pPr rtl="1"/>
                      <a:r>
                        <a:rPr lang="en-US" sz="1600" dirty="0"/>
                        <a:t>4</a:t>
                      </a:r>
                      <a:endParaRPr lang="he-IL" sz="1600" dirty="0"/>
                    </a:p>
                  </a:txBody>
                  <a:tcPr/>
                </a:tc>
                <a:tc>
                  <a:txBody>
                    <a:bodyPr/>
                    <a:lstStyle/>
                    <a:p>
                      <a:pPr rtl="1"/>
                      <a:r>
                        <a:rPr lang="en-US" sz="1600" dirty="0"/>
                        <a:t>2</a:t>
                      </a:r>
                      <a:endParaRPr lang="he-IL" sz="1600" dirty="0"/>
                    </a:p>
                  </a:txBody>
                  <a:tcPr/>
                </a:tc>
                <a:extLst>
                  <a:ext uri="{0D108BD9-81ED-4DB2-BD59-A6C34878D82A}">
                    <a16:rowId xmlns:a16="http://schemas.microsoft.com/office/drawing/2014/main" val="3283158962"/>
                  </a:ext>
                </a:extLst>
              </a:tr>
              <a:tr h="335677">
                <a:tc>
                  <a:txBody>
                    <a:bodyPr/>
                    <a:lstStyle/>
                    <a:p>
                      <a:pPr rtl="1"/>
                      <a:r>
                        <a:rPr lang="en-US" sz="1600" dirty="0"/>
                        <a:t>2</a:t>
                      </a:r>
                      <a:r>
                        <a:rPr lang="en-US" sz="1600" baseline="30000" dirty="0"/>
                        <a:t>k-1</a:t>
                      </a:r>
                      <a:endParaRPr lang="he-IL" sz="1600" baseline="30000" dirty="0"/>
                    </a:p>
                  </a:txBody>
                  <a:tcPr/>
                </a:tc>
                <a:tc>
                  <a:txBody>
                    <a:bodyPr/>
                    <a:lstStyle/>
                    <a:p>
                      <a:pPr rtl="1"/>
                      <a:r>
                        <a:rPr lang="en-US" sz="1600" dirty="0"/>
                        <a:t>k-1</a:t>
                      </a:r>
                      <a:endParaRPr lang="he-IL" sz="1600" dirty="0"/>
                    </a:p>
                  </a:txBody>
                  <a:tcPr/>
                </a:tc>
                <a:extLst>
                  <a:ext uri="{0D108BD9-81ED-4DB2-BD59-A6C34878D82A}">
                    <a16:rowId xmlns:a16="http://schemas.microsoft.com/office/drawing/2014/main" val="1608439098"/>
                  </a:ext>
                </a:extLst>
              </a:tr>
            </a:tbl>
          </a:graphicData>
        </a:graphic>
      </p:graphicFrame>
    </p:spTree>
    <p:extLst>
      <p:ext uri="{BB962C8B-B14F-4D97-AF65-F5344CB8AC3E}">
        <p14:creationId xmlns:p14="http://schemas.microsoft.com/office/powerpoint/2010/main" val="306219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Question 1 – Solution (Full expansion of even </a:t>
                </a:r>
                <a14:m>
                  <m:oMath xmlns:m="http://schemas.openxmlformats.org/officeDocument/2006/math">
                    <m:r>
                      <a:rPr lang="en-US" i="1" dirty="0" smtClean="0">
                        <a:latin typeface="Cambria Math" panose="02040503050406030204" pitchFamily="18" charset="0"/>
                      </a:rPr>
                      <m:t>𝑙</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774" t="-8696" b="-234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p:cNvSpPr txBox="1">
                <a:spLocks/>
              </p:cNvSpPr>
              <p:nvPr/>
            </p:nvSpPr>
            <p:spPr>
              <a:xfrm>
                <a:off x="335280" y="1968637"/>
                <a:ext cx="10058400" cy="4023360"/>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400" dirty="0"/>
                  <a:t>If </a:t>
                </a:r>
                <a14:m>
                  <m:oMath xmlns:m="http://schemas.openxmlformats.org/officeDocument/2006/math">
                    <m:r>
                      <a:rPr lang="en-US" sz="2400" b="0" i="1" smtClean="0">
                        <a:latin typeface="Cambria Math" panose="02040503050406030204" pitchFamily="18" charset="0"/>
                      </a:rPr>
                      <m:t>𝑙</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is</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even</m:t>
                    </m:r>
                    <m:r>
                      <a:rPr lang="en-US" sz="2400" b="0" i="0" smtClean="0">
                        <a:latin typeface="Cambria Math" panose="02040503050406030204" pitchFamily="18" charset="0"/>
                      </a:rPr>
                      <m:t>, </m:t>
                    </m:r>
                  </m:oMath>
                </a14:m>
                <a:r>
                  <a:rPr lang="en-US" sz="2400" dirty="0"/>
                  <a:t>then the total number of leaves is – </a:t>
                </a:r>
              </a:p>
              <a:p>
                <a:pPr marL="201168" lvl="1"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𝑙</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GB" sz="2400" i="1">
                              <a:latin typeface="Cambria Math" panose="02040503050406030204" pitchFamily="18" charset="0"/>
                            </a:rPr>
                            <m:t>(</m:t>
                          </m:r>
                          <m:r>
                            <a:rPr lang="en-US" sz="2400" i="1">
                              <a:latin typeface="Cambria Math" panose="02040503050406030204" pitchFamily="18" charset="0"/>
                            </a:rPr>
                            <m:t>2</m:t>
                          </m:r>
                        </m:e>
                        <m:sup>
                          <m:r>
                            <a:rPr lang="en-US" sz="2400" i="1">
                              <a:latin typeface="Cambria Math" panose="02040503050406030204" pitchFamily="18" charset="0"/>
                            </a:rPr>
                            <m:t>𝑘</m:t>
                          </m:r>
                          <m:r>
                            <a:rPr lang="en-US" sz="2400" i="1">
                              <a:latin typeface="Cambria Math" panose="02040503050406030204" pitchFamily="18" charset="0"/>
                            </a:rPr>
                            <m:t>−1</m:t>
                          </m:r>
                        </m:sup>
                      </m:sSup>
                      <m:r>
                        <a:rPr lang="en-US" sz="2400" i="1">
                          <a:latin typeface="Cambria Math" panose="02040503050406030204" pitchFamily="18" charset="0"/>
                        </a:rPr>
                        <m:t>−</m:t>
                      </m:r>
                      <m:d>
                        <m:dPr>
                          <m:begChr m:val="⌈"/>
                          <m:endChr m:val="⌉"/>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𝑙</m:t>
                              </m:r>
                            </m:num>
                            <m:den>
                              <m:r>
                                <a:rPr lang="en-GB" sz="2400" i="1">
                                  <a:latin typeface="Cambria Math" panose="02040503050406030204" pitchFamily="18" charset="0"/>
                                </a:rPr>
                                <m:t>2</m:t>
                              </m:r>
                            </m:den>
                          </m:f>
                        </m:e>
                      </m:d>
                      <m:r>
                        <a:rPr lang="en-GB" sz="2400" i="1">
                          <a:latin typeface="Cambria Math" panose="02040503050406030204" pitchFamily="18" charset="0"/>
                        </a:rPr>
                        <m:t>)=</m:t>
                      </m:r>
                      <m:r>
                        <a:rPr lang="en-US" sz="2400" i="1">
                          <a:latin typeface="Cambria Math" panose="02040503050406030204" pitchFamily="18" charset="0"/>
                        </a:rPr>
                        <m:t>𝑙</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GB" sz="2400" i="1">
                              <a:latin typeface="Cambria Math" panose="02040503050406030204" pitchFamily="18" charset="0"/>
                            </a:rPr>
                            <m:t>(</m:t>
                          </m:r>
                          <m:r>
                            <a:rPr lang="en-US" sz="2400" i="1">
                              <a:latin typeface="Cambria Math" panose="02040503050406030204" pitchFamily="18" charset="0"/>
                            </a:rPr>
                            <m:t>2</m:t>
                          </m:r>
                        </m:e>
                        <m:sup>
                          <m:r>
                            <a:rPr lang="en-US" sz="2400" i="1">
                              <a:latin typeface="Cambria Math" panose="02040503050406030204" pitchFamily="18" charset="0"/>
                            </a:rPr>
                            <m:t>𝑘</m:t>
                          </m:r>
                          <m:r>
                            <a:rPr lang="en-US" sz="2400" i="1">
                              <a:latin typeface="Cambria Math" panose="02040503050406030204" pitchFamily="18" charset="0"/>
                            </a:rPr>
                            <m:t>−1</m:t>
                          </m:r>
                        </m:sup>
                      </m:sSup>
                      <m:r>
                        <a:rPr lang="en-US" sz="2400" i="1">
                          <a:latin typeface="Cambria Math" panose="02040503050406030204" pitchFamily="18" charset="0"/>
                        </a:rPr>
                        <m:t>−</m:t>
                      </m:r>
                      <m:f>
                        <m:fPr>
                          <m:ctrlPr>
                            <a:rPr lang="en-US" sz="2400" i="1" smtClean="0">
                              <a:latin typeface="Cambria Math" panose="02040503050406030204" pitchFamily="18" charset="0"/>
                            </a:rPr>
                          </m:ctrlPr>
                        </m:fPr>
                        <m:num>
                          <m:r>
                            <a:rPr lang="en-GB" sz="2400" b="0" i="1" smtClean="0">
                              <a:latin typeface="Cambria Math" panose="02040503050406030204" pitchFamily="18" charset="0"/>
                            </a:rPr>
                            <m:t>𝑙</m:t>
                          </m:r>
                        </m:num>
                        <m:den>
                          <m:r>
                            <a:rPr lang="en-GB" sz="2400" b="0" i="1" smtClean="0">
                              <a:latin typeface="Cambria Math" panose="02040503050406030204" pitchFamily="18" charset="0"/>
                            </a:rPr>
                            <m:t>2</m:t>
                          </m:r>
                        </m:den>
                      </m:f>
                      <m:r>
                        <a:rPr lang="en-GB" sz="2400" i="1">
                          <a:latin typeface="Cambria Math" panose="02040503050406030204" pitchFamily="18" charset="0"/>
                        </a:rPr>
                        <m:t>)</m:t>
                      </m:r>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m:t>
                          </m:r>
                        </m:e>
                        <m:sup>
                          <m:r>
                            <a:rPr lang="en-GB" sz="2400" b="0" i="1" smtClean="0">
                              <a:latin typeface="Cambria Math" panose="02040503050406030204" pitchFamily="18" charset="0"/>
                            </a:rPr>
                            <m:t>𝑘</m:t>
                          </m:r>
                          <m:r>
                            <a:rPr lang="en-GB" sz="2400" b="0" i="1" smtClean="0">
                              <a:latin typeface="Cambria Math" panose="02040503050406030204" pitchFamily="18" charset="0"/>
                            </a:rPr>
                            <m:t>−1</m:t>
                          </m:r>
                        </m:sup>
                      </m:sSup>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𝑙</m:t>
                          </m:r>
                        </m:num>
                        <m:den>
                          <m:r>
                            <a:rPr lang="en-GB" sz="2400" b="0" i="1" smtClean="0">
                              <a:latin typeface="Cambria Math" panose="02040503050406030204" pitchFamily="18" charset="0"/>
                            </a:rPr>
                            <m:t>2</m:t>
                          </m:r>
                        </m:den>
                      </m:f>
                      <m:r>
                        <a:rPr lang="en-GB" sz="2400" b="0" i="1" smtClean="0">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2</m:t>
                          </m:r>
                        </m:e>
                        <m:sup>
                          <m:r>
                            <a:rPr lang="en-GB" sz="2400" i="1">
                              <a:latin typeface="Cambria Math" panose="02040503050406030204" pitchFamily="18" charset="0"/>
                            </a:rPr>
                            <m:t>𝑘</m:t>
                          </m:r>
                          <m:r>
                            <a:rPr lang="en-GB" sz="2400" i="1">
                              <a:latin typeface="Cambria Math" panose="02040503050406030204" pitchFamily="18" charset="0"/>
                            </a:rPr>
                            <m:t>−1</m:t>
                          </m:r>
                        </m:sup>
                      </m:sSup>
                      <m:r>
                        <a:rPr lang="en-GB" sz="2400" i="1">
                          <a:latin typeface="Cambria Math" panose="02040503050406030204" pitchFamily="18" charset="0"/>
                        </a:rPr>
                        <m:t>+</m:t>
                      </m:r>
                      <m:d>
                        <m:dPr>
                          <m:begChr m:val="⌈"/>
                          <m:endChr m:val="⌉"/>
                          <m:ctrlPr>
                            <a:rPr lang="en-GB" sz="2400" i="1" smtClean="0">
                              <a:latin typeface="Cambria Math" panose="02040503050406030204" pitchFamily="18" charset="0"/>
                            </a:rPr>
                          </m:ctrlPr>
                        </m:dPr>
                        <m:e>
                          <m:f>
                            <m:fPr>
                              <m:ctrlPr>
                                <a:rPr lang="en-GB" sz="2400" i="1" smtClean="0">
                                  <a:latin typeface="Cambria Math" panose="02040503050406030204" pitchFamily="18" charset="0"/>
                                </a:rPr>
                              </m:ctrlPr>
                            </m:fPr>
                            <m:num>
                              <m:r>
                                <a:rPr lang="en-GB" sz="2400" b="0" i="1" smtClean="0">
                                  <a:latin typeface="Cambria Math" panose="02040503050406030204" pitchFamily="18" charset="0"/>
                                </a:rPr>
                                <m:t>𝑙</m:t>
                              </m:r>
                              <m:r>
                                <a:rPr lang="en-GB" sz="2400" b="0" i="1" smtClean="0">
                                  <a:latin typeface="Cambria Math" panose="02040503050406030204" pitchFamily="18" charset="0"/>
                                </a:rPr>
                                <m:t>−1</m:t>
                              </m:r>
                            </m:num>
                            <m:den>
                              <m:r>
                                <a:rPr lang="en-GB" sz="2400" b="0" i="1" smtClean="0">
                                  <a:latin typeface="Cambria Math" panose="02040503050406030204" pitchFamily="18" charset="0"/>
                                </a:rPr>
                                <m:t>2</m:t>
                              </m:r>
                            </m:den>
                          </m:f>
                        </m:e>
                      </m:d>
                    </m:oMath>
                  </m:oMathPara>
                </a14:m>
                <a:endParaRPr lang="en-GB" sz="2400" dirty="0"/>
              </a:p>
              <a:p>
                <a:pPr marL="201168" lvl="1" indent="0">
                  <a:buNone/>
                </a:pPr>
                <a:r>
                  <a:rPr lang="en-US" sz="2400" dirty="0"/>
                  <a:t>And by looking at the other side of the wanted equation – </a:t>
                </a:r>
              </a:p>
              <a:p>
                <a:pPr marL="201168" lvl="1" indent="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2</m:t>
                              </m:r>
                            </m:den>
                          </m:f>
                        </m:e>
                      </m:d>
                      <m:r>
                        <a:rPr lang="en-GB"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p>
                                <m:sSupPr>
                                  <m:ctrlPr>
                                    <a:rPr lang="en-GB" sz="2400" i="1">
                                      <a:latin typeface="Cambria Math" panose="02040503050406030204" pitchFamily="18" charset="0"/>
                                    </a:rPr>
                                  </m:ctrlPr>
                                </m:sSupPr>
                                <m:e>
                                  <m:r>
                                    <a:rPr lang="en-GB" sz="2400" i="1">
                                      <a:latin typeface="Cambria Math" panose="02040503050406030204" pitchFamily="18" charset="0"/>
                                    </a:rPr>
                                    <m:t>2</m:t>
                                  </m:r>
                                </m:e>
                                <m:sup>
                                  <m:r>
                                    <a:rPr lang="en-GB" sz="2400" i="1">
                                      <a:latin typeface="Cambria Math" panose="02040503050406030204" pitchFamily="18" charset="0"/>
                                    </a:rPr>
                                    <m:t>𝑘</m:t>
                                  </m:r>
                                </m:sup>
                              </m:sSup>
                              <m:r>
                                <a:rPr lang="en-GB" sz="2400" i="1">
                                  <a:latin typeface="Cambria Math" panose="02040503050406030204" pitchFamily="18" charset="0"/>
                                </a:rPr>
                                <m:t>+</m:t>
                              </m:r>
                              <m:r>
                                <a:rPr lang="en-GB" sz="2400" i="1">
                                  <a:latin typeface="Cambria Math" panose="02040503050406030204" pitchFamily="18" charset="0"/>
                                </a:rPr>
                                <m:t>𝑙</m:t>
                              </m:r>
                              <m:r>
                                <a:rPr lang="en-GB" sz="2400" i="1">
                                  <a:latin typeface="Cambria Math" panose="02040503050406030204" pitchFamily="18" charset="0"/>
                                </a:rPr>
                                <m:t> −1</m:t>
                              </m:r>
                            </m:num>
                            <m:den>
                              <m:r>
                                <a:rPr lang="en-US" sz="2400" i="1">
                                  <a:latin typeface="Cambria Math" panose="02040503050406030204" pitchFamily="18" charset="0"/>
                                </a:rPr>
                                <m:t>2</m:t>
                              </m:r>
                            </m:den>
                          </m:f>
                        </m:e>
                      </m:d>
                      <m:r>
                        <a:rPr lang="en-GB" sz="2400" b="0" i="0" smtClean="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m:t>
                                  </m:r>
                                </m:e>
                                <m:sup>
                                  <m:r>
                                    <a:rPr lang="en-GB" sz="2400" b="0" i="1" smtClean="0">
                                      <a:latin typeface="Cambria Math" panose="02040503050406030204" pitchFamily="18" charset="0"/>
                                    </a:rPr>
                                    <m:t>𝑘</m:t>
                                  </m:r>
                                </m:sup>
                              </m:sSup>
                            </m:num>
                            <m:den>
                              <m:r>
                                <a:rPr lang="en-US" sz="2400" i="1">
                                  <a:latin typeface="Cambria Math" panose="02040503050406030204" pitchFamily="18" charset="0"/>
                                </a:rPr>
                                <m:t>2</m:t>
                              </m:r>
                            </m:den>
                          </m:f>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GB" sz="2400" i="1">
                                  <a:latin typeface="Cambria Math" panose="02040503050406030204" pitchFamily="18" charset="0"/>
                                </a:rPr>
                                <m:t>𝑙</m:t>
                              </m:r>
                              <m:r>
                                <a:rPr lang="en-GB" sz="2400" i="1">
                                  <a:latin typeface="Cambria Math" panose="02040503050406030204" pitchFamily="18" charset="0"/>
                                </a:rPr>
                                <m:t> −1</m:t>
                              </m:r>
                            </m:num>
                            <m:den>
                              <m:r>
                                <a:rPr lang="en-US" sz="2400" i="1">
                                  <a:latin typeface="Cambria Math" panose="02040503050406030204" pitchFamily="18" charset="0"/>
                                </a:rPr>
                                <m:t>2</m:t>
                              </m:r>
                            </m:den>
                          </m:f>
                        </m:e>
                      </m:d>
                      <m:r>
                        <a:rPr lang="en-GB"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sSup>
                            <m:sSupPr>
                              <m:ctrlPr>
                                <a:rPr lang="en-GB" sz="2400" i="1">
                                  <a:latin typeface="Cambria Math" panose="02040503050406030204" pitchFamily="18" charset="0"/>
                                </a:rPr>
                              </m:ctrlPr>
                            </m:sSupPr>
                            <m:e>
                              <m:r>
                                <a:rPr lang="en-GB" sz="2400" i="1">
                                  <a:latin typeface="Cambria Math" panose="02040503050406030204" pitchFamily="18" charset="0"/>
                                </a:rPr>
                                <m:t>2</m:t>
                              </m:r>
                            </m:e>
                            <m:sup>
                              <m:r>
                                <a:rPr lang="en-GB" sz="2400" i="1">
                                  <a:latin typeface="Cambria Math" panose="02040503050406030204" pitchFamily="18" charset="0"/>
                                </a:rPr>
                                <m:t>𝑘</m:t>
                              </m:r>
                              <m:r>
                                <a:rPr lang="en-US" sz="2400" i="1">
                                  <a:latin typeface="Cambria Math" panose="02040503050406030204" pitchFamily="18" charset="0"/>
                                </a:rPr>
                                <m:t>−1</m:t>
                              </m:r>
                            </m:sup>
                          </m:sSup>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GB" sz="2400" i="1">
                                  <a:latin typeface="Cambria Math" panose="02040503050406030204" pitchFamily="18" charset="0"/>
                                </a:rPr>
                                <m:t>𝑙</m:t>
                              </m:r>
                              <m:r>
                                <a:rPr lang="en-GB" sz="2400" i="1">
                                  <a:latin typeface="Cambria Math" panose="02040503050406030204" pitchFamily="18" charset="0"/>
                                </a:rPr>
                                <m:t> −1</m:t>
                              </m:r>
                            </m:num>
                            <m:den>
                              <m:r>
                                <a:rPr lang="en-US" sz="2400" i="1">
                                  <a:latin typeface="Cambria Math" panose="02040503050406030204" pitchFamily="18" charset="0"/>
                                </a:rPr>
                                <m:t>2</m:t>
                              </m:r>
                            </m:den>
                          </m:f>
                        </m:e>
                      </m:d>
                      <m:r>
                        <a:rPr lang="en-US" sz="2400" b="0" i="1" smtClean="0">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2</m:t>
                          </m:r>
                        </m:e>
                        <m:sup>
                          <m:r>
                            <a:rPr lang="en-GB" sz="2400" i="1">
                              <a:latin typeface="Cambria Math" panose="02040503050406030204" pitchFamily="18" charset="0"/>
                            </a:rPr>
                            <m:t>𝑘</m:t>
                          </m:r>
                          <m:r>
                            <a:rPr lang="en-US" sz="2400" i="1">
                              <a:latin typeface="Cambria Math" panose="02040503050406030204" pitchFamily="18" charset="0"/>
                            </a:rPr>
                            <m:t>−1</m:t>
                          </m:r>
                        </m:sup>
                      </m:sSup>
                      <m:r>
                        <a:rPr lang="en-GB" sz="2400" i="1">
                          <a:latin typeface="Cambria Math" panose="02040503050406030204" pitchFamily="18" charset="0"/>
                        </a:rPr>
                        <m:t>+</m:t>
                      </m:r>
                      <m:d>
                        <m:dPr>
                          <m:begChr m:val="⌈"/>
                          <m:endChr m:val="⌉"/>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𝑙</m:t>
                              </m:r>
                              <m:r>
                                <a:rPr lang="en-GB" sz="2400" i="1">
                                  <a:latin typeface="Cambria Math" panose="02040503050406030204" pitchFamily="18" charset="0"/>
                                </a:rPr>
                                <m:t>−1</m:t>
                              </m:r>
                            </m:num>
                            <m:den>
                              <m:r>
                                <a:rPr lang="en-GB" sz="2400" i="1">
                                  <a:latin typeface="Cambria Math" panose="02040503050406030204" pitchFamily="18" charset="0"/>
                                </a:rPr>
                                <m:t>2</m:t>
                              </m:r>
                            </m:den>
                          </m:f>
                        </m:e>
                      </m:d>
                    </m:oMath>
                  </m:oMathPara>
                </a14:m>
                <a:endParaRPr lang="en-US" sz="2400" dirty="0"/>
              </a:p>
              <a:p>
                <a:pPr marL="201168" lvl="1" indent="0">
                  <a:buNone/>
                </a:pPr>
                <a:endParaRPr lang="en-US" sz="2400" dirty="0"/>
              </a:p>
              <a:p>
                <a:pPr marL="201168" lvl="1" indent="0">
                  <a:buNone/>
                </a:pPr>
                <a:endParaRPr lang="en-US" sz="2400" dirty="0"/>
              </a:p>
              <a:p>
                <a:pPr marL="201168" lvl="1" indent="0">
                  <a:buNone/>
                </a:pPr>
                <a:endParaRPr lang="en-US" sz="2400" dirty="0"/>
              </a:p>
              <a:p>
                <a:pPr marL="201168" lvl="1" indent="0">
                  <a:buNone/>
                </a:pPr>
                <a:r>
                  <a:rPr lang="en-US" sz="2400" dirty="0"/>
                  <a:t>We have reached the same equation on both sides, thus the total number of leaves is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2</m:t>
                            </m:r>
                          </m:den>
                        </m:f>
                      </m:e>
                    </m:d>
                  </m:oMath>
                </a14:m>
                <a:r>
                  <a:rPr lang="en-US" sz="2400" dirty="0"/>
                  <a:t> (in the case l is even, need to prove for odd l as well).</a:t>
                </a:r>
              </a:p>
              <a:p>
                <a:pPr marL="201168" lvl="1" indent="0">
                  <a:buNone/>
                </a:pPr>
                <a:endParaRPr lang="en-US" sz="2400" dirty="0"/>
              </a:p>
              <a:p>
                <a:pPr lvl="2"/>
                <a:endParaRPr lang="en-US" sz="200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335280" y="1968637"/>
                <a:ext cx="10058400" cy="4023360"/>
              </a:xfrm>
              <a:prstGeom prst="rect">
                <a:avLst/>
              </a:prstGeom>
              <a:blipFill>
                <a:blip r:embed="rId4"/>
                <a:stretch>
                  <a:fillRect t="-2727" r="-364"/>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492FE78E-932E-8F66-B5B2-1BC8010766B1}"/>
              </a:ext>
            </a:extLst>
          </p:cNvPr>
          <p:cNvCxnSpPr>
            <a:cxnSpLocks/>
          </p:cNvCxnSpPr>
          <p:nvPr/>
        </p:nvCxnSpPr>
        <p:spPr>
          <a:xfrm flipV="1">
            <a:off x="1447309" y="3767694"/>
            <a:ext cx="0" cy="425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750C73-92B3-126A-DDA3-248762789038}"/>
                  </a:ext>
                </a:extLst>
              </p:cNvPr>
              <p:cNvSpPr txBox="1"/>
              <p:nvPr/>
            </p:nvSpPr>
            <p:spPr>
              <a:xfrm>
                <a:off x="439597" y="4101051"/>
                <a:ext cx="2015424" cy="646331"/>
              </a:xfrm>
              <a:prstGeom prst="rect">
                <a:avLst/>
              </a:prstGeom>
              <a:noFill/>
            </p:spPr>
            <p:txBody>
              <a:bodyPr wrap="none" rtlCol="0">
                <a:spAutoFit/>
              </a:bodyPr>
              <a:lstStyle/>
              <a:p>
                <a:pPr algn="ctr"/>
                <a:r>
                  <a:rPr lang="en-US" dirty="0"/>
                  <a:t>Value of </a:t>
                </a:r>
                <a14:m>
                  <m:oMath xmlns:m="http://schemas.openxmlformats.org/officeDocument/2006/math">
                    <m:r>
                      <a:rPr lang="en-US" i="1" dirty="0" smtClean="0">
                        <a:latin typeface="Cambria Math" panose="02040503050406030204" pitchFamily="18" charset="0"/>
                      </a:rPr>
                      <m:t>𝑛</m:t>
                    </m:r>
                  </m:oMath>
                </a14:m>
                <a:endParaRPr lang="en-US" dirty="0"/>
              </a:p>
              <a:p>
                <a:pPr algn="ctr"/>
                <a:r>
                  <a:rPr lang="en-US" dirty="0"/>
                  <a:t>From previous slide</a:t>
                </a:r>
              </a:p>
            </p:txBody>
          </p:sp>
        </mc:Choice>
        <mc:Fallback xmlns="">
          <p:sp>
            <p:nvSpPr>
              <p:cNvPr id="16" name="TextBox 15">
                <a:extLst>
                  <a:ext uri="{FF2B5EF4-FFF2-40B4-BE49-F238E27FC236}">
                    <a16:creationId xmlns:a16="http://schemas.microsoft.com/office/drawing/2014/main" id="{37750C73-92B3-126A-DDA3-248762789038}"/>
                  </a:ext>
                </a:extLst>
              </p:cNvPr>
              <p:cNvSpPr txBox="1">
                <a:spLocks noRot="1" noChangeAspect="1" noMove="1" noResize="1" noEditPoints="1" noAdjustHandles="1" noChangeArrowheads="1" noChangeShapeType="1" noTextEdit="1"/>
              </p:cNvSpPr>
              <p:nvPr/>
            </p:nvSpPr>
            <p:spPr>
              <a:xfrm>
                <a:off x="439597" y="4101051"/>
                <a:ext cx="2015424" cy="646331"/>
              </a:xfrm>
              <a:prstGeom prst="rect">
                <a:avLst/>
              </a:prstGeom>
              <a:blipFill>
                <a:blip r:embed="rId5"/>
                <a:stretch>
                  <a:fillRect l="-1875" t="-5882" r="-1875" b="-13725"/>
                </a:stretch>
              </a:blipFill>
            </p:spPr>
            <p:txBody>
              <a:bodyPr/>
              <a:lstStyle/>
              <a:p>
                <a:r>
                  <a:rPr lang="en-IL">
                    <a:noFill/>
                  </a:rPr>
                  <a:t> </a:t>
                </a:r>
              </a:p>
            </p:txBody>
          </p:sp>
        </mc:Fallback>
      </mc:AlternateContent>
      <p:cxnSp>
        <p:nvCxnSpPr>
          <p:cNvPr id="17" name="Straight Arrow Connector 16">
            <a:extLst>
              <a:ext uri="{FF2B5EF4-FFF2-40B4-BE49-F238E27FC236}">
                <a16:creationId xmlns:a16="http://schemas.microsoft.com/office/drawing/2014/main" id="{054FF200-9A5E-F560-4620-CEADFA238258}"/>
              </a:ext>
            </a:extLst>
          </p:cNvPr>
          <p:cNvCxnSpPr>
            <a:cxnSpLocks/>
          </p:cNvCxnSpPr>
          <p:nvPr/>
        </p:nvCxnSpPr>
        <p:spPr>
          <a:xfrm flipV="1">
            <a:off x="3331870" y="3767694"/>
            <a:ext cx="0" cy="425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3C30A37-A99A-7B95-7213-A536DD102BC5}"/>
                  </a:ext>
                </a:extLst>
              </p:cNvPr>
              <p:cNvSpPr txBox="1"/>
              <p:nvPr/>
            </p:nvSpPr>
            <p:spPr>
              <a:xfrm>
                <a:off x="2514274" y="4192940"/>
                <a:ext cx="1635191" cy="923330"/>
              </a:xfrm>
              <a:prstGeom prst="rect">
                <a:avLst/>
              </a:prstGeom>
              <a:noFill/>
            </p:spPr>
            <p:txBody>
              <a:bodyPr wrap="none" rtlCol="0">
                <a:spAutoFit/>
              </a:bodyPr>
              <a:lstStyle/>
              <a:p>
                <a:pPr algn="ctr"/>
                <a:r>
                  <a:rPr lang="en-US" dirty="0"/>
                  <a:t>Because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𝑘</m:t>
                        </m:r>
                      </m:sup>
                    </m:sSup>
                  </m:oMath>
                </a14:m>
                <a:endParaRPr lang="en-US" dirty="0"/>
              </a:p>
              <a:p>
                <a:pPr algn="ctr"/>
                <a:r>
                  <a:rPr lang="en-US" dirty="0"/>
                  <a:t>Is even the ceil</a:t>
                </a:r>
              </a:p>
              <a:p>
                <a:pPr algn="ctr"/>
                <a:r>
                  <a:rPr lang="en-US" dirty="0"/>
                  <a:t>can be split</a:t>
                </a:r>
              </a:p>
            </p:txBody>
          </p:sp>
        </mc:Choice>
        <mc:Fallback xmlns="">
          <p:sp>
            <p:nvSpPr>
              <p:cNvPr id="18" name="TextBox 17">
                <a:extLst>
                  <a:ext uri="{FF2B5EF4-FFF2-40B4-BE49-F238E27FC236}">
                    <a16:creationId xmlns:a16="http://schemas.microsoft.com/office/drawing/2014/main" id="{F3C30A37-A99A-7B95-7213-A536DD102BC5}"/>
                  </a:ext>
                </a:extLst>
              </p:cNvPr>
              <p:cNvSpPr txBox="1">
                <a:spLocks noRot="1" noChangeAspect="1" noMove="1" noResize="1" noEditPoints="1" noAdjustHandles="1" noChangeArrowheads="1" noChangeShapeType="1" noTextEdit="1"/>
              </p:cNvSpPr>
              <p:nvPr/>
            </p:nvSpPr>
            <p:spPr>
              <a:xfrm>
                <a:off x="2514274" y="4192940"/>
                <a:ext cx="1635191" cy="923330"/>
              </a:xfrm>
              <a:prstGeom prst="rect">
                <a:avLst/>
              </a:prstGeom>
              <a:blipFill>
                <a:blip r:embed="rId6"/>
                <a:stretch>
                  <a:fillRect l="-769" t="-4110" r="-769" b="-9589"/>
                </a:stretch>
              </a:blipFill>
            </p:spPr>
            <p:txBody>
              <a:bodyPr/>
              <a:lstStyle/>
              <a:p>
                <a:r>
                  <a:rPr lang="en-IL">
                    <a:noFill/>
                  </a:rPr>
                  <a:t> </a:t>
                </a:r>
              </a:p>
            </p:txBody>
          </p:sp>
        </mc:Fallback>
      </mc:AlternateContent>
    </p:spTree>
    <p:extLst>
      <p:ext uri="{BB962C8B-B14F-4D97-AF65-F5344CB8AC3E}">
        <p14:creationId xmlns:p14="http://schemas.microsoft.com/office/powerpoint/2010/main" val="205989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 – Solution II</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249680" y="1998134"/>
                <a:ext cx="10058400" cy="432400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400" dirty="0"/>
                  <a:t>Prove: in every nearly complete binary tree with </a:t>
                </a:r>
                <a14:m>
                  <m:oMath xmlns:m="http://schemas.openxmlformats.org/officeDocument/2006/math">
                    <m:r>
                      <a:rPr lang="en-US" sz="2400" b="0" i="1" smtClean="0">
                        <a:latin typeface="Cambria Math" panose="02040503050406030204" pitchFamily="18" charset="0"/>
                      </a:rPr>
                      <m:t>𝑛</m:t>
                    </m:r>
                  </m:oMath>
                </a14:m>
                <a:r>
                  <a:rPr lang="en-US" sz="2400" dirty="0"/>
                  <a:t> vertices, exactly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b="0" i="1" smtClean="0">
                                <a:latin typeface="Cambria Math" panose="02040503050406030204" pitchFamily="18" charset="0"/>
                              </a:rPr>
                              <m:t>𝑛</m:t>
                            </m:r>
                          </m:num>
                          <m:den>
                            <m:r>
                              <a:rPr lang="en-US" sz="2400" i="1">
                                <a:latin typeface="Cambria Math" panose="02040503050406030204" pitchFamily="18" charset="0"/>
                              </a:rPr>
                              <m:t>2</m:t>
                            </m:r>
                          </m:den>
                        </m:f>
                      </m:e>
                    </m:d>
                  </m:oMath>
                </a14:m>
                <a:r>
                  <a:rPr lang="en-US" sz="2400" dirty="0"/>
                  <a:t> of the vertices are leaves.</a:t>
                </a:r>
              </a:p>
              <a:p>
                <a:pPr lvl="1"/>
                <a:r>
                  <a:rPr lang="en-US" sz="2400" dirty="0"/>
                  <a:t>We prove by induction on </a:t>
                </a:r>
                <a14:m>
                  <m:oMath xmlns:m="http://schemas.openxmlformats.org/officeDocument/2006/math">
                    <m:r>
                      <a:rPr lang="en-US" sz="2400" b="0" i="1" smtClean="0">
                        <a:latin typeface="Cambria Math" panose="02040503050406030204" pitchFamily="18" charset="0"/>
                      </a:rPr>
                      <m:t>𝑛</m:t>
                    </m:r>
                  </m:oMath>
                </a14:m>
                <a:r>
                  <a:rPr lang="en-US" sz="2400" dirty="0"/>
                  <a:t>.</a:t>
                </a:r>
              </a:p>
              <a:p>
                <a:pPr lvl="1"/>
                <a:r>
                  <a:rPr lang="en-US" sz="2400" b="1" dirty="0"/>
                  <a:t>Base:</a:t>
                </a:r>
                <a:r>
                  <a:rPr lang="en-US" sz="2400" dirty="0"/>
                  <a:t> If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0</m:t>
                    </m:r>
                  </m:oMath>
                </a14:m>
                <a:r>
                  <a:rPr lang="en-US" sz="2400" dirty="0"/>
                  <a:t> then there are no nodes and therefore 0 leaves. 		           If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1</m:t>
                    </m:r>
                  </m:oMath>
                </a14:m>
                <a:r>
                  <a:rPr lang="en-US" sz="2400" dirty="0"/>
                  <a:t> there the root is a leaf, therefore there is 1 leaf. </a:t>
                </a:r>
              </a:p>
              <a:p>
                <a:pPr lvl="1"/>
                <a:r>
                  <a:rPr lang="en-US" sz="2400" b="1" dirty="0"/>
                  <a:t>Assumption: </a:t>
                </a:r>
                <a:r>
                  <a:rPr lang="en-US" sz="2400" dirty="0"/>
                  <a:t>Assume that for every nearly complete binary tree of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i="1">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1</m:t>
                    </m:r>
                  </m:oMath>
                </a14:m>
                <a:r>
                  <a:rPr lang="en-US" sz="2400" dirty="0"/>
                  <a:t> elements there are exactly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b="0" i="1" smtClean="0">
                                <a:latin typeface="Cambria Math" panose="02040503050406030204" pitchFamily="18" charset="0"/>
                              </a:rPr>
                              <m:t>𝑘</m:t>
                            </m:r>
                          </m:num>
                          <m:den>
                            <m:r>
                              <a:rPr lang="en-US" sz="2400" i="1">
                                <a:latin typeface="Cambria Math" panose="02040503050406030204" pitchFamily="18" charset="0"/>
                              </a:rPr>
                              <m:t>2</m:t>
                            </m:r>
                          </m:den>
                        </m:f>
                      </m:e>
                    </m:d>
                  </m:oMath>
                </a14:m>
                <a:r>
                  <a:rPr lang="en-US" sz="2400" dirty="0"/>
                  <a:t> leaves. We will prove the claim for n</a:t>
                </a:r>
              </a:p>
              <a:p>
                <a:pPr marL="201168" lvl="1" indent="0">
                  <a:buFont typeface="Calibri" pitchFamily="34" charset="0"/>
                  <a:buNone/>
                </a:pPr>
                <a:endParaRPr lang="en-US" sz="2400" dirty="0"/>
              </a:p>
              <a:p>
                <a:pPr marL="201168" lvl="1" indent="0">
                  <a:buFont typeface="Calibri" pitchFamily="34" charset="0"/>
                  <a:buNone/>
                </a:pPr>
                <a:endParaRPr lang="en-US" sz="240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249680" y="1998134"/>
                <a:ext cx="10058400" cy="4324008"/>
              </a:xfrm>
              <a:prstGeom prst="rect">
                <a:avLst/>
              </a:prstGeom>
              <a:blipFill>
                <a:blip r:embed="rId3"/>
                <a:stretch>
                  <a:fillRect r="-60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B884F95-73DF-408A-B59F-ED806D9B9012}"/>
              </a:ext>
            </a:extLst>
          </p:cNvPr>
          <p:cNvPicPr>
            <a:picLocks noChangeAspect="1"/>
          </p:cNvPicPr>
          <p:nvPr/>
        </p:nvPicPr>
        <p:blipFill>
          <a:blip r:embed="rId4"/>
          <a:stretch>
            <a:fillRect/>
          </a:stretch>
        </p:blipFill>
        <p:spPr>
          <a:xfrm>
            <a:off x="7721710" y="4794459"/>
            <a:ext cx="3017174" cy="1527683"/>
          </a:xfrm>
          <a:prstGeom prst="rect">
            <a:avLst/>
          </a:prstGeom>
        </p:spPr>
      </p:pic>
    </p:spTree>
    <p:extLst>
      <p:ext uri="{BB962C8B-B14F-4D97-AF65-F5344CB8AC3E}">
        <p14:creationId xmlns:p14="http://schemas.microsoft.com/office/powerpoint/2010/main" val="672681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 – Solution II</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249680" y="1998134"/>
                <a:ext cx="10058400" cy="432400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800" dirty="0"/>
                  <a:t>Observations:</a:t>
                </a:r>
              </a:p>
              <a:p>
                <a:pPr lvl="2"/>
                <a:r>
                  <a:rPr lang="en-US" sz="2400" dirty="0"/>
                  <a:t>The number of leaves in any tree with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&gt;</m:t>
                    </m:r>
                    <m:r>
                      <a:rPr lang="en-US" sz="2400" b="0" i="1" smtClean="0">
                        <a:latin typeface="Cambria Math" panose="02040503050406030204" pitchFamily="18" charset="0"/>
                      </a:rPr>
                      <m:t>1</m:t>
                    </m:r>
                  </m:oMath>
                </a14:m>
                <a:r>
                  <a:rPr lang="en-US" sz="2400" dirty="0"/>
                  <a:t>nodes is the number of leaves of the left subtree plus the number of leaves of the right subtree.</a:t>
                </a:r>
              </a:p>
              <a:p>
                <a:pPr lvl="2"/>
                <a:r>
                  <a:rPr lang="en-US" sz="2400" dirty="0"/>
                  <a:t>In an almost complete binary tree, at least one of the left subtree or the right subtree is a complete binary tree.</a:t>
                </a:r>
              </a:p>
              <a:p>
                <a:pPr lvl="2"/>
                <a:r>
                  <a:rPr lang="en-US" sz="2400" dirty="0"/>
                  <a:t>The number of nodes in a complete binary tree is </a:t>
                </a:r>
                <a:r>
                  <a:rPr lang="en-US" sz="2400" b="1" dirty="0"/>
                  <a:t>odd</a:t>
                </a:r>
                <a:r>
                  <a:rPr lang="en-US" sz="2400" dirty="0"/>
                  <a:t>.</a:t>
                </a:r>
              </a:p>
              <a:p>
                <a:pPr marL="201168" lvl="1" indent="0">
                  <a:buFont typeface="Calibri" pitchFamily="34" charset="0"/>
                  <a:buNone/>
                </a:pPr>
                <a:endParaRPr lang="en-US" sz="2800" dirty="0"/>
              </a:p>
              <a:p>
                <a:pPr marL="201168" lvl="1" indent="0">
                  <a:buFont typeface="Calibri" pitchFamily="34" charset="0"/>
                  <a:buNone/>
                </a:pPr>
                <a:endParaRPr lang="en-US" sz="280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249680" y="1998134"/>
                <a:ext cx="10058400" cy="4324008"/>
              </a:xfrm>
              <a:prstGeom prst="rect">
                <a:avLst/>
              </a:prstGeom>
              <a:blipFill>
                <a:blip r:embed="rId3"/>
                <a:stretch>
                  <a:fillRect l="-182" t="-2539"/>
                </a:stretch>
              </a:blipFill>
            </p:spPr>
            <p:txBody>
              <a:bodyPr/>
              <a:lstStyle/>
              <a:p>
                <a:r>
                  <a:rPr lang="he-IL">
                    <a:noFill/>
                  </a:rPr>
                  <a:t> </a:t>
                </a:r>
              </a:p>
            </p:txBody>
          </p:sp>
        </mc:Fallback>
      </mc:AlternateContent>
      <p:pic>
        <p:nvPicPr>
          <p:cNvPr id="7" name="Picture 6">
            <a:extLst>
              <a:ext uri="{FF2B5EF4-FFF2-40B4-BE49-F238E27FC236}">
                <a16:creationId xmlns:a16="http://schemas.microsoft.com/office/drawing/2014/main" id="{8459F383-5646-44C0-965C-A52463FE60D7}"/>
              </a:ext>
            </a:extLst>
          </p:cNvPr>
          <p:cNvPicPr>
            <a:picLocks noChangeAspect="1"/>
          </p:cNvPicPr>
          <p:nvPr/>
        </p:nvPicPr>
        <p:blipFill>
          <a:blip r:embed="rId4"/>
          <a:stretch>
            <a:fillRect/>
          </a:stretch>
        </p:blipFill>
        <p:spPr>
          <a:xfrm>
            <a:off x="7683364" y="4571698"/>
            <a:ext cx="3220610" cy="1630689"/>
          </a:xfrm>
          <a:prstGeom prst="rect">
            <a:avLst/>
          </a:prstGeom>
        </p:spPr>
      </p:pic>
    </p:spTree>
    <p:extLst>
      <p:ext uri="{BB962C8B-B14F-4D97-AF65-F5344CB8AC3E}">
        <p14:creationId xmlns:p14="http://schemas.microsoft.com/office/powerpoint/2010/main" val="192701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 – Solution II</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249680" y="1998134"/>
                <a:ext cx="10058400" cy="432400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400" b="1" dirty="0"/>
                  <a:t>Step:</a:t>
                </a:r>
                <a:r>
                  <a:rPr lang="en-US" sz="2400" dirty="0"/>
                  <a:t> Let </a:t>
                </a:r>
                <a14:m>
                  <m:oMath xmlns:m="http://schemas.openxmlformats.org/officeDocument/2006/math">
                    <m:r>
                      <a:rPr lang="en-US" sz="2400" b="0" i="1" smtClean="0">
                        <a:latin typeface="Cambria Math" panose="02040503050406030204" pitchFamily="18" charset="0"/>
                      </a:rPr>
                      <m:t>𝑇</m:t>
                    </m:r>
                  </m:oMath>
                </a14:m>
                <a:r>
                  <a:rPr lang="en-US" sz="2400" b="1" dirty="0"/>
                  <a:t> </a:t>
                </a:r>
                <a:r>
                  <a:rPr lang="en-US" sz="2400" dirty="0"/>
                  <a:t>be a nearly complete binary tree with </a:t>
                </a:r>
                <a14:m>
                  <m:oMath xmlns:m="http://schemas.openxmlformats.org/officeDocument/2006/math">
                    <m:r>
                      <a:rPr lang="en-US" sz="2400" b="0" i="1" smtClean="0">
                        <a:latin typeface="Cambria Math" panose="02040503050406030204" pitchFamily="18" charset="0"/>
                      </a:rPr>
                      <m:t>𝑛</m:t>
                    </m:r>
                  </m:oMath>
                </a14:m>
                <a:r>
                  <a:rPr lang="en-US" sz="2400" dirty="0"/>
                  <a:t> vertices and consider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𝐿</m:t>
                        </m:r>
                      </m:sub>
                    </m:sSub>
                  </m:oMath>
                </a14:m>
                <a:r>
                  <a:rPr lang="en-US" sz="2400" b="1" dirty="0"/>
                  <a:t> </a:t>
                </a:r>
                <a:r>
                  <a:rPr lang="en-US" sz="2400" dirty="0"/>
                  <a:t>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𝑅</m:t>
                        </m:r>
                      </m:sub>
                    </m:sSub>
                  </m:oMath>
                </a14:m>
                <a:r>
                  <a:rPr lang="en-US" sz="2400" b="1" dirty="0"/>
                  <a:t> </a:t>
                </a:r>
                <a:r>
                  <a:rPr lang="en-US" sz="2400" dirty="0"/>
                  <a:t>its left and right subtrees respectively. Denote by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𝐿</m:t>
                        </m:r>
                      </m:sub>
                    </m:sSub>
                  </m:oMath>
                </a14:m>
                <a:r>
                  <a:rPr lang="en-US" sz="2400" dirty="0"/>
                  <a:t> and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𝑅</m:t>
                        </m:r>
                      </m:sub>
                    </m:sSub>
                  </m:oMath>
                </a14:m>
                <a:r>
                  <a:rPr lang="en-US" sz="2400" dirty="0"/>
                  <a:t> the number of vertices in the trees. We note that each of the trees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𝐿</m:t>
                        </m:r>
                      </m:sub>
                    </m:sSub>
                  </m:oMath>
                </a14:m>
                <a:r>
                  <a:rPr lang="en-US" sz="2400" b="1" dirty="0"/>
                  <a:t> </a:t>
                </a:r>
                <a:r>
                  <a:rPr lang="en-US" sz="2400" dirty="0"/>
                  <a:t>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𝑅</m:t>
                        </m:r>
                      </m:sub>
                    </m:sSub>
                  </m:oMath>
                </a14:m>
                <a:r>
                  <a:rPr lang="en-US" sz="2400" dirty="0"/>
                  <a:t> has strictly less elements than </a:t>
                </a:r>
                <a14:m>
                  <m:oMath xmlns:m="http://schemas.openxmlformats.org/officeDocument/2006/math">
                    <m:r>
                      <a:rPr lang="en-US" sz="2400" b="0" i="1" smtClean="0">
                        <a:latin typeface="Cambria Math" panose="02040503050406030204" pitchFamily="18" charset="0"/>
                      </a:rPr>
                      <m:t>𝑛</m:t>
                    </m:r>
                  </m:oMath>
                </a14:m>
                <a:r>
                  <a:rPr lang="en-US" sz="2400" dirty="0"/>
                  <a:t> since they do not contain the root, i.e.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𝐿</m:t>
                        </m:r>
                      </m:sub>
                    </m:sSub>
                    <m:r>
                      <a:rPr lang="en-US" sz="2400" b="0" i="1" smtClean="0">
                        <a:latin typeface="Cambria Math" panose="02040503050406030204" pitchFamily="18" charset="0"/>
                      </a:rPr>
                      <m:t>&lt;</m:t>
                    </m:r>
                    <m:r>
                      <a:rPr lang="en-US" sz="2400" b="0" i="1" smtClean="0">
                        <a:latin typeface="Cambria Math" panose="02040503050406030204" pitchFamily="18" charset="0"/>
                      </a:rPr>
                      <m:t>𝑛</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&lt;</m:t>
                    </m:r>
                    <m:r>
                      <a:rPr lang="en-US" sz="2400" b="0" i="1" smtClean="0">
                        <a:latin typeface="Cambria Math" panose="02040503050406030204" pitchFamily="18" charset="0"/>
                      </a:rPr>
                      <m:t>𝑛</m:t>
                    </m:r>
                  </m:oMath>
                </a14:m>
                <a:r>
                  <a:rPr lang="en-US" sz="2400" dirty="0"/>
                  <a:t>.</a:t>
                </a:r>
              </a:p>
              <a:p>
                <a:pPr lvl="1"/>
                <a:r>
                  <a:rPr lang="en-US" sz="2400" dirty="0"/>
                  <a:t>Thus, by the induction hypothesis, the number of leaves in each tree is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𝐿</m:t>
                                </m:r>
                              </m:sub>
                            </m:sSub>
                          </m:num>
                          <m:den>
                            <m:r>
                              <a:rPr lang="en-US" sz="2400" b="0" i="1">
                                <a:latin typeface="Cambria Math" panose="02040503050406030204" pitchFamily="18" charset="0"/>
                              </a:rPr>
                              <m:t>2</m:t>
                            </m:r>
                          </m:den>
                        </m:f>
                      </m:e>
                    </m:d>
                  </m:oMath>
                </a14:m>
                <a:r>
                  <a:rPr lang="en-US" sz="2400" dirty="0"/>
                  <a:t> and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𝑅</m:t>
                                </m:r>
                              </m:sub>
                            </m:sSub>
                          </m:num>
                          <m:den>
                            <m:r>
                              <a:rPr lang="en-US" sz="2400" b="0" i="1">
                                <a:latin typeface="Cambria Math" panose="02040503050406030204" pitchFamily="18" charset="0"/>
                              </a:rPr>
                              <m:t>2</m:t>
                            </m:r>
                          </m:den>
                        </m:f>
                      </m:e>
                    </m:d>
                  </m:oMath>
                </a14:m>
                <a:r>
                  <a:rPr lang="en-US" sz="2400" dirty="0"/>
                  <a:t>. Since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𝐿</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m:t>
                    </m:r>
                    <m:r>
                      <a:rPr lang="en-US" sz="2400" b="0" i="1" smtClean="0">
                        <a:latin typeface="Cambria Math" panose="02040503050406030204" pitchFamily="18" charset="0"/>
                      </a:rPr>
                      <m:t>1</m:t>
                    </m:r>
                  </m:oMath>
                </a14:m>
                <a:r>
                  <a:rPr lang="en-US" sz="2400" dirty="0"/>
                  <a:t>, the number of leaves in </a:t>
                </a:r>
                <a14:m>
                  <m:oMath xmlns:m="http://schemas.openxmlformats.org/officeDocument/2006/math">
                    <m:r>
                      <a:rPr lang="en-US" sz="2400" b="0" i="1" smtClean="0">
                        <a:latin typeface="Cambria Math" panose="02040503050406030204" pitchFamily="18" charset="0"/>
                      </a:rPr>
                      <m:t>𝑇</m:t>
                    </m:r>
                  </m:oMath>
                </a14:m>
                <a:r>
                  <a:rPr lang="en-US" sz="2400" dirty="0"/>
                  <a:t> is:</a:t>
                </a:r>
              </a:p>
              <a:p>
                <a:pPr marL="201168" lvl="1" indent="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𝐿</m:t>
                                  </m:r>
                                </m:sub>
                              </m:sSub>
                            </m:num>
                            <m:den>
                              <m:r>
                                <a:rPr lang="en-US" sz="2400" i="1">
                                  <a:latin typeface="Cambria Math" panose="02040503050406030204" pitchFamily="18" charset="0"/>
                                </a:rPr>
                                <m:t>2</m:t>
                              </m:r>
                            </m:den>
                          </m:f>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𝑅</m:t>
                                  </m:r>
                                </m:sub>
                              </m:sSub>
                            </m:num>
                            <m:den>
                              <m:r>
                                <a:rPr lang="en-US" sz="2400" i="1">
                                  <a:latin typeface="Cambria Math" panose="02040503050406030204" pitchFamily="18" charset="0"/>
                                </a:rPr>
                                <m:t>2</m:t>
                              </m:r>
                            </m:den>
                          </m:f>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𝐿</m:t>
                                  </m:r>
                                </m:sub>
                              </m:sSub>
                              <m:r>
                                <a:rPr lang="en-US" sz="2400" i="1">
                                  <a:latin typeface="Cambria Math" panose="02040503050406030204" pitchFamily="18" charset="0"/>
                                </a:rPr>
                                <m:t>+</m:t>
                              </m:r>
                              <m:r>
                                <a:rPr lang="en-US" sz="2400" i="1">
                                  <a:latin typeface="Cambria Math" panose="02040503050406030204" pitchFamily="18" charset="0"/>
                                </a:rPr>
                                <m:t>1</m:t>
                              </m:r>
                            </m:num>
                            <m:den>
                              <m:r>
                                <a:rPr lang="en-US" sz="2400" i="1">
                                  <a:latin typeface="Cambria Math" panose="02040503050406030204" pitchFamily="18" charset="0"/>
                                </a:rPr>
                                <m:t>2</m:t>
                              </m:r>
                            </m:den>
                          </m:f>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𝑅</m:t>
                                  </m:r>
                                </m:sub>
                              </m:sSub>
                            </m:num>
                            <m:den>
                              <m:r>
                                <a:rPr lang="en-US" sz="2400" i="1">
                                  <a:latin typeface="Cambria Math" panose="02040503050406030204" pitchFamily="18" charset="0"/>
                                </a:rPr>
                                <m:t>2</m:t>
                              </m:r>
                            </m:den>
                          </m:f>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𝐿</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𝑅</m:t>
                                  </m:r>
                                </m:sub>
                              </m:sSub>
                              <m:r>
                                <a:rPr lang="en-US" sz="2400" i="1">
                                  <a:latin typeface="Cambria Math" panose="02040503050406030204" pitchFamily="18" charset="0"/>
                                </a:rPr>
                                <m:t>+</m:t>
                              </m:r>
                              <m:r>
                                <a:rPr lang="en-US" sz="2400" b="0" i="1" smtClean="0">
                                  <a:latin typeface="Cambria Math" panose="02040503050406030204" pitchFamily="18" charset="0"/>
                                </a:rPr>
                                <m:t>1</m:t>
                              </m:r>
                            </m:num>
                            <m:den>
                              <m:r>
                                <a:rPr lang="en-US" sz="2400" i="1">
                                  <a:latin typeface="Cambria Math" panose="02040503050406030204" pitchFamily="18" charset="0"/>
                                </a:rPr>
                                <m:t>2</m:t>
                              </m:r>
                            </m:den>
                          </m:f>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2</m:t>
                              </m:r>
                            </m:den>
                          </m:f>
                        </m:e>
                      </m:d>
                    </m:oMath>
                  </m:oMathPara>
                </a14:m>
                <a:endParaRPr lang="en-US" sz="2400" dirty="0"/>
              </a:p>
              <a:p>
                <a:pPr marL="201168" lvl="1" indent="0">
                  <a:buFont typeface="Calibri" pitchFamily="34" charset="0"/>
                  <a:buNone/>
                </a:pPr>
                <a:r>
                  <a:rPr lang="en-US" sz="2400" dirty="0" err="1"/>
                  <a:t>w.l.o.g</a:t>
                </a:r>
                <a:r>
                  <a:rPr lang="en-US" sz="2400" dirty="0"/>
                  <a:t> we assumed that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𝐿</m:t>
                        </m:r>
                      </m:sub>
                    </m:sSub>
                  </m:oMath>
                </a14:m>
                <a:r>
                  <a:rPr lang="en-US" sz="2400" dirty="0"/>
                  <a:t> is a complete binary tree.</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249680" y="1998134"/>
                <a:ext cx="10058400" cy="4324008"/>
              </a:xfrm>
              <a:prstGeom prst="rect">
                <a:avLst/>
              </a:prstGeom>
              <a:blipFill>
                <a:blip r:embed="rId3"/>
                <a:stretch>
                  <a:fillRect t="-2053" r="-883"/>
                </a:stretch>
              </a:blipFill>
            </p:spPr>
            <p:txBody>
              <a:bodyPr/>
              <a:lstStyle/>
              <a:p>
                <a:r>
                  <a:rPr lang="en-IL">
                    <a:noFill/>
                  </a:rPr>
                  <a:t> </a:t>
                </a:r>
              </a:p>
            </p:txBody>
          </p:sp>
        </mc:Fallback>
      </mc:AlternateContent>
    </p:spTree>
    <p:extLst>
      <p:ext uri="{BB962C8B-B14F-4D97-AF65-F5344CB8AC3E}">
        <p14:creationId xmlns:p14="http://schemas.microsoft.com/office/powerpoint/2010/main" val="372042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8865721" y="3857414"/>
            <a:ext cx="3326279" cy="2459662"/>
          </a:xfrm>
          <a:prstGeom prst="rect">
            <a:avLst/>
          </a:prstGeom>
        </p:spPr>
      </p:pic>
      <p:sp>
        <p:nvSpPr>
          <p:cNvPr id="2" name="Title 1"/>
          <p:cNvSpPr>
            <a:spLocks noGrp="1"/>
          </p:cNvSpPr>
          <p:nvPr>
            <p:ph type="title"/>
          </p:nvPr>
        </p:nvSpPr>
        <p:spPr/>
        <p:txBody>
          <a:bodyPr/>
          <a:lstStyle/>
          <a:p>
            <a:r>
              <a:rPr lang="en-US" dirty="0"/>
              <a:t>Heap – Array Implementation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dirty="0"/>
                  <a:t>The root is the first element of the array (index 1).</a:t>
                </a:r>
              </a:p>
              <a:p>
                <a:pPr lvl="1"/>
                <a:r>
                  <a:rPr lang="en-US" sz="2400" dirty="0"/>
                  <a:t>For a node at location </a:t>
                </a:r>
                <a14:m>
                  <m:oMath xmlns:m="http://schemas.openxmlformats.org/officeDocument/2006/math">
                    <m:r>
                      <a:rPr lang="en-US" sz="2400" i="1" dirty="0" smtClean="0">
                        <a:latin typeface="Cambria Math" panose="02040503050406030204" pitchFamily="18" charset="0"/>
                      </a:rPr>
                      <m:t>𝑖</m:t>
                    </m:r>
                  </m:oMath>
                </a14:m>
                <a:r>
                  <a:rPr lang="en-US" sz="2400" i="1" dirty="0"/>
                  <a:t>, </a:t>
                </a:r>
                <a:r>
                  <a:rPr lang="en-US" sz="2400" dirty="0"/>
                  <a:t>its left child will be stored at location </a:t>
                </a:r>
                <a14:m>
                  <m:oMath xmlns:m="http://schemas.openxmlformats.org/officeDocument/2006/math">
                    <m:r>
                      <a:rPr lang="en-US" sz="2400" i="1" dirty="0" smtClean="0">
                        <a:latin typeface="Cambria Math" panose="02040503050406030204" pitchFamily="18" charset="0"/>
                      </a:rPr>
                      <m:t>2</m:t>
                    </m:r>
                    <m:r>
                      <a:rPr lang="en-US" sz="2400" i="1" dirty="0" smtClean="0">
                        <a:latin typeface="Cambria Math" panose="02040503050406030204" pitchFamily="18" charset="0"/>
                      </a:rPr>
                      <m:t>𝑖</m:t>
                    </m:r>
                  </m:oMath>
                </a14:m>
                <a:r>
                  <a:rPr lang="en-US" sz="2400" i="1" dirty="0"/>
                  <a:t>,</a:t>
                </a:r>
                <a:r>
                  <a:rPr lang="en-US" sz="2400" dirty="0"/>
                  <a:t> and its right child will be stored at location </a:t>
                </a:r>
                <a14:m>
                  <m:oMath xmlns:m="http://schemas.openxmlformats.org/officeDocument/2006/math">
                    <m:r>
                      <a:rPr lang="en-US" sz="2400" i="1" dirty="0" smtClean="0">
                        <a:latin typeface="Cambria Math" panose="02040503050406030204" pitchFamily="18" charset="0"/>
                      </a:rPr>
                      <m:t>2</m:t>
                    </m:r>
                    <m:r>
                      <a:rPr lang="en-US" sz="2400" i="1" dirty="0" smtClean="0">
                        <a:latin typeface="Cambria Math" panose="02040503050406030204" pitchFamily="18" charset="0"/>
                      </a:rPr>
                      <m:t>𝑖</m:t>
                    </m:r>
                    <m:r>
                      <a:rPr lang="en-US" sz="2400" i="1" dirty="0" smtClean="0">
                        <a:latin typeface="Cambria Math" panose="02040503050406030204" pitchFamily="18" charset="0"/>
                      </a:rPr>
                      <m:t> + 1</m:t>
                    </m:r>
                  </m:oMath>
                </a14:m>
                <a:r>
                  <a:rPr lang="en-US" sz="2400" i="1" dirty="0"/>
                  <a:t>.</a:t>
                </a:r>
                <a:r>
                  <a:rPr lang="en-US" sz="2400" dirty="0"/>
                  <a:t> </a:t>
                </a:r>
              </a:p>
              <a:p>
                <a:pPr lvl="1"/>
                <a:r>
                  <a:rPr lang="en-US" sz="2400" b="1" dirty="0"/>
                  <a:t>Question: </a:t>
                </a:r>
                <a:r>
                  <a:rPr lang="en-US" sz="2400" dirty="0"/>
                  <a:t>Where can we find the parent of the node at the location </a:t>
                </a:r>
                <a14:m>
                  <m:oMath xmlns:m="http://schemas.openxmlformats.org/officeDocument/2006/math">
                    <m:r>
                      <a:rPr lang="en-US" sz="2400" i="1" dirty="0" smtClean="0">
                        <a:latin typeface="Cambria Math" panose="02040503050406030204" pitchFamily="18" charset="0"/>
                      </a:rPr>
                      <m:t>𝑖</m:t>
                    </m:r>
                  </m:oMath>
                </a14:m>
                <a:r>
                  <a:rPr lang="en-US" sz="2400" i="1" dirty="0"/>
                  <a:t>?</a:t>
                </a:r>
              </a:p>
              <a:p>
                <a:pPr lvl="1"/>
                <a:endParaRPr lang="en-US" sz="2400" i="1" dirty="0"/>
              </a:p>
              <a:p>
                <a:pPr lvl="1"/>
                <a:endParaRPr lang="en-US" sz="2400" i="1" dirty="0"/>
              </a:p>
              <a:p>
                <a:pPr lvl="1"/>
                <a:endParaRPr lang="en-US" sz="2400" i="1" dirty="0"/>
              </a:p>
              <a:p>
                <a:pPr marL="201168" lvl="1" indent="0">
                  <a:buNone/>
                </a:pPr>
                <a:r>
                  <a:rPr lang="en-US" sz="2400" i="1" dirty="0"/>
                  <a:t>Note: </a:t>
                </a:r>
                <a:r>
                  <a:rPr lang="en-US" sz="2400" dirty="0"/>
                  <a:t>we only show the keys (but the data is also stored)</a:t>
                </a: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t="-2201" r="-883"/>
                </a:stretch>
              </a:blipFill>
            </p:spPr>
            <p:txBody>
              <a:bodyPr/>
              <a:lstStyle/>
              <a:p>
                <a:r>
                  <a:rPr lang="en-US">
                    <a:noFill/>
                  </a:rPr>
                  <a:t> </a:t>
                </a:r>
              </a:p>
            </p:txBody>
          </p:sp>
        </mc:Fallback>
      </mc:AlternateContent>
    </p:spTree>
    <p:extLst>
      <p:ext uri="{BB962C8B-B14F-4D97-AF65-F5344CB8AC3E}">
        <p14:creationId xmlns:p14="http://schemas.microsoft.com/office/powerpoint/2010/main" val="279573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 heap implementation</a:t>
            </a:r>
          </a:p>
        </p:txBody>
      </p:sp>
      <p:sp>
        <p:nvSpPr>
          <p:cNvPr id="3" name="Content Placeholder 2"/>
          <p:cNvSpPr>
            <a:spLocks noGrp="1"/>
          </p:cNvSpPr>
          <p:nvPr>
            <p:ph idx="1"/>
          </p:nvPr>
        </p:nvSpPr>
        <p:spPr>
          <a:xfrm>
            <a:off x="1097280" y="1867334"/>
            <a:ext cx="10058400" cy="4023360"/>
          </a:xfrm>
        </p:spPr>
        <p:txBody>
          <a:bodyPr/>
          <a:lstStyle/>
          <a:p>
            <a:pPr lvl="1"/>
            <a:r>
              <a:rPr lang="en-US" dirty="0"/>
              <a:t>An </a:t>
            </a:r>
            <a:r>
              <a:rPr lang="en-US" b="1" dirty="0"/>
              <a:t>almost complete binary tree + an array</a:t>
            </a:r>
          </a:p>
          <a:p>
            <a:pPr marL="201168" lvl="1" indent="0">
              <a:buNone/>
            </a:pPr>
            <a:endParaRPr lang="en-US" sz="1400" dirty="0"/>
          </a:p>
          <a:p>
            <a:pPr marL="201168" lvl="1" indent="0">
              <a:buNone/>
            </a:pPr>
            <a:endParaRPr lang="en-US" dirty="0"/>
          </a:p>
        </p:txBody>
      </p:sp>
      <p:pic>
        <p:nvPicPr>
          <p:cNvPr id="4" name="Picture 3" descr="A diagram of a number and a diagram of a number&#10;&#10;Description automatically generated with medium confidence">
            <a:extLst>
              <a:ext uri="{FF2B5EF4-FFF2-40B4-BE49-F238E27FC236}">
                <a16:creationId xmlns:a16="http://schemas.microsoft.com/office/drawing/2014/main" id="{E49BE131-49AD-7852-E937-010497129C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2454" y="2245657"/>
            <a:ext cx="7015576" cy="2193117"/>
          </a:xfrm>
          <a:prstGeom prst="rect">
            <a:avLst/>
          </a:prstGeom>
        </p:spPr>
      </p:pic>
      <p:pic>
        <p:nvPicPr>
          <p:cNvPr id="6" name="Picture 5" descr="A close-up of a white paper&#10;&#10;Description automatically generated">
            <a:extLst>
              <a:ext uri="{FF2B5EF4-FFF2-40B4-BE49-F238E27FC236}">
                <a16:creationId xmlns:a16="http://schemas.microsoft.com/office/drawing/2014/main" id="{05B55A12-A22F-07D4-F902-A10DC5C6CD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23430" y="4605888"/>
            <a:ext cx="1216824" cy="1604192"/>
          </a:xfrm>
          <a:prstGeom prst="rect">
            <a:avLst/>
          </a:prstGeom>
        </p:spPr>
      </p:pic>
    </p:spTree>
    <p:extLst>
      <p:ext uri="{BB962C8B-B14F-4D97-AF65-F5344CB8AC3E}">
        <p14:creationId xmlns:p14="http://schemas.microsoft.com/office/powerpoint/2010/main" val="151322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Percolate up and down</a:t>
            </a:r>
          </a:p>
        </p:txBody>
      </p:sp>
      <p:sp>
        <p:nvSpPr>
          <p:cNvPr id="3" name="Content Placeholder 2"/>
          <p:cNvSpPr>
            <a:spLocks noGrp="1"/>
          </p:cNvSpPr>
          <p:nvPr>
            <p:ph idx="1"/>
          </p:nvPr>
        </p:nvSpPr>
        <p:spPr>
          <a:xfrm>
            <a:off x="1097280" y="1845734"/>
            <a:ext cx="10058400" cy="4545234"/>
          </a:xfrm>
        </p:spPr>
        <p:txBody>
          <a:bodyPr>
            <a:normAutofit lnSpcReduction="10000"/>
          </a:bodyPr>
          <a:lstStyle/>
          <a:p>
            <a:pPr lvl="1"/>
            <a:r>
              <a:rPr lang="en-US" sz="2400" dirty="0"/>
              <a:t>Two important operations on a heap are:</a:t>
            </a:r>
            <a:endParaRPr lang="en-US" sz="1600" dirty="0"/>
          </a:p>
          <a:p>
            <a:pPr lvl="2"/>
            <a:r>
              <a:rPr lang="en-US" sz="2400" b="1" dirty="0"/>
              <a:t>Percolate up </a:t>
            </a:r>
            <a:r>
              <a:rPr lang="en-US" sz="2400" dirty="0"/>
              <a:t>– Move a node up the tree, as long as needed, until it reaches a valid location (where the node satisfies the max—heap property)</a:t>
            </a:r>
          </a:p>
          <a:p>
            <a:pPr lvl="2"/>
            <a:r>
              <a:rPr lang="en-US" sz="2400" b="1" dirty="0"/>
              <a:t>Percolate down </a:t>
            </a:r>
            <a:r>
              <a:rPr lang="en-US" sz="2400" dirty="0"/>
              <a:t>– Move a node down the tree, as long as needed, until it reaches a valid location.</a:t>
            </a:r>
          </a:p>
          <a:p>
            <a:pPr lvl="2"/>
            <a:endParaRPr lang="en-US" sz="1800" dirty="0"/>
          </a:p>
          <a:p>
            <a:pPr lvl="2"/>
            <a:endParaRPr lang="en-US" sz="1800" dirty="0"/>
          </a:p>
          <a:p>
            <a:pPr lvl="2"/>
            <a:endParaRPr lang="en-US" sz="1800" dirty="0"/>
          </a:p>
          <a:p>
            <a:pPr lvl="2"/>
            <a:endParaRPr lang="en-US" sz="1800" dirty="0"/>
          </a:p>
          <a:p>
            <a:pPr lvl="2"/>
            <a:endParaRPr lang="en-US" sz="1800" dirty="0"/>
          </a:p>
          <a:p>
            <a:pPr lvl="2"/>
            <a:endParaRPr lang="en-US" sz="1800" dirty="0"/>
          </a:p>
          <a:p>
            <a:pPr marL="384048" lvl="2" indent="0">
              <a:buNone/>
            </a:pPr>
            <a:endParaRPr lang="en-US" sz="1800" dirty="0"/>
          </a:p>
          <a:p>
            <a:pPr marL="384048" lvl="2" indent="0">
              <a:buNone/>
            </a:pPr>
            <a:r>
              <a:rPr lang="en-US" sz="2400" b="1" dirty="0"/>
              <a:t>Both methods visit at most one node in each level of the tree.</a:t>
            </a:r>
            <a:endParaRPr lang="en-US" sz="24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4" name="TextBox 3"/>
          <p:cNvSpPr txBox="1"/>
          <p:nvPr/>
        </p:nvSpPr>
        <p:spPr>
          <a:xfrm>
            <a:off x="744407" y="3698005"/>
            <a:ext cx="4962089" cy="1754326"/>
          </a:xfrm>
          <a:prstGeom prst="rect">
            <a:avLst/>
          </a:prstGeom>
          <a:noFill/>
          <a:ln>
            <a:solidFill>
              <a:schemeClr val="tx1"/>
            </a:solidFill>
          </a:ln>
        </p:spPr>
        <p:txBody>
          <a:bodyPr wrap="square" rtlCol="1">
            <a:spAutoFit/>
          </a:bodyPr>
          <a:lstStyle/>
          <a:p>
            <a:r>
              <a:rPr lang="en-US" dirty="0" err="1"/>
              <a:t>PercolateDown</a:t>
            </a:r>
            <a:r>
              <a:rPr lang="en-US" dirty="0"/>
              <a:t>(</a:t>
            </a:r>
            <a:r>
              <a:rPr lang="en-US" dirty="0" err="1"/>
              <a:t>i</a:t>
            </a:r>
            <a:r>
              <a:rPr lang="en-US" dirty="0"/>
              <a:t>): </a:t>
            </a:r>
            <a:r>
              <a:rPr lang="en-US" b="1" dirty="0"/>
              <a:t>[for a max-heap]</a:t>
            </a:r>
          </a:p>
          <a:p>
            <a:r>
              <a:rPr lang="en-US" dirty="0"/>
              <a:t>	while(A[</a:t>
            </a:r>
            <a:r>
              <a:rPr lang="en-US" dirty="0" err="1"/>
              <a:t>i</a:t>
            </a:r>
            <a:r>
              <a:rPr lang="en-US" dirty="0"/>
              <a:t>] is smaller than one of its children)</a:t>
            </a:r>
          </a:p>
          <a:p>
            <a:r>
              <a:rPr lang="en-US" dirty="0"/>
              <a:t>		j </a:t>
            </a:r>
            <a:r>
              <a:rPr lang="en-US" dirty="0">
                <a:sym typeface="Symbol" panose="05050102010706020507" pitchFamily="18" charset="2"/>
              </a:rPr>
              <a:t></a:t>
            </a:r>
            <a:r>
              <a:rPr lang="en-US" dirty="0"/>
              <a:t> index of maximal child</a:t>
            </a:r>
          </a:p>
          <a:p>
            <a:r>
              <a:rPr lang="en-US" dirty="0"/>
              <a:t>		switch A[</a:t>
            </a:r>
            <a:r>
              <a:rPr lang="en-US" dirty="0" err="1"/>
              <a:t>i</a:t>
            </a:r>
            <a:r>
              <a:rPr lang="en-US" dirty="0"/>
              <a:t>] and A[j]</a:t>
            </a:r>
          </a:p>
          <a:p>
            <a:r>
              <a:rPr lang="en-US" dirty="0"/>
              <a:t>		</a:t>
            </a:r>
            <a:r>
              <a:rPr lang="en-US" dirty="0" err="1"/>
              <a:t>i</a:t>
            </a:r>
            <a:r>
              <a:rPr lang="en-US" dirty="0"/>
              <a:t> </a:t>
            </a:r>
            <a:r>
              <a:rPr lang="en-US" dirty="0">
                <a:sym typeface="Symbol" panose="05050102010706020507" pitchFamily="18" charset="2"/>
              </a:rPr>
              <a:t></a:t>
            </a:r>
            <a:r>
              <a:rPr lang="en-US" dirty="0"/>
              <a:t> j </a:t>
            </a:r>
          </a:p>
          <a:p>
            <a:endParaRPr lang="he-IL" dirty="0"/>
          </a:p>
        </p:txBody>
      </p:sp>
      <p:sp>
        <p:nvSpPr>
          <p:cNvPr id="6" name="TextBox 5"/>
          <p:cNvSpPr txBox="1"/>
          <p:nvPr/>
        </p:nvSpPr>
        <p:spPr>
          <a:xfrm>
            <a:off x="6432235" y="3702200"/>
            <a:ext cx="5057164" cy="1754326"/>
          </a:xfrm>
          <a:prstGeom prst="rect">
            <a:avLst/>
          </a:prstGeom>
          <a:noFill/>
          <a:ln>
            <a:solidFill>
              <a:schemeClr val="tx1"/>
            </a:solidFill>
          </a:ln>
        </p:spPr>
        <p:txBody>
          <a:bodyPr wrap="square" rtlCol="1">
            <a:spAutoFit/>
          </a:bodyPr>
          <a:lstStyle/>
          <a:p>
            <a:r>
              <a:rPr lang="en-US" dirty="0" err="1"/>
              <a:t>PercolateUp</a:t>
            </a:r>
            <a:r>
              <a:rPr lang="en-US" dirty="0"/>
              <a:t>(</a:t>
            </a:r>
            <a:r>
              <a:rPr lang="en-US" dirty="0" err="1"/>
              <a:t>i</a:t>
            </a:r>
            <a:r>
              <a:rPr lang="en-US" dirty="0"/>
              <a:t>): </a:t>
            </a:r>
            <a:r>
              <a:rPr lang="en-US" b="1" dirty="0"/>
              <a:t>[for a max-heap]</a:t>
            </a:r>
          </a:p>
          <a:p>
            <a:r>
              <a:rPr lang="en-US" dirty="0"/>
              <a:t>	while(A[</a:t>
            </a:r>
            <a:r>
              <a:rPr lang="en-US" dirty="0" err="1"/>
              <a:t>i</a:t>
            </a:r>
            <a:r>
              <a:rPr lang="en-US" dirty="0"/>
              <a:t>] is bigger than its parent)</a:t>
            </a:r>
          </a:p>
          <a:p>
            <a:r>
              <a:rPr lang="en-US" dirty="0"/>
              <a:t>		j </a:t>
            </a:r>
            <a:r>
              <a:rPr lang="en-US" dirty="0">
                <a:sym typeface="Symbol" panose="05050102010706020507" pitchFamily="18" charset="2"/>
              </a:rPr>
              <a:t></a:t>
            </a:r>
            <a:r>
              <a:rPr lang="en-US" dirty="0"/>
              <a:t> index of parent</a:t>
            </a:r>
          </a:p>
          <a:p>
            <a:r>
              <a:rPr lang="en-US" dirty="0"/>
              <a:t>		switch A[</a:t>
            </a:r>
            <a:r>
              <a:rPr lang="en-US" dirty="0" err="1"/>
              <a:t>i</a:t>
            </a:r>
            <a:r>
              <a:rPr lang="en-US" dirty="0"/>
              <a:t>] and A[j]</a:t>
            </a:r>
          </a:p>
          <a:p>
            <a:r>
              <a:rPr lang="en-US" dirty="0"/>
              <a:t>		</a:t>
            </a:r>
            <a:r>
              <a:rPr lang="en-US" dirty="0" err="1"/>
              <a:t>i</a:t>
            </a:r>
            <a:r>
              <a:rPr lang="en-US" dirty="0"/>
              <a:t> </a:t>
            </a:r>
            <a:r>
              <a:rPr lang="en-US" dirty="0">
                <a:sym typeface="Symbol" panose="05050102010706020507" pitchFamily="18" charset="2"/>
              </a:rPr>
              <a:t></a:t>
            </a:r>
            <a:r>
              <a:rPr lang="en-US" dirty="0"/>
              <a:t> j </a:t>
            </a:r>
          </a:p>
          <a:p>
            <a:endParaRPr lang="he-IL" dirty="0"/>
          </a:p>
        </p:txBody>
      </p:sp>
    </p:spTree>
    <p:extLst>
      <p:ext uri="{BB962C8B-B14F-4D97-AF65-F5344CB8AC3E}">
        <p14:creationId xmlns:p14="http://schemas.microsoft.com/office/powerpoint/2010/main" val="7620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Percolate down</a:t>
            </a:r>
          </a:p>
        </p:txBody>
      </p:sp>
      <p:pic>
        <p:nvPicPr>
          <p:cNvPr id="7" name="Picture 6"/>
          <p:cNvPicPr>
            <a:picLocks noChangeAspect="1"/>
          </p:cNvPicPr>
          <p:nvPr/>
        </p:nvPicPr>
        <p:blipFill>
          <a:blip r:embed="rId3"/>
          <a:stretch>
            <a:fillRect/>
          </a:stretch>
        </p:blipFill>
        <p:spPr>
          <a:xfrm>
            <a:off x="979611" y="2768235"/>
            <a:ext cx="5163094" cy="3065776"/>
          </a:xfrm>
          <a:prstGeom prst="rect">
            <a:avLst/>
          </a:prstGeom>
        </p:spPr>
      </p:pic>
      <p:sp>
        <p:nvSpPr>
          <p:cNvPr id="3" name="TextBox 2"/>
          <p:cNvSpPr txBox="1"/>
          <p:nvPr/>
        </p:nvSpPr>
        <p:spPr>
          <a:xfrm>
            <a:off x="1095478" y="2050846"/>
            <a:ext cx="7071936" cy="461665"/>
          </a:xfrm>
          <a:prstGeom prst="rect">
            <a:avLst/>
          </a:prstGeom>
          <a:noFill/>
        </p:spPr>
        <p:txBody>
          <a:bodyPr wrap="none" rtlCol="0">
            <a:spAutoFit/>
          </a:bodyPr>
          <a:lstStyle/>
          <a:p>
            <a:r>
              <a:rPr lang="en-US" sz="2400" dirty="0"/>
              <a:t>How will the tree look after percolating down the root?</a:t>
            </a:r>
          </a:p>
        </p:txBody>
      </p:sp>
      <p:sp>
        <p:nvSpPr>
          <p:cNvPr id="5" name="TextBox 4">
            <a:extLst>
              <a:ext uri="{FF2B5EF4-FFF2-40B4-BE49-F238E27FC236}">
                <a16:creationId xmlns:a16="http://schemas.microsoft.com/office/drawing/2014/main" id="{B2910BE4-FFF6-467D-98EC-9A60C3CCB8EF}"/>
              </a:ext>
            </a:extLst>
          </p:cNvPr>
          <p:cNvSpPr txBox="1"/>
          <p:nvPr/>
        </p:nvSpPr>
        <p:spPr>
          <a:xfrm>
            <a:off x="6489292" y="3275218"/>
            <a:ext cx="5034116" cy="1754326"/>
          </a:xfrm>
          <a:prstGeom prst="rect">
            <a:avLst/>
          </a:prstGeom>
          <a:noFill/>
          <a:ln>
            <a:solidFill>
              <a:schemeClr val="tx1"/>
            </a:solidFill>
          </a:ln>
        </p:spPr>
        <p:txBody>
          <a:bodyPr wrap="square" rtlCol="1">
            <a:spAutoFit/>
          </a:bodyPr>
          <a:lstStyle/>
          <a:p>
            <a:r>
              <a:rPr lang="en-US" dirty="0" err="1"/>
              <a:t>PercolateDown</a:t>
            </a:r>
            <a:r>
              <a:rPr lang="en-US" dirty="0"/>
              <a:t>(</a:t>
            </a:r>
            <a:r>
              <a:rPr lang="en-US" dirty="0" err="1"/>
              <a:t>i</a:t>
            </a:r>
            <a:r>
              <a:rPr lang="en-US" dirty="0"/>
              <a:t>):</a:t>
            </a:r>
          </a:p>
          <a:p>
            <a:r>
              <a:rPr lang="en-US" dirty="0"/>
              <a:t>	while(A[</a:t>
            </a:r>
            <a:r>
              <a:rPr lang="en-US" dirty="0" err="1"/>
              <a:t>i</a:t>
            </a:r>
            <a:r>
              <a:rPr lang="en-US" dirty="0"/>
              <a:t>] is smaller than one of its children)</a:t>
            </a:r>
          </a:p>
          <a:p>
            <a:r>
              <a:rPr lang="en-US" dirty="0"/>
              <a:t>		j </a:t>
            </a:r>
            <a:r>
              <a:rPr lang="en-US" dirty="0">
                <a:sym typeface="Symbol" panose="05050102010706020507" pitchFamily="18" charset="2"/>
              </a:rPr>
              <a:t></a:t>
            </a:r>
            <a:r>
              <a:rPr lang="en-US" dirty="0"/>
              <a:t> index of maximal child</a:t>
            </a:r>
          </a:p>
          <a:p>
            <a:r>
              <a:rPr lang="en-US" dirty="0"/>
              <a:t>		switch A[</a:t>
            </a:r>
            <a:r>
              <a:rPr lang="en-US" dirty="0" err="1"/>
              <a:t>i</a:t>
            </a:r>
            <a:r>
              <a:rPr lang="en-US" dirty="0"/>
              <a:t>] and A[j]</a:t>
            </a:r>
          </a:p>
          <a:p>
            <a:r>
              <a:rPr lang="en-US" dirty="0"/>
              <a:t>		</a:t>
            </a:r>
            <a:r>
              <a:rPr lang="en-US" dirty="0" err="1"/>
              <a:t>i</a:t>
            </a:r>
            <a:r>
              <a:rPr lang="en-US" dirty="0"/>
              <a:t> </a:t>
            </a:r>
            <a:r>
              <a:rPr lang="en-US" dirty="0">
                <a:sym typeface="Symbol" panose="05050102010706020507" pitchFamily="18" charset="2"/>
              </a:rPr>
              <a:t></a:t>
            </a:r>
            <a:r>
              <a:rPr lang="en-US" dirty="0"/>
              <a:t> j </a:t>
            </a:r>
          </a:p>
          <a:p>
            <a:endParaRPr lang="he-IL" dirty="0"/>
          </a:p>
        </p:txBody>
      </p:sp>
    </p:spTree>
    <p:extLst>
      <p:ext uri="{BB962C8B-B14F-4D97-AF65-F5344CB8AC3E}">
        <p14:creationId xmlns:p14="http://schemas.microsoft.com/office/powerpoint/2010/main" val="2794035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operations (max heap)</a:t>
            </a:r>
          </a:p>
        </p:txBody>
      </p:sp>
      <p:sp>
        <p:nvSpPr>
          <p:cNvPr id="3" name="Content Placeholder 2"/>
          <p:cNvSpPr>
            <a:spLocks noGrp="1"/>
          </p:cNvSpPr>
          <p:nvPr>
            <p:ph idx="1"/>
          </p:nvPr>
        </p:nvSpPr>
        <p:spPr/>
        <p:txBody>
          <a:bodyPr>
            <a:normAutofit lnSpcReduction="10000"/>
          </a:bodyPr>
          <a:lstStyle/>
          <a:p>
            <a:pPr lvl="1"/>
            <a:r>
              <a:rPr lang="en-US" sz="2400" b="1" dirty="0"/>
              <a:t>find-max():</a:t>
            </a:r>
          </a:p>
          <a:p>
            <a:pPr lvl="2"/>
            <a:r>
              <a:rPr lang="en-US" sz="2400" dirty="0"/>
              <a:t>Return the value of the root.</a:t>
            </a:r>
          </a:p>
          <a:p>
            <a:pPr lvl="2"/>
            <a:r>
              <a:rPr lang="en-US" sz="2400" dirty="0"/>
              <a:t>Runs in time O(1).</a:t>
            </a:r>
          </a:p>
          <a:p>
            <a:pPr lvl="1"/>
            <a:r>
              <a:rPr lang="en-US" sz="2400" b="1" dirty="0"/>
              <a:t>delete-max():</a:t>
            </a:r>
          </a:p>
          <a:p>
            <a:pPr lvl="2"/>
            <a:r>
              <a:rPr lang="en-US" sz="2400" dirty="0"/>
              <a:t>Delete the element with the maximum key and return it.</a:t>
            </a:r>
          </a:p>
          <a:p>
            <a:pPr lvl="3"/>
            <a:r>
              <a:rPr lang="en-US" sz="2400" dirty="0"/>
              <a:t>Put the last element in place of the root.</a:t>
            </a:r>
          </a:p>
          <a:p>
            <a:pPr lvl="3"/>
            <a:r>
              <a:rPr lang="en-US" sz="2400" dirty="0"/>
              <a:t>Percolate down the root.</a:t>
            </a:r>
          </a:p>
          <a:p>
            <a:pPr lvl="1"/>
            <a:r>
              <a:rPr lang="en-US" sz="2400" b="1" dirty="0"/>
              <a:t>insert(x, k):</a:t>
            </a:r>
          </a:p>
          <a:p>
            <a:pPr lvl="2"/>
            <a:r>
              <a:rPr lang="en-US" sz="2400" dirty="0"/>
              <a:t>Insert element x with key k as the last element.</a:t>
            </a:r>
          </a:p>
          <a:p>
            <a:pPr lvl="3"/>
            <a:r>
              <a:rPr lang="en-US" sz="2400" dirty="0"/>
              <a:t>Percolate up the last element.</a:t>
            </a:r>
          </a:p>
          <a:p>
            <a:pPr lvl="3"/>
            <a:endParaRPr lang="en-US" sz="24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spTree>
    <p:extLst>
      <p:ext uri="{BB962C8B-B14F-4D97-AF65-F5344CB8AC3E}">
        <p14:creationId xmlns:p14="http://schemas.microsoft.com/office/powerpoint/2010/main" val="30305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an Element - Example</a:t>
            </a:r>
          </a:p>
        </p:txBody>
      </p:sp>
      <p:sp>
        <p:nvSpPr>
          <p:cNvPr id="3" name="Content Placeholder 2"/>
          <p:cNvSpPr>
            <a:spLocks noGrp="1"/>
          </p:cNvSpPr>
          <p:nvPr>
            <p:ph idx="1"/>
          </p:nvPr>
        </p:nvSpPr>
        <p:spPr/>
        <p:txBody>
          <a:bodyPr/>
          <a:lstStyle/>
          <a:p>
            <a:pPr lvl="1"/>
            <a:r>
              <a:rPr lang="en-US" dirty="0"/>
              <a:t>What will the heap look like after adding 43?</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0316CAF6-39AF-46C2-B051-EF94D9FF776A}"/>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6" name="Oval 5">
            <a:extLst>
              <a:ext uri="{FF2B5EF4-FFF2-40B4-BE49-F238E27FC236}">
                <a16:creationId xmlns:a16="http://schemas.microsoft.com/office/drawing/2014/main" id="{B93AA428-EC6D-474A-8028-33584369AF11}"/>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14D61E7-EC50-499D-A92A-10BC808C6D33}"/>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842B362D-4F2F-4B1F-B110-EFC3236A4467}"/>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23128215-B42C-4F7E-B195-580C42C1B413}"/>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F4A9AC22-F1C8-47EB-B3EA-2014FC84F3B0}"/>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309397AE-EB8A-4897-AB0A-0138319AFBD1}"/>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07D3552B-C878-4960-B26E-AA771A0259BD}"/>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C39F347-8D51-463A-8CA1-CC3EE0B715C5}"/>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B990647-F6D5-4F0A-B40D-6827F695A5CC}"/>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D2255D8-8F4B-4881-A4CF-27AFCCE33857}"/>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F9CA6F0-C871-4A77-82F5-5C222BC8C577}"/>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0BB18AD-1583-428F-A88F-C297D37E4CEE}"/>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C0067C2-7AFE-41E9-BC6C-A5BFFEEC0039}"/>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35" name="Straight Arrow Connector 34">
            <a:extLst>
              <a:ext uri="{FF2B5EF4-FFF2-40B4-BE49-F238E27FC236}">
                <a16:creationId xmlns:a16="http://schemas.microsoft.com/office/drawing/2014/main" id="{111DFF3D-EBE7-40A2-8E35-8B16F2DF2529}"/>
              </a:ext>
            </a:extLst>
          </p:cNvPr>
          <p:cNvCxnSpPr>
            <a:cxnSpLocks/>
            <a:stCxn id="11" idx="3"/>
            <a:endCxn id="34"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5B641C32-3F4A-41B2-BF03-967C8A090675}"/>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40" name="Oval 39">
            <a:extLst>
              <a:ext uri="{FF2B5EF4-FFF2-40B4-BE49-F238E27FC236}">
                <a16:creationId xmlns:a16="http://schemas.microsoft.com/office/drawing/2014/main" id="{D145D7E7-4CD3-4ECC-BB12-F760E406BA92}"/>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48" name="Straight Arrow Connector 47">
            <a:extLst>
              <a:ext uri="{FF2B5EF4-FFF2-40B4-BE49-F238E27FC236}">
                <a16:creationId xmlns:a16="http://schemas.microsoft.com/office/drawing/2014/main" id="{BF3A035C-B443-4656-936C-9D9676CE98E2}"/>
              </a:ext>
            </a:extLst>
          </p:cNvPr>
          <p:cNvCxnSpPr>
            <a:stCxn id="11" idx="5"/>
            <a:endCxn id="39"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E3C1374-96A7-469C-A686-D7EF095D0840}"/>
              </a:ext>
            </a:extLst>
          </p:cNvPr>
          <p:cNvCxnSpPr>
            <a:cxnSpLocks/>
            <a:stCxn id="12" idx="3"/>
            <a:endCxn id="40"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Plus Sign 61">
            <a:extLst>
              <a:ext uri="{FF2B5EF4-FFF2-40B4-BE49-F238E27FC236}">
                <a16:creationId xmlns:a16="http://schemas.microsoft.com/office/drawing/2014/main" id="{633B579E-6F0F-4BF0-BBC4-C37640BDCBDA}"/>
              </a:ext>
            </a:extLst>
          </p:cNvPr>
          <p:cNvSpPr/>
          <p:nvPr/>
        </p:nvSpPr>
        <p:spPr>
          <a:xfrm>
            <a:off x="10617225" y="4830592"/>
            <a:ext cx="1277448" cy="1277448"/>
          </a:xfrm>
          <a:prstGeom prst="mathPlus">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12628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an Element - Example</a:t>
            </a:r>
          </a:p>
        </p:txBody>
      </p:sp>
      <p:sp>
        <p:nvSpPr>
          <p:cNvPr id="3" name="Content Placeholder 2"/>
          <p:cNvSpPr>
            <a:spLocks noGrp="1"/>
          </p:cNvSpPr>
          <p:nvPr>
            <p:ph idx="1"/>
          </p:nvPr>
        </p:nvSpPr>
        <p:spPr/>
        <p:txBody>
          <a:bodyPr/>
          <a:lstStyle/>
          <a:p>
            <a:pPr lvl="1"/>
            <a:r>
              <a:rPr lang="en-US" dirty="0"/>
              <a:t>What will the heap look like after adding 43?</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8" name="Oval 7">
            <a:extLst>
              <a:ext uri="{FF2B5EF4-FFF2-40B4-BE49-F238E27FC236}">
                <a16:creationId xmlns:a16="http://schemas.microsoft.com/office/drawing/2014/main" id="{C0927AD2-8427-4879-A138-A00564D99835}"/>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9" name="Oval 8">
            <a:extLst>
              <a:ext uri="{FF2B5EF4-FFF2-40B4-BE49-F238E27FC236}">
                <a16:creationId xmlns:a16="http://schemas.microsoft.com/office/drawing/2014/main" id="{CAB48117-7660-47B8-AB1B-F922BE25D4FC}"/>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10" name="Oval 9">
            <a:extLst>
              <a:ext uri="{FF2B5EF4-FFF2-40B4-BE49-F238E27FC236}">
                <a16:creationId xmlns:a16="http://schemas.microsoft.com/office/drawing/2014/main" id="{315956DE-4B2C-435D-8788-E9B70B42AA5B}"/>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11" name="Oval 10">
            <a:extLst>
              <a:ext uri="{FF2B5EF4-FFF2-40B4-BE49-F238E27FC236}">
                <a16:creationId xmlns:a16="http://schemas.microsoft.com/office/drawing/2014/main" id="{9C43D09F-EFBA-411E-8142-AB9AF43344B6}"/>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2" name="Oval 11">
            <a:extLst>
              <a:ext uri="{FF2B5EF4-FFF2-40B4-BE49-F238E27FC236}">
                <a16:creationId xmlns:a16="http://schemas.microsoft.com/office/drawing/2014/main" id="{8C450B73-B998-45B8-995C-48C94354C079}"/>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3" name="Oval 12">
            <a:extLst>
              <a:ext uri="{FF2B5EF4-FFF2-40B4-BE49-F238E27FC236}">
                <a16:creationId xmlns:a16="http://schemas.microsoft.com/office/drawing/2014/main" id="{25EF9725-69F6-43D6-872A-08673B43BC7C}"/>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4" name="Oval 13">
            <a:extLst>
              <a:ext uri="{FF2B5EF4-FFF2-40B4-BE49-F238E27FC236}">
                <a16:creationId xmlns:a16="http://schemas.microsoft.com/office/drawing/2014/main" id="{8FB129F4-C7D8-4FFD-BD12-31763518AC1B}"/>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5" name="Straight Arrow Connector 14">
            <a:extLst>
              <a:ext uri="{FF2B5EF4-FFF2-40B4-BE49-F238E27FC236}">
                <a16:creationId xmlns:a16="http://schemas.microsoft.com/office/drawing/2014/main" id="{0745BC58-9F97-42EA-BBC9-7DC3854C56B2}"/>
              </a:ext>
            </a:extLst>
          </p:cNvPr>
          <p:cNvCxnSpPr>
            <a:cxnSpLocks/>
            <a:stCxn id="8" idx="5"/>
            <a:endCxn id="10"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6C07F14-E7FF-40CA-B4EC-9005DDFD2D48}"/>
              </a:ext>
            </a:extLst>
          </p:cNvPr>
          <p:cNvCxnSpPr>
            <a:stCxn id="8" idx="3"/>
            <a:endCxn id="9"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0608E52-E961-4E84-8B65-E7A3871AE027}"/>
              </a:ext>
            </a:extLst>
          </p:cNvPr>
          <p:cNvCxnSpPr>
            <a:stCxn id="10" idx="5"/>
            <a:endCxn id="12"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7B5FB3-7785-4817-A0E4-835DAFD27B99}"/>
              </a:ext>
            </a:extLst>
          </p:cNvPr>
          <p:cNvCxnSpPr>
            <a:stCxn id="10" idx="3"/>
            <a:endCxn id="11"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EBF76D7-C393-4953-A64A-17161F555D21}"/>
              </a:ext>
            </a:extLst>
          </p:cNvPr>
          <p:cNvCxnSpPr>
            <a:stCxn id="9" idx="5"/>
            <a:endCxn id="14"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D60B2A-A245-4970-815D-635CE0C046CE}"/>
              </a:ext>
            </a:extLst>
          </p:cNvPr>
          <p:cNvCxnSpPr>
            <a:cxnSpLocks/>
            <a:stCxn id="9" idx="3"/>
            <a:endCxn id="13"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06B37F3-7DD5-444D-B7F5-43D18C1DB3D0}"/>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2" name="Straight Arrow Connector 21">
            <a:extLst>
              <a:ext uri="{FF2B5EF4-FFF2-40B4-BE49-F238E27FC236}">
                <a16:creationId xmlns:a16="http://schemas.microsoft.com/office/drawing/2014/main" id="{B94338E2-EAC3-44E1-A264-AE0E6464D2E5}"/>
              </a:ext>
            </a:extLst>
          </p:cNvPr>
          <p:cNvCxnSpPr>
            <a:cxnSpLocks/>
            <a:stCxn id="13" idx="3"/>
            <a:endCxn id="21"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B3011F6-4394-414D-BAB5-E6DA88ED24D5}"/>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4" name="Oval 23">
            <a:extLst>
              <a:ext uri="{FF2B5EF4-FFF2-40B4-BE49-F238E27FC236}">
                <a16:creationId xmlns:a16="http://schemas.microsoft.com/office/drawing/2014/main" id="{34A51D34-11E2-4BFF-BB50-AC4763183397}"/>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5" name="Straight Arrow Connector 24">
            <a:extLst>
              <a:ext uri="{FF2B5EF4-FFF2-40B4-BE49-F238E27FC236}">
                <a16:creationId xmlns:a16="http://schemas.microsoft.com/office/drawing/2014/main" id="{53AA4681-C58B-4D7F-B736-47BDD070DBD4}"/>
              </a:ext>
            </a:extLst>
          </p:cNvPr>
          <p:cNvCxnSpPr>
            <a:stCxn id="13" idx="5"/>
            <a:endCxn id="23"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D07541-81FA-4A9B-9DE0-250107B8D50D}"/>
              </a:ext>
            </a:extLst>
          </p:cNvPr>
          <p:cNvCxnSpPr>
            <a:cxnSpLocks/>
            <a:stCxn id="14" idx="3"/>
            <a:endCxn id="24"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F15A527-5462-498D-9C52-4A061C8138BE}"/>
              </a:ext>
            </a:extLst>
          </p:cNvPr>
          <p:cNvSpPr/>
          <p:nvPr/>
        </p:nvSpPr>
        <p:spPr>
          <a:xfrm>
            <a:off x="5513151" y="4830592"/>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43</a:t>
            </a:r>
          </a:p>
        </p:txBody>
      </p:sp>
      <p:cxnSp>
        <p:nvCxnSpPr>
          <p:cNvPr id="28" name="Straight Arrow Connector 27">
            <a:extLst>
              <a:ext uri="{FF2B5EF4-FFF2-40B4-BE49-F238E27FC236}">
                <a16:creationId xmlns:a16="http://schemas.microsoft.com/office/drawing/2014/main" id="{CC153218-E719-40FE-97C1-45925540D3BA}"/>
              </a:ext>
            </a:extLst>
          </p:cNvPr>
          <p:cNvCxnSpPr>
            <a:cxnSpLocks/>
            <a:stCxn id="14" idx="5"/>
            <a:endCxn id="27" idx="0"/>
          </p:cNvCxnSpPr>
          <p:nvPr/>
        </p:nvCxnSpPr>
        <p:spPr>
          <a:xfrm>
            <a:off x="5536457" y="4335697"/>
            <a:ext cx="161421"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Plus Sign 30">
            <a:extLst>
              <a:ext uri="{FF2B5EF4-FFF2-40B4-BE49-F238E27FC236}">
                <a16:creationId xmlns:a16="http://schemas.microsoft.com/office/drawing/2014/main" id="{BF2E0800-C3DD-42ED-8D6C-92321FAF040F}"/>
              </a:ext>
            </a:extLst>
          </p:cNvPr>
          <p:cNvSpPr/>
          <p:nvPr/>
        </p:nvSpPr>
        <p:spPr>
          <a:xfrm>
            <a:off x="10617225" y="4830592"/>
            <a:ext cx="1277448" cy="1277448"/>
          </a:xfrm>
          <a:prstGeom prst="mathPlus">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21633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an Element - Example</a:t>
            </a:r>
          </a:p>
        </p:txBody>
      </p:sp>
      <p:sp>
        <p:nvSpPr>
          <p:cNvPr id="3" name="Content Placeholder 2"/>
          <p:cNvSpPr>
            <a:spLocks noGrp="1"/>
          </p:cNvSpPr>
          <p:nvPr>
            <p:ph idx="1"/>
          </p:nvPr>
        </p:nvSpPr>
        <p:spPr/>
        <p:txBody>
          <a:bodyPr/>
          <a:lstStyle/>
          <a:p>
            <a:pPr lvl="1"/>
            <a:r>
              <a:rPr lang="en-US" dirty="0"/>
              <a:t>What will the heap look like after adding 43?</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8" name="Oval 7">
            <a:extLst>
              <a:ext uri="{FF2B5EF4-FFF2-40B4-BE49-F238E27FC236}">
                <a16:creationId xmlns:a16="http://schemas.microsoft.com/office/drawing/2014/main" id="{C0927AD2-8427-4879-A138-A00564D99835}"/>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9" name="Oval 8">
            <a:extLst>
              <a:ext uri="{FF2B5EF4-FFF2-40B4-BE49-F238E27FC236}">
                <a16:creationId xmlns:a16="http://schemas.microsoft.com/office/drawing/2014/main" id="{CAB48117-7660-47B8-AB1B-F922BE25D4FC}"/>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10" name="Oval 9">
            <a:extLst>
              <a:ext uri="{FF2B5EF4-FFF2-40B4-BE49-F238E27FC236}">
                <a16:creationId xmlns:a16="http://schemas.microsoft.com/office/drawing/2014/main" id="{315956DE-4B2C-435D-8788-E9B70B42AA5B}"/>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11" name="Oval 10">
            <a:extLst>
              <a:ext uri="{FF2B5EF4-FFF2-40B4-BE49-F238E27FC236}">
                <a16:creationId xmlns:a16="http://schemas.microsoft.com/office/drawing/2014/main" id="{9C43D09F-EFBA-411E-8142-AB9AF43344B6}"/>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2" name="Oval 11">
            <a:extLst>
              <a:ext uri="{FF2B5EF4-FFF2-40B4-BE49-F238E27FC236}">
                <a16:creationId xmlns:a16="http://schemas.microsoft.com/office/drawing/2014/main" id="{8C450B73-B998-45B8-995C-48C94354C079}"/>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3" name="Oval 12">
            <a:extLst>
              <a:ext uri="{FF2B5EF4-FFF2-40B4-BE49-F238E27FC236}">
                <a16:creationId xmlns:a16="http://schemas.microsoft.com/office/drawing/2014/main" id="{25EF9725-69F6-43D6-872A-08673B43BC7C}"/>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4" name="Oval 13">
            <a:extLst>
              <a:ext uri="{FF2B5EF4-FFF2-40B4-BE49-F238E27FC236}">
                <a16:creationId xmlns:a16="http://schemas.microsoft.com/office/drawing/2014/main" id="{8FB129F4-C7D8-4FFD-BD12-31763518AC1B}"/>
              </a:ext>
            </a:extLst>
          </p:cNvPr>
          <p:cNvSpPr/>
          <p:nvPr/>
        </p:nvSpPr>
        <p:spPr>
          <a:xfrm>
            <a:off x="5221108" y="4020348"/>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43</a:t>
            </a:r>
          </a:p>
        </p:txBody>
      </p:sp>
      <p:cxnSp>
        <p:nvCxnSpPr>
          <p:cNvPr id="15" name="Straight Arrow Connector 14">
            <a:extLst>
              <a:ext uri="{FF2B5EF4-FFF2-40B4-BE49-F238E27FC236}">
                <a16:creationId xmlns:a16="http://schemas.microsoft.com/office/drawing/2014/main" id="{0745BC58-9F97-42EA-BBC9-7DC3854C56B2}"/>
              </a:ext>
            </a:extLst>
          </p:cNvPr>
          <p:cNvCxnSpPr>
            <a:cxnSpLocks/>
            <a:stCxn id="8" idx="5"/>
            <a:endCxn id="10"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6C07F14-E7FF-40CA-B4EC-9005DDFD2D48}"/>
              </a:ext>
            </a:extLst>
          </p:cNvPr>
          <p:cNvCxnSpPr>
            <a:stCxn id="8" idx="3"/>
            <a:endCxn id="9"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0608E52-E961-4E84-8B65-E7A3871AE027}"/>
              </a:ext>
            </a:extLst>
          </p:cNvPr>
          <p:cNvCxnSpPr>
            <a:stCxn id="10" idx="5"/>
            <a:endCxn id="12"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7B5FB3-7785-4817-A0E4-835DAFD27B99}"/>
              </a:ext>
            </a:extLst>
          </p:cNvPr>
          <p:cNvCxnSpPr>
            <a:stCxn id="10" idx="3"/>
            <a:endCxn id="11"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EBF76D7-C393-4953-A64A-17161F555D21}"/>
              </a:ext>
            </a:extLst>
          </p:cNvPr>
          <p:cNvCxnSpPr>
            <a:stCxn id="9" idx="5"/>
            <a:endCxn id="14"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D60B2A-A245-4970-815D-635CE0C046CE}"/>
              </a:ext>
            </a:extLst>
          </p:cNvPr>
          <p:cNvCxnSpPr>
            <a:cxnSpLocks/>
            <a:stCxn id="9" idx="3"/>
            <a:endCxn id="13"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06B37F3-7DD5-444D-B7F5-43D18C1DB3D0}"/>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2" name="Straight Arrow Connector 21">
            <a:extLst>
              <a:ext uri="{FF2B5EF4-FFF2-40B4-BE49-F238E27FC236}">
                <a16:creationId xmlns:a16="http://schemas.microsoft.com/office/drawing/2014/main" id="{B94338E2-EAC3-44E1-A264-AE0E6464D2E5}"/>
              </a:ext>
            </a:extLst>
          </p:cNvPr>
          <p:cNvCxnSpPr>
            <a:cxnSpLocks/>
            <a:stCxn id="13" idx="3"/>
            <a:endCxn id="21"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B3011F6-4394-414D-BAB5-E6DA88ED24D5}"/>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4" name="Oval 23">
            <a:extLst>
              <a:ext uri="{FF2B5EF4-FFF2-40B4-BE49-F238E27FC236}">
                <a16:creationId xmlns:a16="http://schemas.microsoft.com/office/drawing/2014/main" id="{34A51D34-11E2-4BFF-BB50-AC4763183397}"/>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5" name="Straight Arrow Connector 24">
            <a:extLst>
              <a:ext uri="{FF2B5EF4-FFF2-40B4-BE49-F238E27FC236}">
                <a16:creationId xmlns:a16="http://schemas.microsoft.com/office/drawing/2014/main" id="{53AA4681-C58B-4D7F-B736-47BDD070DBD4}"/>
              </a:ext>
            </a:extLst>
          </p:cNvPr>
          <p:cNvCxnSpPr>
            <a:stCxn id="13" idx="5"/>
            <a:endCxn id="23"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D07541-81FA-4A9B-9DE0-250107B8D50D}"/>
              </a:ext>
            </a:extLst>
          </p:cNvPr>
          <p:cNvCxnSpPr>
            <a:cxnSpLocks/>
            <a:stCxn id="14" idx="3"/>
            <a:endCxn id="24"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F15A527-5462-498D-9C52-4A061C8138BE}"/>
              </a:ext>
            </a:extLst>
          </p:cNvPr>
          <p:cNvSpPr/>
          <p:nvPr/>
        </p:nvSpPr>
        <p:spPr>
          <a:xfrm>
            <a:off x="551315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28" name="Straight Arrow Connector 27">
            <a:extLst>
              <a:ext uri="{FF2B5EF4-FFF2-40B4-BE49-F238E27FC236}">
                <a16:creationId xmlns:a16="http://schemas.microsoft.com/office/drawing/2014/main" id="{CC153218-E719-40FE-97C1-45925540D3BA}"/>
              </a:ext>
            </a:extLst>
          </p:cNvPr>
          <p:cNvCxnSpPr>
            <a:cxnSpLocks/>
            <a:stCxn id="14" idx="5"/>
            <a:endCxn id="27" idx="0"/>
          </p:cNvCxnSpPr>
          <p:nvPr/>
        </p:nvCxnSpPr>
        <p:spPr>
          <a:xfrm>
            <a:off x="5536457" y="4335697"/>
            <a:ext cx="161421"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Plus Sign 28">
            <a:extLst>
              <a:ext uri="{FF2B5EF4-FFF2-40B4-BE49-F238E27FC236}">
                <a16:creationId xmlns:a16="http://schemas.microsoft.com/office/drawing/2014/main" id="{E1CF9EF0-B73F-4A7A-8885-F62D6714A0F0}"/>
              </a:ext>
            </a:extLst>
          </p:cNvPr>
          <p:cNvSpPr/>
          <p:nvPr/>
        </p:nvSpPr>
        <p:spPr>
          <a:xfrm>
            <a:off x="10617225" y="4830592"/>
            <a:ext cx="1277448" cy="1277448"/>
          </a:xfrm>
          <a:prstGeom prst="mathPlus">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6064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an Element - Example</a:t>
            </a:r>
          </a:p>
        </p:txBody>
      </p:sp>
      <p:sp>
        <p:nvSpPr>
          <p:cNvPr id="3" name="Content Placeholder 2"/>
          <p:cNvSpPr>
            <a:spLocks noGrp="1"/>
          </p:cNvSpPr>
          <p:nvPr>
            <p:ph idx="1"/>
          </p:nvPr>
        </p:nvSpPr>
        <p:spPr/>
        <p:txBody>
          <a:bodyPr/>
          <a:lstStyle/>
          <a:p>
            <a:pPr lvl="1"/>
            <a:r>
              <a:rPr lang="en-US" dirty="0"/>
              <a:t>What will the heap look like after adding 43?</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8" name="Oval 7">
            <a:extLst>
              <a:ext uri="{FF2B5EF4-FFF2-40B4-BE49-F238E27FC236}">
                <a16:creationId xmlns:a16="http://schemas.microsoft.com/office/drawing/2014/main" id="{C0927AD2-8427-4879-A138-A00564D99835}"/>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9" name="Oval 8">
            <a:extLst>
              <a:ext uri="{FF2B5EF4-FFF2-40B4-BE49-F238E27FC236}">
                <a16:creationId xmlns:a16="http://schemas.microsoft.com/office/drawing/2014/main" id="{CAB48117-7660-47B8-AB1B-F922BE25D4FC}"/>
              </a:ext>
            </a:extLst>
          </p:cNvPr>
          <p:cNvSpPr/>
          <p:nvPr/>
        </p:nvSpPr>
        <p:spPr>
          <a:xfrm>
            <a:off x="4673601" y="3338163"/>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43</a:t>
            </a:r>
          </a:p>
        </p:txBody>
      </p:sp>
      <p:sp>
        <p:nvSpPr>
          <p:cNvPr id="10" name="Oval 9">
            <a:extLst>
              <a:ext uri="{FF2B5EF4-FFF2-40B4-BE49-F238E27FC236}">
                <a16:creationId xmlns:a16="http://schemas.microsoft.com/office/drawing/2014/main" id="{315956DE-4B2C-435D-8788-E9B70B42AA5B}"/>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11" name="Oval 10">
            <a:extLst>
              <a:ext uri="{FF2B5EF4-FFF2-40B4-BE49-F238E27FC236}">
                <a16:creationId xmlns:a16="http://schemas.microsoft.com/office/drawing/2014/main" id="{9C43D09F-EFBA-411E-8142-AB9AF43344B6}"/>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2" name="Oval 11">
            <a:extLst>
              <a:ext uri="{FF2B5EF4-FFF2-40B4-BE49-F238E27FC236}">
                <a16:creationId xmlns:a16="http://schemas.microsoft.com/office/drawing/2014/main" id="{8C450B73-B998-45B8-995C-48C94354C079}"/>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3" name="Oval 12">
            <a:extLst>
              <a:ext uri="{FF2B5EF4-FFF2-40B4-BE49-F238E27FC236}">
                <a16:creationId xmlns:a16="http://schemas.microsoft.com/office/drawing/2014/main" id="{25EF9725-69F6-43D6-872A-08673B43BC7C}"/>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4" name="Oval 13">
            <a:extLst>
              <a:ext uri="{FF2B5EF4-FFF2-40B4-BE49-F238E27FC236}">
                <a16:creationId xmlns:a16="http://schemas.microsoft.com/office/drawing/2014/main" id="{8FB129F4-C7D8-4FFD-BD12-31763518AC1B}"/>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cxnSp>
        <p:nvCxnSpPr>
          <p:cNvPr id="15" name="Straight Arrow Connector 14">
            <a:extLst>
              <a:ext uri="{FF2B5EF4-FFF2-40B4-BE49-F238E27FC236}">
                <a16:creationId xmlns:a16="http://schemas.microsoft.com/office/drawing/2014/main" id="{0745BC58-9F97-42EA-BBC9-7DC3854C56B2}"/>
              </a:ext>
            </a:extLst>
          </p:cNvPr>
          <p:cNvCxnSpPr>
            <a:cxnSpLocks/>
            <a:stCxn id="8" idx="5"/>
            <a:endCxn id="10"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6C07F14-E7FF-40CA-B4EC-9005DDFD2D48}"/>
              </a:ext>
            </a:extLst>
          </p:cNvPr>
          <p:cNvCxnSpPr>
            <a:stCxn id="8" idx="3"/>
            <a:endCxn id="9"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0608E52-E961-4E84-8B65-E7A3871AE027}"/>
              </a:ext>
            </a:extLst>
          </p:cNvPr>
          <p:cNvCxnSpPr>
            <a:stCxn id="10" idx="5"/>
            <a:endCxn id="12"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7B5FB3-7785-4817-A0E4-835DAFD27B99}"/>
              </a:ext>
            </a:extLst>
          </p:cNvPr>
          <p:cNvCxnSpPr>
            <a:stCxn id="10" idx="3"/>
            <a:endCxn id="11"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EBF76D7-C393-4953-A64A-17161F555D21}"/>
              </a:ext>
            </a:extLst>
          </p:cNvPr>
          <p:cNvCxnSpPr>
            <a:stCxn id="9" idx="5"/>
            <a:endCxn id="14"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D60B2A-A245-4970-815D-635CE0C046CE}"/>
              </a:ext>
            </a:extLst>
          </p:cNvPr>
          <p:cNvCxnSpPr>
            <a:cxnSpLocks/>
            <a:stCxn id="9" idx="3"/>
            <a:endCxn id="13"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06B37F3-7DD5-444D-B7F5-43D18C1DB3D0}"/>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2" name="Straight Arrow Connector 21">
            <a:extLst>
              <a:ext uri="{FF2B5EF4-FFF2-40B4-BE49-F238E27FC236}">
                <a16:creationId xmlns:a16="http://schemas.microsoft.com/office/drawing/2014/main" id="{B94338E2-EAC3-44E1-A264-AE0E6464D2E5}"/>
              </a:ext>
            </a:extLst>
          </p:cNvPr>
          <p:cNvCxnSpPr>
            <a:cxnSpLocks/>
            <a:stCxn id="13" idx="3"/>
            <a:endCxn id="21"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B3011F6-4394-414D-BAB5-E6DA88ED24D5}"/>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4" name="Oval 23">
            <a:extLst>
              <a:ext uri="{FF2B5EF4-FFF2-40B4-BE49-F238E27FC236}">
                <a16:creationId xmlns:a16="http://schemas.microsoft.com/office/drawing/2014/main" id="{34A51D34-11E2-4BFF-BB50-AC4763183397}"/>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5" name="Straight Arrow Connector 24">
            <a:extLst>
              <a:ext uri="{FF2B5EF4-FFF2-40B4-BE49-F238E27FC236}">
                <a16:creationId xmlns:a16="http://schemas.microsoft.com/office/drawing/2014/main" id="{53AA4681-C58B-4D7F-B736-47BDD070DBD4}"/>
              </a:ext>
            </a:extLst>
          </p:cNvPr>
          <p:cNvCxnSpPr>
            <a:stCxn id="13" idx="5"/>
            <a:endCxn id="23"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D07541-81FA-4A9B-9DE0-250107B8D50D}"/>
              </a:ext>
            </a:extLst>
          </p:cNvPr>
          <p:cNvCxnSpPr>
            <a:cxnSpLocks/>
            <a:stCxn id="14" idx="3"/>
            <a:endCxn id="24"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F15A527-5462-498D-9C52-4A061C8138BE}"/>
              </a:ext>
            </a:extLst>
          </p:cNvPr>
          <p:cNvSpPr/>
          <p:nvPr/>
        </p:nvSpPr>
        <p:spPr>
          <a:xfrm>
            <a:off x="551315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28" name="Straight Arrow Connector 27">
            <a:extLst>
              <a:ext uri="{FF2B5EF4-FFF2-40B4-BE49-F238E27FC236}">
                <a16:creationId xmlns:a16="http://schemas.microsoft.com/office/drawing/2014/main" id="{CC153218-E719-40FE-97C1-45925540D3BA}"/>
              </a:ext>
            </a:extLst>
          </p:cNvPr>
          <p:cNvCxnSpPr>
            <a:cxnSpLocks/>
            <a:stCxn id="14" idx="5"/>
            <a:endCxn id="27" idx="0"/>
          </p:cNvCxnSpPr>
          <p:nvPr/>
        </p:nvCxnSpPr>
        <p:spPr>
          <a:xfrm>
            <a:off x="5536457" y="4335697"/>
            <a:ext cx="161421"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C4D5813-641F-42CC-86F7-045FF91135E9}"/>
              </a:ext>
            </a:extLst>
          </p:cNvPr>
          <p:cNvSpPr txBox="1"/>
          <p:nvPr/>
        </p:nvSpPr>
        <p:spPr>
          <a:xfrm>
            <a:off x="4620583" y="2914726"/>
            <a:ext cx="654626" cy="369332"/>
          </a:xfrm>
          <a:prstGeom prst="rect">
            <a:avLst/>
          </a:prstGeom>
          <a:noFill/>
        </p:spPr>
        <p:txBody>
          <a:bodyPr wrap="square" rtlCol="0">
            <a:spAutoFit/>
          </a:bodyPr>
          <a:lstStyle/>
          <a:p>
            <a:r>
              <a:rPr lang="en-US" dirty="0"/>
              <a:t>👍</a:t>
            </a:r>
          </a:p>
        </p:txBody>
      </p:sp>
      <p:sp>
        <p:nvSpPr>
          <p:cNvPr id="29" name="Plus Sign 28">
            <a:extLst>
              <a:ext uri="{FF2B5EF4-FFF2-40B4-BE49-F238E27FC236}">
                <a16:creationId xmlns:a16="http://schemas.microsoft.com/office/drawing/2014/main" id="{3679D269-4D05-4D0F-8774-4EA607F058DF}"/>
              </a:ext>
            </a:extLst>
          </p:cNvPr>
          <p:cNvSpPr/>
          <p:nvPr/>
        </p:nvSpPr>
        <p:spPr>
          <a:xfrm>
            <a:off x="10617225" y="4830592"/>
            <a:ext cx="1277448" cy="1277448"/>
          </a:xfrm>
          <a:prstGeom prst="mathPlus">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8986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38A5A727-D49C-4F99-A7E6-9A2CD209ABCA}"/>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426C2CE-D709-48EC-AAE8-0B0B4DB50BEB}"/>
              </a:ext>
            </a:extLst>
          </p:cNvPr>
          <p:cNvCxnSpPr>
            <a:cxnSpLocks/>
            <a:stCxn id="12" idx="3"/>
            <a:endCxn id="22"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691893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38A5A727-D49C-4F99-A7E6-9A2CD209ABCA}"/>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426C2CE-D709-48EC-AAE8-0B0B4DB50BEB}"/>
              </a:ext>
            </a:extLst>
          </p:cNvPr>
          <p:cNvCxnSpPr>
            <a:cxnSpLocks/>
            <a:stCxn id="12" idx="3"/>
            <a:endCxn id="22"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TextBox 24">
            <a:extLst>
              <a:ext uri="{FF2B5EF4-FFF2-40B4-BE49-F238E27FC236}">
                <a16:creationId xmlns:a16="http://schemas.microsoft.com/office/drawing/2014/main" id="{4365006C-AC77-45BF-A950-679C1EE47819}"/>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6" name="Oval 25">
            <a:extLst>
              <a:ext uri="{FF2B5EF4-FFF2-40B4-BE49-F238E27FC236}">
                <a16:creationId xmlns:a16="http://schemas.microsoft.com/office/drawing/2014/main" id="{47336249-31E0-412A-B5D9-220605123A46}"/>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Tree>
    <p:extLst>
      <p:ext uri="{BB962C8B-B14F-4D97-AF65-F5344CB8AC3E}">
        <p14:creationId xmlns:p14="http://schemas.microsoft.com/office/powerpoint/2010/main" val="3645621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38A5A727-D49C-4F99-A7E6-9A2CD209ABCA}"/>
              </a:ext>
            </a:extLst>
          </p:cNvPr>
          <p:cNvSpPr/>
          <p:nvPr/>
        </p:nvSpPr>
        <p:spPr>
          <a:xfrm>
            <a:off x="493827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426C2CE-D709-48EC-AAE8-0B0B4DB50BEB}"/>
              </a:ext>
            </a:extLst>
          </p:cNvPr>
          <p:cNvCxnSpPr>
            <a:cxnSpLocks/>
            <a:stCxn id="12" idx="3"/>
            <a:endCxn id="22" idx="0"/>
          </p:cNvCxnSpPr>
          <p:nvPr/>
        </p:nvCxnSpPr>
        <p:spPr>
          <a:xfrm flipH="1">
            <a:off x="5122998" y="4335697"/>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Arrow: Curved Up 6">
            <a:extLst>
              <a:ext uri="{FF2B5EF4-FFF2-40B4-BE49-F238E27FC236}">
                <a16:creationId xmlns:a16="http://schemas.microsoft.com/office/drawing/2014/main" id="{D2B5ED57-954E-4DA7-891A-AD18D1B45D13}"/>
              </a:ext>
            </a:extLst>
          </p:cNvPr>
          <p:cNvSpPr/>
          <p:nvPr/>
        </p:nvSpPr>
        <p:spPr>
          <a:xfrm rot="17419197">
            <a:off x="4947059" y="4014791"/>
            <a:ext cx="2150986" cy="380568"/>
          </a:xfrm>
          <a:prstGeom prst="curvedUp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709862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Tree>
    <p:extLst>
      <p:ext uri="{BB962C8B-B14F-4D97-AF65-F5344CB8AC3E}">
        <p14:creationId xmlns:p14="http://schemas.microsoft.com/office/powerpoint/2010/main" val="3460004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4" name="TextBox 23">
            <a:extLst>
              <a:ext uri="{FF2B5EF4-FFF2-40B4-BE49-F238E27FC236}">
                <a16:creationId xmlns:a16="http://schemas.microsoft.com/office/drawing/2014/main" id="{DAABE3D4-2DB8-408C-85AC-DC44EEEE3630}"/>
              </a:ext>
            </a:extLst>
          </p:cNvPr>
          <p:cNvSpPr txBox="1"/>
          <p:nvPr/>
        </p:nvSpPr>
        <p:spPr>
          <a:xfrm>
            <a:off x="5242903" y="2946132"/>
            <a:ext cx="311858" cy="369454"/>
          </a:xfrm>
          <a:prstGeom prst="rect">
            <a:avLst/>
          </a:prstGeom>
          <a:noFill/>
        </p:spPr>
        <p:txBody>
          <a:bodyPr wrap="square" rtlCol="0">
            <a:spAutoFit/>
          </a:bodyPr>
          <a:lstStyle/>
          <a:p>
            <a:r>
              <a:rPr lang="en-US" dirty="0"/>
              <a:t>?</a:t>
            </a:r>
          </a:p>
        </p:txBody>
      </p:sp>
      <p:sp>
        <p:nvSpPr>
          <p:cNvPr id="25" name="TextBox 24">
            <a:extLst>
              <a:ext uri="{FF2B5EF4-FFF2-40B4-BE49-F238E27FC236}">
                <a16:creationId xmlns:a16="http://schemas.microsoft.com/office/drawing/2014/main" id="{B7AAE088-3709-4C7D-BDF5-D5DF295BD77B}"/>
              </a:ext>
            </a:extLst>
          </p:cNvPr>
          <p:cNvSpPr txBox="1"/>
          <p:nvPr/>
        </p:nvSpPr>
        <p:spPr>
          <a:xfrm>
            <a:off x="6379697" y="2946132"/>
            <a:ext cx="311858" cy="369454"/>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599547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4" name="TextBox 23">
            <a:extLst>
              <a:ext uri="{FF2B5EF4-FFF2-40B4-BE49-F238E27FC236}">
                <a16:creationId xmlns:a16="http://schemas.microsoft.com/office/drawing/2014/main" id="{DAABE3D4-2DB8-408C-85AC-DC44EEEE3630}"/>
              </a:ext>
            </a:extLst>
          </p:cNvPr>
          <p:cNvSpPr txBox="1"/>
          <p:nvPr/>
        </p:nvSpPr>
        <p:spPr>
          <a:xfrm>
            <a:off x="5242903" y="2946132"/>
            <a:ext cx="311858" cy="369454"/>
          </a:xfrm>
          <a:prstGeom prst="rect">
            <a:avLst/>
          </a:prstGeom>
          <a:noFill/>
        </p:spPr>
        <p:txBody>
          <a:bodyPr wrap="square" rtlCol="0">
            <a:spAutoFit/>
          </a:bodyPr>
          <a:lstStyle/>
          <a:p>
            <a:r>
              <a:rPr lang="en-US" dirty="0"/>
              <a:t>?</a:t>
            </a:r>
          </a:p>
        </p:txBody>
      </p:sp>
      <p:sp>
        <p:nvSpPr>
          <p:cNvPr id="25" name="TextBox 24">
            <a:extLst>
              <a:ext uri="{FF2B5EF4-FFF2-40B4-BE49-F238E27FC236}">
                <a16:creationId xmlns:a16="http://schemas.microsoft.com/office/drawing/2014/main" id="{B7AAE088-3709-4C7D-BDF5-D5DF295BD77B}"/>
              </a:ext>
            </a:extLst>
          </p:cNvPr>
          <p:cNvSpPr txBox="1"/>
          <p:nvPr/>
        </p:nvSpPr>
        <p:spPr>
          <a:xfrm>
            <a:off x="6379697" y="2946132"/>
            <a:ext cx="311858" cy="369454"/>
          </a:xfrm>
          <a:prstGeom prst="rect">
            <a:avLst/>
          </a:prstGeom>
          <a:noFill/>
        </p:spPr>
        <p:txBody>
          <a:bodyPr wrap="square" rtlCol="0">
            <a:spAutoFit/>
          </a:bodyPr>
          <a:lstStyle/>
          <a:p>
            <a:r>
              <a:rPr lang="en-US" dirty="0"/>
              <a:t>?</a:t>
            </a:r>
          </a:p>
        </p:txBody>
      </p:sp>
      <p:sp>
        <p:nvSpPr>
          <p:cNvPr id="26" name="TextBox 25">
            <a:extLst>
              <a:ext uri="{FF2B5EF4-FFF2-40B4-BE49-F238E27FC236}">
                <a16:creationId xmlns:a16="http://schemas.microsoft.com/office/drawing/2014/main" id="{6654B160-115A-4B3C-866F-05A1CC5B32D9}"/>
              </a:ext>
            </a:extLst>
          </p:cNvPr>
          <p:cNvSpPr txBox="1"/>
          <p:nvPr/>
        </p:nvSpPr>
        <p:spPr>
          <a:xfrm>
            <a:off x="7296042" y="2927122"/>
            <a:ext cx="3073587" cy="369332"/>
          </a:xfrm>
          <a:prstGeom prst="rect">
            <a:avLst/>
          </a:prstGeom>
          <a:noFill/>
        </p:spPr>
        <p:txBody>
          <a:bodyPr wrap="square" rtlCol="0">
            <a:spAutoFit/>
          </a:bodyPr>
          <a:lstStyle/>
          <a:p>
            <a:r>
              <a:rPr lang="en-US" dirty="0"/>
              <a:t>Always choose the </a:t>
            </a:r>
            <a:r>
              <a:rPr lang="en-US" b="1" dirty="0"/>
              <a:t>bigger</a:t>
            </a:r>
            <a:r>
              <a:rPr lang="en-US" dirty="0"/>
              <a:t> child</a:t>
            </a:r>
          </a:p>
        </p:txBody>
      </p:sp>
    </p:spTree>
    <p:extLst>
      <p:ext uri="{BB962C8B-B14F-4D97-AF65-F5344CB8AC3E}">
        <p14:creationId xmlns:p14="http://schemas.microsoft.com/office/powerpoint/2010/main" val="1026924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TextBox 25">
            <a:extLst>
              <a:ext uri="{FF2B5EF4-FFF2-40B4-BE49-F238E27FC236}">
                <a16:creationId xmlns:a16="http://schemas.microsoft.com/office/drawing/2014/main" id="{6654B160-115A-4B3C-866F-05A1CC5B32D9}"/>
              </a:ext>
            </a:extLst>
          </p:cNvPr>
          <p:cNvSpPr txBox="1"/>
          <p:nvPr/>
        </p:nvSpPr>
        <p:spPr>
          <a:xfrm>
            <a:off x="7296042" y="2927122"/>
            <a:ext cx="3073587" cy="369332"/>
          </a:xfrm>
          <a:prstGeom prst="rect">
            <a:avLst/>
          </a:prstGeom>
          <a:noFill/>
        </p:spPr>
        <p:txBody>
          <a:bodyPr wrap="square" rtlCol="0">
            <a:spAutoFit/>
          </a:bodyPr>
          <a:lstStyle/>
          <a:p>
            <a:r>
              <a:rPr lang="en-US" dirty="0"/>
              <a:t>Always choose the </a:t>
            </a:r>
            <a:r>
              <a:rPr lang="en-US" b="1" dirty="0"/>
              <a:t>bigger</a:t>
            </a:r>
            <a:r>
              <a:rPr lang="en-US" dirty="0"/>
              <a:t> child</a:t>
            </a:r>
          </a:p>
        </p:txBody>
      </p:sp>
    </p:spTree>
    <p:extLst>
      <p:ext uri="{BB962C8B-B14F-4D97-AF65-F5344CB8AC3E}">
        <p14:creationId xmlns:p14="http://schemas.microsoft.com/office/powerpoint/2010/main" val="1068621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TextBox 25">
            <a:extLst>
              <a:ext uri="{FF2B5EF4-FFF2-40B4-BE49-F238E27FC236}">
                <a16:creationId xmlns:a16="http://schemas.microsoft.com/office/drawing/2014/main" id="{6654B160-115A-4B3C-866F-05A1CC5B32D9}"/>
              </a:ext>
            </a:extLst>
          </p:cNvPr>
          <p:cNvSpPr txBox="1"/>
          <p:nvPr/>
        </p:nvSpPr>
        <p:spPr>
          <a:xfrm>
            <a:off x="7296042" y="2927122"/>
            <a:ext cx="3073587" cy="369332"/>
          </a:xfrm>
          <a:prstGeom prst="rect">
            <a:avLst/>
          </a:prstGeom>
          <a:noFill/>
        </p:spPr>
        <p:txBody>
          <a:bodyPr wrap="square" rtlCol="0">
            <a:spAutoFit/>
          </a:bodyPr>
          <a:lstStyle/>
          <a:p>
            <a:r>
              <a:rPr lang="en-US" dirty="0"/>
              <a:t>Always choose the </a:t>
            </a:r>
            <a:r>
              <a:rPr lang="en-US" b="1" dirty="0"/>
              <a:t>bigger</a:t>
            </a:r>
            <a:r>
              <a:rPr lang="en-US" dirty="0"/>
              <a:t> child</a:t>
            </a:r>
          </a:p>
        </p:txBody>
      </p:sp>
    </p:spTree>
    <p:extLst>
      <p:ext uri="{BB962C8B-B14F-4D97-AF65-F5344CB8AC3E}">
        <p14:creationId xmlns:p14="http://schemas.microsoft.com/office/powerpoint/2010/main" val="282740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TextBox 25">
            <a:extLst>
              <a:ext uri="{FF2B5EF4-FFF2-40B4-BE49-F238E27FC236}">
                <a16:creationId xmlns:a16="http://schemas.microsoft.com/office/drawing/2014/main" id="{6654B160-115A-4B3C-866F-05A1CC5B32D9}"/>
              </a:ext>
            </a:extLst>
          </p:cNvPr>
          <p:cNvSpPr txBox="1"/>
          <p:nvPr/>
        </p:nvSpPr>
        <p:spPr>
          <a:xfrm>
            <a:off x="7296042" y="2927122"/>
            <a:ext cx="3073587" cy="369332"/>
          </a:xfrm>
          <a:prstGeom prst="rect">
            <a:avLst/>
          </a:prstGeom>
          <a:noFill/>
        </p:spPr>
        <p:txBody>
          <a:bodyPr wrap="square" rtlCol="0">
            <a:spAutoFit/>
          </a:bodyPr>
          <a:lstStyle/>
          <a:p>
            <a:r>
              <a:rPr lang="en-US" dirty="0"/>
              <a:t>Always choose the </a:t>
            </a:r>
            <a:r>
              <a:rPr lang="en-US" b="1" dirty="0"/>
              <a:t>bigger</a:t>
            </a:r>
            <a:r>
              <a:rPr lang="en-US" dirty="0"/>
              <a:t> child</a:t>
            </a:r>
          </a:p>
        </p:txBody>
      </p:sp>
      <p:sp>
        <p:nvSpPr>
          <p:cNvPr id="25" name="TextBox 24">
            <a:extLst>
              <a:ext uri="{FF2B5EF4-FFF2-40B4-BE49-F238E27FC236}">
                <a16:creationId xmlns:a16="http://schemas.microsoft.com/office/drawing/2014/main" id="{F6D5581C-7C11-4B8E-813C-C00516FE6C42}"/>
              </a:ext>
            </a:extLst>
          </p:cNvPr>
          <p:cNvSpPr txBox="1"/>
          <p:nvPr/>
        </p:nvSpPr>
        <p:spPr>
          <a:xfrm>
            <a:off x="4333038" y="5278712"/>
            <a:ext cx="654626"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226187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905053F-4E44-4258-9A64-54C3E74AEE6B}"/>
              </a:ext>
            </a:extLst>
          </p:cNvPr>
          <p:cNvSpPr/>
          <p:nvPr/>
        </p:nvSpPr>
        <p:spPr>
          <a:xfrm>
            <a:off x="4363391"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5CBA5D5-7143-4240-AA84-EF361C63FF27}"/>
              </a:ext>
            </a:extLst>
          </p:cNvPr>
          <p:cNvCxnSpPr>
            <a:stCxn id="11" idx="5"/>
            <a:endCxn id="21" idx="0"/>
          </p:cNvCxnSpPr>
          <p:nvPr/>
        </p:nvCxnSpPr>
        <p:spPr>
          <a:xfrm>
            <a:off x="4463660" y="4335697"/>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Tree>
    <p:extLst>
      <p:ext uri="{BB962C8B-B14F-4D97-AF65-F5344CB8AC3E}">
        <p14:creationId xmlns:p14="http://schemas.microsoft.com/office/powerpoint/2010/main" val="1322931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Oval 25">
            <a:extLst>
              <a:ext uri="{FF2B5EF4-FFF2-40B4-BE49-F238E27FC236}">
                <a16:creationId xmlns:a16="http://schemas.microsoft.com/office/drawing/2014/main" id="{05B9A388-1043-4209-B481-99AF7F881F5C}"/>
              </a:ext>
            </a:extLst>
          </p:cNvPr>
          <p:cNvSpPr/>
          <p:nvPr/>
        </p:nvSpPr>
        <p:spPr>
          <a:xfrm>
            <a:off x="3913361" y="221600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Tree>
    <p:extLst>
      <p:ext uri="{BB962C8B-B14F-4D97-AF65-F5344CB8AC3E}">
        <p14:creationId xmlns:p14="http://schemas.microsoft.com/office/powerpoint/2010/main" val="2293428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normAutofit/>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Oval 25">
            <a:extLst>
              <a:ext uri="{FF2B5EF4-FFF2-40B4-BE49-F238E27FC236}">
                <a16:creationId xmlns:a16="http://schemas.microsoft.com/office/drawing/2014/main" id="{05B9A388-1043-4209-B481-99AF7F881F5C}"/>
              </a:ext>
            </a:extLst>
          </p:cNvPr>
          <p:cNvSpPr/>
          <p:nvPr/>
        </p:nvSpPr>
        <p:spPr>
          <a:xfrm>
            <a:off x="3913361" y="221600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Tree>
    <p:extLst>
      <p:ext uri="{BB962C8B-B14F-4D97-AF65-F5344CB8AC3E}">
        <p14:creationId xmlns:p14="http://schemas.microsoft.com/office/powerpoint/2010/main" val="4198020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 Maximum - Example</a:t>
            </a:r>
          </a:p>
        </p:txBody>
      </p:sp>
      <p:sp>
        <p:nvSpPr>
          <p:cNvPr id="3" name="Content Placeholder 2"/>
          <p:cNvSpPr>
            <a:spLocks noGrp="1"/>
          </p:cNvSpPr>
          <p:nvPr>
            <p:ph idx="1"/>
          </p:nvPr>
        </p:nvSpPr>
        <p:spPr/>
        <p:txBody>
          <a:bodyPr/>
          <a:lstStyle/>
          <a:p>
            <a:pPr lvl="1"/>
            <a:r>
              <a:rPr lang="en-US" dirty="0"/>
              <a:t>What will the heap look like after extracting the maximum, twice?</a:t>
            </a:r>
            <a:endParaRPr lang="he-IL"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a:p>
            <a:pPr lvl="1"/>
            <a:endParaRPr lang="en-US"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2"/>
            <a:endParaRPr lang="en-US" sz="1800" dirty="0"/>
          </a:p>
        </p:txBody>
      </p:sp>
      <p:sp>
        <p:nvSpPr>
          <p:cNvPr id="5" name="Oval 4">
            <a:extLst>
              <a:ext uri="{FF2B5EF4-FFF2-40B4-BE49-F238E27FC236}">
                <a16:creationId xmlns:a16="http://schemas.microsoft.com/office/drawing/2014/main" id="{258344D2-BCB6-4E87-8955-6D29F7D599A3}"/>
              </a:ext>
            </a:extLst>
          </p:cNvPr>
          <p:cNvSpPr/>
          <p:nvPr/>
        </p:nvSpPr>
        <p:spPr>
          <a:xfrm>
            <a:off x="5757026" y="2880181"/>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6" name="Oval 5">
            <a:extLst>
              <a:ext uri="{FF2B5EF4-FFF2-40B4-BE49-F238E27FC236}">
                <a16:creationId xmlns:a16="http://schemas.microsoft.com/office/drawing/2014/main" id="{FCAFBEC6-F392-4F40-AA8B-4F93504E2703}"/>
              </a:ext>
            </a:extLst>
          </p:cNvPr>
          <p:cNvSpPr/>
          <p:nvPr/>
        </p:nvSpPr>
        <p:spPr>
          <a:xfrm>
            <a:off x="4673601"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8" name="Oval 7">
            <a:extLst>
              <a:ext uri="{FF2B5EF4-FFF2-40B4-BE49-F238E27FC236}">
                <a16:creationId xmlns:a16="http://schemas.microsoft.com/office/drawing/2014/main" id="{0A4B3D41-E9B6-4421-9996-43811816F296}"/>
              </a:ext>
            </a:extLst>
          </p:cNvPr>
          <p:cNvSpPr/>
          <p:nvPr/>
        </p:nvSpPr>
        <p:spPr>
          <a:xfrm>
            <a:off x="6779493" y="333816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9" name="Oval 8">
            <a:extLst>
              <a:ext uri="{FF2B5EF4-FFF2-40B4-BE49-F238E27FC236}">
                <a16:creationId xmlns:a16="http://schemas.microsoft.com/office/drawing/2014/main" id="{D50C55A3-1515-49D4-AB53-C6927472BB8C}"/>
              </a:ext>
            </a:extLst>
          </p:cNvPr>
          <p:cNvSpPr/>
          <p:nvPr/>
        </p:nvSpPr>
        <p:spPr>
          <a:xfrm>
            <a:off x="623395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A673B278-02A3-427B-8168-993422B7C5EA}"/>
              </a:ext>
            </a:extLst>
          </p:cNvPr>
          <p:cNvSpPr/>
          <p:nvPr/>
        </p:nvSpPr>
        <p:spPr>
          <a:xfrm>
            <a:off x="7312515" y="4020348"/>
            <a:ext cx="369454" cy="369454"/>
          </a:xfrm>
          <a:prstGeom prst="ellipse">
            <a:avLst/>
          </a:prstGeom>
          <a:solidFill>
            <a:schemeClr val="bg1">
              <a:lumMod val="8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sp>
        <p:nvSpPr>
          <p:cNvPr id="11" name="Oval 10">
            <a:extLst>
              <a:ext uri="{FF2B5EF4-FFF2-40B4-BE49-F238E27FC236}">
                <a16:creationId xmlns:a16="http://schemas.microsoft.com/office/drawing/2014/main" id="{8734410C-9386-4B2A-AF4E-0051CDC31A65}"/>
              </a:ext>
            </a:extLst>
          </p:cNvPr>
          <p:cNvSpPr/>
          <p:nvPr/>
        </p:nvSpPr>
        <p:spPr>
          <a:xfrm>
            <a:off x="4148311"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2" name="Oval 11">
            <a:extLst>
              <a:ext uri="{FF2B5EF4-FFF2-40B4-BE49-F238E27FC236}">
                <a16:creationId xmlns:a16="http://schemas.microsoft.com/office/drawing/2014/main" id="{18652931-DC63-4634-8471-7DD9EA41DB77}"/>
              </a:ext>
            </a:extLst>
          </p:cNvPr>
          <p:cNvSpPr/>
          <p:nvPr/>
        </p:nvSpPr>
        <p:spPr>
          <a:xfrm>
            <a:off x="5221108" y="402034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3E8E5AA8-9A13-4AA9-89F1-1F7D5D836318}"/>
              </a:ext>
            </a:extLst>
          </p:cNvPr>
          <p:cNvCxnSpPr>
            <a:cxnSpLocks/>
            <a:stCxn id="5" idx="5"/>
            <a:endCxn id="8" idx="1"/>
          </p:cNvCxnSpPr>
          <p:nvPr/>
        </p:nvCxnSpPr>
        <p:spPr>
          <a:xfrm>
            <a:off x="6072375" y="3195530"/>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F8BF39-A801-4D9C-8790-084BB8B391D4}"/>
              </a:ext>
            </a:extLst>
          </p:cNvPr>
          <p:cNvCxnSpPr>
            <a:stCxn id="5" idx="3"/>
            <a:endCxn id="6" idx="7"/>
          </p:cNvCxnSpPr>
          <p:nvPr/>
        </p:nvCxnSpPr>
        <p:spPr>
          <a:xfrm flipH="1">
            <a:off x="4988950" y="3195530"/>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F6D980-909B-47E2-812E-E340ABF5F499}"/>
              </a:ext>
            </a:extLst>
          </p:cNvPr>
          <p:cNvCxnSpPr>
            <a:stCxn id="8" idx="5"/>
            <a:endCxn id="10" idx="0"/>
          </p:cNvCxnSpPr>
          <p:nvPr/>
        </p:nvCxnSpPr>
        <p:spPr>
          <a:xfrm>
            <a:off x="7094842" y="3653512"/>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26827A-D381-448E-AF0E-825655E72819}"/>
              </a:ext>
            </a:extLst>
          </p:cNvPr>
          <p:cNvCxnSpPr>
            <a:stCxn id="8" idx="3"/>
            <a:endCxn id="9" idx="0"/>
          </p:cNvCxnSpPr>
          <p:nvPr/>
        </p:nvCxnSpPr>
        <p:spPr>
          <a:xfrm flipH="1">
            <a:off x="6418685" y="3653512"/>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D5B0C5-7110-45BD-9080-4BDE1F5A5F50}"/>
              </a:ext>
            </a:extLst>
          </p:cNvPr>
          <p:cNvCxnSpPr>
            <a:stCxn id="6" idx="5"/>
            <a:endCxn id="12" idx="0"/>
          </p:cNvCxnSpPr>
          <p:nvPr/>
        </p:nvCxnSpPr>
        <p:spPr>
          <a:xfrm>
            <a:off x="4988950" y="3653512"/>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9199FB-866C-4042-90DD-18B20A110EF6}"/>
              </a:ext>
            </a:extLst>
          </p:cNvPr>
          <p:cNvCxnSpPr>
            <a:cxnSpLocks/>
            <a:stCxn id="6" idx="3"/>
            <a:endCxn id="11" idx="0"/>
          </p:cNvCxnSpPr>
          <p:nvPr/>
        </p:nvCxnSpPr>
        <p:spPr>
          <a:xfrm flipH="1">
            <a:off x="4333038" y="3653512"/>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D256D70-4DAA-4C7A-AF50-8479F4C3112C}"/>
              </a:ext>
            </a:extLst>
          </p:cNvPr>
          <p:cNvSpPr/>
          <p:nvPr/>
        </p:nvSpPr>
        <p:spPr>
          <a:xfrm>
            <a:off x="3809034" y="483059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3310061E-9CC7-468D-91ED-EBCC91ABD745}"/>
              </a:ext>
            </a:extLst>
          </p:cNvPr>
          <p:cNvCxnSpPr>
            <a:cxnSpLocks/>
            <a:stCxn id="11" idx="3"/>
            <a:endCxn id="19" idx="0"/>
          </p:cNvCxnSpPr>
          <p:nvPr/>
        </p:nvCxnSpPr>
        <p:spPr>
          <a:xfrm flipH="1">
            <a:off x="3993761" y="4335697"/>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Arrow: Bent 3">
            <a:extLst>
              <a:ext uri="{FF2B5EF4-FFF2-40B4-BE49-F238E27FC236}">
                <a16:creationId xmlns:a16="http://schemas.microsoft.com/office/drawing/2014/main" id="{2EF7EA61-FF11-46F0-9A64-38A24674C266}"/>
              </a:ext>
            </a:extLst>
          </p:cNvPr>
          <p:cNvSpPr/>
          <p:nvPr/>
        </p:nvSpPr>
        <p:spPr>
          <a:xfrm>
            <a:off x="10859455" y="5015319"/>
            <a:ext cx="914400" cy="976045"/>
          </a:xfrm>
          <a:prstGeom prst="bentArrow">
            <a:avLst/>
          </a:prstGeom>
          <a:solidFill>
            <a:srgbClr val="00B0F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B635B384-2986-47D6-877F-BC1A868C6C6B}"/>
              </a:ext>
            </a:extLst>
          </p:cNvPr>
          <p:cNvSpPr txBox="1"/>
          <p:nvPr/>
        </p:nvSpPr>
        <p:spPr>
          <a:xfrm>
            <a:off x="1375749" y="2216124"/>
            <a:ext cx="2047957" cy="369332"/>
          </a:xfrm>
          <a:prstGeom prst="rect">
            <a:avLst/>
          </a:prstGeom>
          <a:noFill/>
        </p:spPr>
        <p:txBody>
          <a:bodyPr wrap="square" rtlCol="0">
            <a:spAutoFit/>
          </a:bodyPr>
          <a:lstStyle/>
          <a:p>
            <a:r>
              <a:rPr lang="en-US" dirty="0"/>
              <a:t>Copy max element:</a:t>
            </a:r>
          </a:p>
        </p:txBody>
      </p:sp>
      <p:sp>
        <p:nvSpPr>
          <p:cNvPr id="28" name="Oval 27">
            <a:extLst>
              <a:ext uri="{FF2B5EF4-FFF2-40B4-BE49-F238E27FC236}">
                <a16:creationId xmlns:a16="http://schemas.microsoft.com/office/drawing/2014/main" id="{D96C9AFF-3B6E-4CD6-B7CD-861AAAC22F03}"/>
              </a:ext>
            </a:extLst>
          </p:cNvPr>
          <p:cNvSpPr/>
          <p:nvPr/>
        </p:nvSpPr>
        <p:spPr>
          <a:xfrm>
            <a:off x="3396654" y="2217227"/>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26" name="Oval 25">
            <a:extLst>
              <a:ext uri="{FF2B5EF4-FFF2-40B4-BE49-F238E27FC236}">
                <a16:creationId xmlns:a16="http://schemas.microsoft.com/office/drawing/2014/main" id="{05B9A388-1043-4209-B481-99AF7F881F5C}"/>
              </a:ext>
            </a:extLst>
          </p:cNvPr>
          <p:cNvSpPr/>
          <p:nvPr/>
        </p:nvSpPr>
        <p:spPr>
          <a:xfrm>
            <a:off x="3913361" y="221600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23" name="TextBox 22">
            <a:extLst>
              <a:ext uri="{FF2B5EF4-FFF2-40B4-BE49-F238E27FC236}">
                <a16:creationId xmlns:a16="http://schemas.microsoft.com/office/drawing/2014/main" id="{CC59A984-701F-4B16-8E24-FEC511B93458}"/>
              </a:ext>
            </a:extLst>
          </p:cNvPr>
          <p:cNvSpPr txBox="1"/>
          <p:nvPr/>
        </p:nvSpPr>
        <p:spPr>
          <a:xfrm>
            <a:off x="7296042" y="4398478"/>
            <a:ext cx="654626"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363022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operations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59628" y="2022714"/>
                <a:ext cx="10058400" cy="4023360"/>
              </a:xfrm>
            </p:spPr>
            <p:txBody>
              <a:bodyPr>
                <a:normAutofit/>
              </a:bodyPr>
              <a:lstStyle/>
              <a:p>
                <a:pPr lvl="1"/>
                <a:r>
                  <a:rPr lang="en-US" sz="2400" dirty="0"/>
                  <a:t>BuildHeap (</a:t>
                </a:r>
                <a:r>
                  <a:rPr lang="en-US" sz="2400" dirty="0" err="1"/>
                  <a:t>arr</a:t>
                </a:r>
                <a:r>
                  <a:rPr lang="en-US" sz="2400" dirty="0"/>
                  <a:t>):</a:t>
                </a:r>
              </a:p>
              <a:p>
                <a:pPr lvl="2"/>
                <a:r>
                  <a:rPr lang="en-US" sz="2400" dirty="0"/>
                  <a:t>Create a heap out of a given array of elements.</a:t>
                </a:r>
              </a:p>
              <a:p>
                <a:pPr lvl="3"/>
                <a14:m>
                  <m:oMath xmlns:m="http://schemas.openxmlformats.org/officeDocument/2006/math">
                    <m:r>
                      <a:rPr lang="en-US" sz="2400" i="1" dirty="0" smtClean="0">
                        <a:latin typeface="Cambria Math" panose="02040503050406030204" pitchFamily="18" charset="0"/>
                      </a:rPr>
                      <m:t>𝑛</m:t>
                    </m:r>
                  </m:oMath>
                </a14:m>
                <a:r>
                  <a:rPr lang="en-US" sz="2400" dirty="0"/>
                  <a:t> </a:t>
                </a:r>
                <a:r>
                  <a:rPr lang="en-US" sz="2400" dirty="0">
                    <a:sym typeface="Symbol" panose="05050102010706020507" pitchFamily="18" charset="2"/>
                  </a:rPr>
                  <a:t></a:t>
                </a:r>
                <a:r>
                  <a:rPr lang="en-US" sz="2400" dirty="0"/>
                  <a:t> length(</a:t>
                </a:r>
                <a:r>
                  <a:rPr lang="en-US" sz="2400" dirty="0" err="1"/>
                  <a:t>arr</a:t>
                </a:r>
                <a:r>
                  <a:rPr lang="en-US" sz="2400" dirty="0"/>
                  <a:t>)</a:t>
                </a:r>
              </a:p>
              <a:p>
                <a:pPr lvl="3"/>
                <a:r>
                  <a:rPr lang="en-US" sz="2400" dirty="0"/>
                  <a:t>For  </a:t>
                </a:r>
                <a14:m>
                  <m:oMath xmlns:m="http://schemas.openxmlformats.org/officeDocument/2006/math">
                    <m:r>
                      <a:rPr lang="en-US" sz="2400" i="1" dirty="0" smtClean="0">
                        <a:latin typeface="Cambria Math" panose="02040503050406030204" pitchFamily="18" charset="0"/>
                      </a:rPr>
                      <m:t>𝑖</m:t>
                    </m:r>
                  </m:oMath>
                </a14:m>
                <a:r>
                  <a:rPr lang="en-US" sz="2400" dirty="0">
                    <a:sym typeface="Symbol" panose="05050102010706020507" pitchFamily="18" charset="2"/>
                  </a:rPr>
                  <a:t> 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/2</m:t>
                    </m:r>
                  </m:oMath>
                </a14:m>
                <a:r>
                  <a:rPr lang="en-US" sz="2400" dirty="0"/>
                  <a:t> to 1:</a:t>
                </a:r>
              </a:p>
              <a:p>
                <a:pPr lvl="4"/>
                <a:r>
                  <a:rPr lang="en-US" sz="2400" dirty="0"/>
                  <a:t>percolate down the element at location </a:t>
                </a:r>
                <a14:m>
                  <m:oMath xmlns:m="http://schemas.openxmlformats.org/officeDocument/2006/math">
                    <m:r>
                      <a:rPr lang="en-US" sz="2400" i="1" dirty="0" smtClean="0">
                        <a:latin typeface="Cambria Math" panose="02040503050406030204" pitchFamily="18" charset="0"/>
                      </a:rPr>
                      <m:t>𝑖</m:t>
                    </m:r>
                  </m:oMath>
                </a14:m>
                <a:endParaRPr lang="en-US" sz="2400" baseline="-250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59628" y="2022714"/>
                <a:ext cx="10058400" cy="4023360"/>
              </a:xfrm>
              <a:blipFill>
                <a:blip r:embed="rId3"/>
                <a:stretch>
                  <a:fillRect t="-2201"/>
                </a:stretch>
              </a:blipFill>
            </p:spPr>
            <p:txBody>
              <a:bodyPr/>
              <a:lstStyle/>
              <a:p>
                <a:r>
                  <a:rPr lang="en-IL">
                    <a:noFill/>
                  </a:rPr>
                  <a:t> </a:t>
                </a:r>
              </a:p>
            </p:txBody>
          </p:sp>
        </mc:Fallback>
      </mc:AlternateContent>
    </p:spTree>
    <p:extLst>
      <p:ext uri="{BB962C8B-B14F-4D97-AF65-F5344CB8AC3E}">
        <p14:creationId xmlns:p14="http://schemas.microsoft.com/office/powerpoint/2010/main" val="831120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fontScale="92500"/>
              </a:bodyPr>
              <a:lstStyle/>
              <a:p>
                <a:pPr lvl="1"/>
                <a:r>
                  <a:rPr lang="en-US" dirty="0"/>
                  <a:t>BuildHeap (</a:t>
                </a:r>
                <a:r>
                  <a:rPr lang="en-US" dirty="0" err="1"/>
                  <a:t>arr</a:t>
                </a:r>
                <a:r>
                  <a:rPr lang="en-US" dirty="0"/>
                  <a:t>):</a:t>
                </a:r>
              </a:p>
              <a:p>
                <a:pPr lvl="2"/>
                <a:r>
                  <a:rPr lang="en-US" sz="1800" b="1" dirty="0"/>
                  <a:t>Create a heap out of a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dirty="0"/>
                  <a:t>For  i</a:t>
                </a:r>
                <a:r>
                  <a:rPr lang="en-US" sz="1800" dirty="0">
                    <a:sym typeface="Symbol" panose="05050102010706020507" pitchFamily="18" charset="2"/>
                  </a:rPr>
                  <a:t>  </a:t>
                </a: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rPr>
                      <m:t>/2</m:t>
                    </m:r>
                  </m:oMath>
                </a14:m>
                <a:r>
                  <a:rPr lang="en-US" sz="1800" dirty="0"/>
                  <a:t> to 1:</a:t>
                </a:r>
              </a:p>
              <a:p>
                <a:pPr lvl="4"/>
                <a:r>
                  <a:rPr lang="en-US" sz="1800" dirty="0"/>
                  <a:t>percolate down the element at</a:t>
                </a:r>
                <a:r>
                  <a:rPr lang="he-IL" sz="1800" dirty="0"/>
                  <a:t> </a:t>
                </a:r>
                <a:r>
                  <a:rPr lang="en-US" sz="1800" dirty="0"/>
                  <a:t>the location </a:t>
                </a:r>
                <a14:m>
                  <m:oMath xmlns:m="http://schemas.openxmlformats.org/officeDocument/2006/math">
                    <m:r>
                      <a:rPr lang="en-US" sz="1800" i="1" dirty="0" smtClean="0">
                        <a:latin typeface="Cambria Math" panose="02040503050406030204" pitchFamily="18" charset="0"/>
                      </a:rPr>
                      <m:t>𝑖</m:t>
                    </m:r>
                  </m:oMath>
                </a14:m>
                <a:endParaRPr lang="en-US"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3"/>
                <a:stretch>
                  <a:fillRect t="-2941"/>
                </a:stretch>
              </a:blipFill>
            </p:spPr>
            <p:txBody>
              <a:bodyPr/>
              <a:lstStyle/>
              <a:p>
                <a:r>
                  <a:rPr lang="en-IL">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35</a:t>
                      </a:r>
                      <a:endParaRPr lang="en-US" dirty="0"/>
                    </a:p>
                  </a:txBody>
                  <a:tcPr/>
                </a:tc>
                <a:tc>
                  <a:txBody>
                    <a:bodyPr/>
                    <a:lstStyle/>
                    <a:p>
                      <a:pPr algn="ctr"/>
                      <a:r>
                        <a:rPr lang="en-GB" dirty="0"/>
                        <a:t>31</a:t>
                      </a:r>
                      <a:endParaRPr lang="en-US" dirty="0"/>
                    </a:p>
                  </a:txBody>
                  <a:tcPr/>
                </a:tc>
                <a:tc>
                  <a:txBody>
                    <a:bodyPr/>
                    <a:lstStyle/>
                    <a:p>
                      <a:pPr algn="ctr"/>
                      <a:r>
                        <a:rPr lang="en-GB" dirty="0"/>
                        <a:t>19</a:t>
                      </a:r>
                      <a:endParaRPr lang="en-US" dirty="0"/>
                    </a:p>
                  </a:txBody>
                  <a:tcPr/>
                </a:tc>
                <a:tc>
                  <a:txBody>
                    <a:bodyPr/>
                    <a:lstStyle/>
                    <a:p>
                      <a:pPr algn="ctr"/>
                      <a:r>
                        <a:rPr lang="en-GB" dirty="0"/>
                        <a:t>26</a:t>
                      </a:r>
                      <a:endParaRPr lang="en-US" dirty="0"/>
                    </a:p>
                  </a:txBody>
                  <a:tcPr/>
                </a:tc>
                <a:tc>
                  <a:txBody>
                    <a:bodyPr/>
                    <a:lstStyle/>
                    <a:p>
                      <a:pPr algn="ctr"/>
                      <a:r>
                        <a:rPr lang="en-GB" dirty="0"/>
                        <a:t>44</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35</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7BA4D9D-2F72-CF68-2B05-AEE298F84DE9}"/>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421105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fontScale="92500"/>
              </a:bodyPr>
              <a:lstStyle/>
              <a:p>
                <a:pPr lvl="1"/>
                <a:r>
                  <a:rPr lang="en-US" dirty="0"/>
                  <a:t>BuildHeap (</a:t>
                </a:r>
                <a:r>
                  <a:rPr lang="en-US" dirty="0" err="1"/>
                  <a:t>arr</a:t>
                </a:r>
                <a:r>
                  <a:rPr lang="en-US" dirty="0"/>
                  <a:t>):</a:t>
                </a:r>
              </a:p>
              <a:p>
                <a:pPr lvl="2"/>
                <a:r>
                  <a:rPr lang="en-US" sz="1800" dirty="0"/>
                  <a:t>Create a heap out of a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b="1" dirty="0"/>
                  <a:t>For  i</a:t>
                </a:r>
                <a:r>
                  <a:rPr lang="en-US" sz="1800" b="1" dirty="0">
                    <a:sym typeface="Symbol" panose="05050102010706020507" pitchFamily="18" charset="2"/>
                  </a:rPr>
                  <a:t>  </a:t>
                </a:r>
                <a14:m>
                  <m:oMath xmlns:m="http://schemas.openxmlformats.org/officeDocument/2006/math">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to 1:</a:t>
                </a:r>
              </a:p>
              <a:p>
                <a:pPr lvl="4"/>
                <a:r>
                  <a:rPr lang="en-US" sz="1800" b="1" dirty="0"/>
                  <a:t>percolate down the element at the location </a:t>
                </a:r>
                <a14:m>
                  <m:oMath xmlns:m="http://schemas.openxmlformats.org/officeDocument/2006/math">
                    <m:r>
                      <a:rPr lang="en-US" sz="1800" b="1" i="1" dirty="0" smtClean="0">
                        <a:latin typeface="Cambria Math" panose="02040503050406030204" pitchFamily="18" charset="0"/>
                      </a:rPr>
                      <m:t>𝒊</m:t>
                    </m:r>
                  </m:oMath>
                </a14:m>
                <a:endParaRPr lang="en-US" b="1"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3"/>
                <a:stretch>
                  <a:fillRect t="-2941"/>
                </a:stretch>
              </a:blipFill>
            </p:spPr>
            <p:txBody>
              <a:bodyPr/>
              <a:lstStyle/>
              <a:p>
                <a:r>
                  <a:rPr lang="en-IL">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35</a:t>
                      </a:r>
                      <a:endParaRPr lang="en-US" dirty="0"/>
                    </a:p>
                  </a:txBody>
                  <a:tcPr/>
                </a:tc>
                <a:tc>
                  <a:txBody>
                    <a:bodyPr/>
                    <a:lstStyle/>
                    <a:p>
                      <a:pPr algn="ctr"/>
                      <a:r>
                        <a:rPr lang="en-GB" dirty="0"/>
                        <a:t>31</a:t>
                      </a:r>
                      <a:endParaRPr lang="en-US" dirty="0"/>
                    </a:p>
                  </a:txBody>
                  <a:tcPr/>
                </a:tc>
                <a:tc>
                  <a:txBody>
                    <a:bodyPr/>
                    <a:lstStyle/>
                    <a:p>
                      <a:pPr algn="ctr"/>
                      <a:r>
                        <a:rPr lang="en-GB" dirty="0"/>
                        <a:t>19</a:t>
                      </a:r>
                      <a:endParaRPr lang="en-US" dirty="0"/>
                    </a:p>
                  </a:txBody>
                  <a:tcPr>
                    <a:solidFill>
                      <a:schemeClr val="bg2">
                        <a:lumMod val="90000"/>
                      </a:schemeClr>
                    </a:solidFill>
                  </a:tcPr>
                </a:tc>
                <a:tc>
                  <a:txBody>
                    <a:bodyPr/>
                    <a:lstStyle/>
                    <a:p>
                      <a:pPr algn="ctr"/>
                      <a:r>
                        <a:rPr lang="en-GB" dirty="0"/>
                        <a:t>26</a:t>
                      </a:r>
                      <a:endParaRPr lang="en-US" dirty="0"/>
                    </a:p>
                  </a:txBody>
                  <a:tcPr/>
                </a:tc>
                <a:tc>
                  <a:txBody>
                    <a:bodyPr/>
                    <a:lstStyle/>
                    <a:p>
                      <a:pPr algn="ctr"/>
                      <a:r>
                        <a:rPr lang="en-GB" dirty="0"/>
                        <a:t>44</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35</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2E5839A-D2FF-6518-7ECD-1253C738C99A}"/>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578360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fontScale="92500"/>
              </a:bodyPr>
              <a:lstStyle/>
              <a:p>
                <a:pPr lvl="1"/>
                <a:r>
                  <a:rPr lang="en-US" dirty="0"/>
                  <a:t>BuildHeap (</a:t>
                </a:r>
                <a:r>
                  <a:rPr lang="en-US" dirty="0" err="1"/>
                  <a:t>arr</a:t>
                </a:r>
                <a:r>
                  <a:rPr lang="en-US" dirty="0"/>
                  <a:t>):</a:t>
                </a:r>
              </a:p>
              <a:p>
                <a:pPr lvl="2"/>
                <a:r>
                  <a:rPr lang="en-US" sz="1800" dirty="0"/>
                  <a:t>Create a heap out of a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b="1" dirty="0"/>
                  <a:t>For  i</a:t>
                </a:r>
                <a:r>
                  <a:rPr lang="en-US" sz="1800" b="1" dirty="0">
                    <a:sym typeface="Symbol" panose="05050102010706020507" pitchFamily="18" charset="2"/>
                  </a:rPr>
                  <a:t>  </a:t>
                </a:r>
                <a14:m>
                  <m:oMath xmlns:m="http://schemas.openxmlformats.org/officeDocument/2006/math">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to 1:</a:t>
                </a:r>
              </a:p>
              <a:p>
                <a:pPr lvl="4"/>
                <a:r>
                  <a:rPr lang="en-US" sz="1800" b="1" dirty="0"/>
                  <a:t>percolate down the element at the location </a:t>
                </a:r>
                <a14:m>
                  <m:oMath xmlns:m="http://schemas.openxmlformats.org/officeDocument/2006/math">
                    <m:r>
                      <a:rPr lang="en-US" sz="1800" b="1" i="1" dirty="0" smtClean="0">
                        <a:latin typeface="Cambria Math" panose="02040503050406030204" pitchFamily="18" charset="0"/>
                      </a:rPr>
                      <m:t>𝒊</m:t>
                    </m:r>
                  </m:oMath>
                </a14:m>
                <a:endParaRPr lang="en-US" b="1"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3"/>
                <a:stretch>
                  <a:fillRect t="-2941"/>
                </a:stretch>
              </a:blipFill>
            </p:spPr>
            <p:txBody>
              <a:bodyPr/>
              <a:lstStyle/>
              <a:p>
                <a:r>
                  <a:rPr lang="en-IL">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35</a:t>
                      </a:r>
                      <a:endParaRPr lang="en-US" dirty="0"/>
                    </a:p>
                  </a:txBody>
                  <a:tcPr/>
                </a:tc>
                <a:tc>
                  <a:txBody>
                    <a:bodyPr/>
                    <a:lstStyle/>
                    <a:p>
                      <a:pPr algn="ctr"/>
                      <a:r>
                        <a:rPr lang="en-GB" dirty="0"/>
                        <a:t>31</a:t>
                      </a:r>
                      <a:endParaRPr lang="en-US" dirty="0"/>
                    </a:p>
                  </a:txBody>
                  <a:tcPr>
                    <a:solidFill>
                      <a:schemeClr val="bg2">
                        <a:lumMod val="90000"/>
                      </a:schemeClr>
                    </a:solidFill>
                  </a:tcPr>
                </a:tc>
                <a:tc>
                  <a:txBody>
                    <a:bodyPr/>
                    <a:lstStyle/>
                    <a:p>
                      <a:pPr algn="ctr"/>
                      <a:r>
                        <a:rPr lang="en-GB" dirty="0"/>
                        <a:t>19</a:t>
                      </a:r>
                      <a:endParaRPr lang="en-US" dirty="0"/>
                    </a:p>
                  </a:txBody>
                  <a:tcPr>
                    <a:solidFill>
                      <a:srgbClr val="FAEDE7"/>
                    </a:solidFill>
                  </a:tcPr>
                </a:tc>
                <a:tc>
                  <a:txBody>
                    <a:bodyPr/>
                    <a:lstStyle/>
                    <a:p>
                      <a:pPr algn="ctr"/>
                      <a:r>
                        <a:rPr lang="en-GB" dirty="0"/>
                        <a:t>26</a:t>
                      </a:r>
                      <a:endParaRPr lang="en-US" dirty="0"/>
                    </a:p>
                  </a:txBody>
                  <a:tcPr/>
                </a:tc>
                <a:tc>
                  <a:txBody>
                    <a:bodyPr/>
                    <a:lstStyle/>
                    <a:p>
                      <a:pPr algn="ctr"/>
                      <a:r>
                        <a:rPr lang="en-GB" dirty="0"/>
                        <a:t>44</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35</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63C288D-5691-E8FD-138D-6976A1A7E501}"/>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3850009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a:bodyPr>
              <a:lstStyle/>
              <a:p>
                <a:pPr lvl="1"/>
                <a:r>
                  <a:rPr lang="en-US" dirty="0"/>
                  <a:t>BuildHeap (</a:t>
                </a:r>
                <a:r>
                  <a:rPr lang="en-US" dirty="0" err="1"/>
                  <a:t>arr</a:t>
                </a:r>
                <a:r>
                  <a:rPr lang="en-US" dirty="0"/>
                  <a:t>):</a:t>
                </a:r>
              </a:p>
              <a:p>
                <a:pPr lvl="2"/>
                <a:r>
                  <a:rPr lang="en-US" sz="1800" dirty="0"/>
                  <a:t>Create a heap out of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b="1" dirty="0"/>
                  <a:t>For  i</a:t>
                </a:r>
                <a:r>
                  <a:rPr lang="en-US" sz="1800" b="1" dirty="0">
                    <a:sym typeface="Symbol" panose="05050102010706020507" pitchFamily="18" charset="2"/>
                  </a:rPr>
                  <a:t>  </a:t>
                </a:r>
                <a14:m>
                  <m:oMath xmlns:m="http://schemas.openxmlformats.org/officeDocument/2006/math">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to 1:</a:t>
                </a:r>
              </a:p>
              <a:p>
                <a:pPr lvl="4"/>
                <a:r>
                  <a:rPr lang="en-US" sz="1800" b="1" dirty="0"/>
                  <a:t>percolate down the element at location </a:t>
                </a:r>
                <a:r>
                  <a:rPr lang="en-US" sz="1800" b="1" dirty="0" err="1"/>
                  <a:t>i</a:t>
                </a:r>
                <a:endParaRPr lang="en-US" b="1"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3"/>
                <a:stretch>
                  <a:fillRect t="-3191" b="-709"/>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35</a:t>
                      </a:r>
                      <a:endParaRPr lang="en-US" dirty="0"/>
                    </a:p>
                  </a:txBody>
                  <a:tcPr/>
                </a:tc>
                <a:tc>
                  <a:txBody>
                    <a:bodyPr/>
                    <a:lstStyle/>
                    <a:p>
                      <a:pPr algn="ctr"/>
                      <a:r>
                        <a:rPr lang="en-GB" dirty="0"/>
                        <a:t>44</a:t>
                      </a:r>
                      <a:endParaRPr lang="en-US" dirty="0"/>
                    </a:p>
                  </a:txBody>
                  <a:tcPr>
                    <a:solidFill>
                      <a:schemeClr val="bg2">
                        <a:lumMod val="90000"/>
                      </a:schemeClr>
                    </a:solidFill>
                  </a:tcPr>
                </a:tc>
                <a:tc>
                  <a:txBody>
                    <a:bodyPr/>
                    <a:lstStyle/>
                    <a:p>
                      <a:pPr algn="ctr"/>
                      <a:r>
                        <a:rPr lang="en-GB" dirty="0"/>
                        <a:t>19</a:t>
                      </a:r>
                      <a:endParaRPr lang="en-US" dirty="0"/>
                    </a:p>
                  </a:txBody>
                  <a:tcPr>
                    <a:solidFill>
                      <a:srgbClr val="FAEDE7"/>
                    </a:solidFill>
                  </a:tcPr>
                </a:tc>
                <a:tc>
                  <a:txBody>
                    <a:bodyPr/>
                    <a:lstStyle/>
                    <a:p>
                      <a:pPr algn="ctr"/>
                      <a:r>
                        <a:rPr lang="en-GB" dirty="0"/>
                        <a:t>26</a:t>
                      </a:r>
                      <a:endParaRPr lang="en-US" dirty="0"/>
                    </a:p>
                  </a:txBody>
                  <a:tcPr/>
                </a:tc>
                <a:tc>
                  <a:txBody>
                    <a:bodyPr/>
                    <a:lstStyle/>
                    <a:p>
                      <a:pPr algn="ctr"/>
                      <a:r>
                        <a:rPr lang="en-GB" dirty="0"/>
                        <a:t>31</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35</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F4A5728-1E90-396A-A52B-138EC99AC65C}"/>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1787588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a:bodyPr>
              <a:lstStyle/>
              <a:p>
                <a:pPr lvl="1"/>
                <a:r>
                  <a:rPr lang="en-US" dirty="0"/>
                  <a:t>BuildHeap (</a:t>
                </a:r>
                <a:r>
                  <a:rPr lang="en-US" dirty="0" err="1"/>
                  <a:t>arr</a:t>
                </a:r>
                <a:r>
                  <a:rPr lang="en-US" dirty="0"/>
                  <a:t>):</a:t>
                </a:r>
              </a:p>
              <a:p>
                <a:pPr lvl="2"/>
                <a:r>
                  <a:rPr lang="en-US" sz="1800" dirty="0"/>
                  <a:t>Create a heap out of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b="1" dirty="0"/>
                  <a:t>For  i</a:t>
                </a:r>
                <a:r>
                  <a:rPr lang="en-US" sz="1800" b="1" dirty="0">
                    <a:sym typeface="Symbol" panose="05050102010706020507" pitchFamily="18" charset="2"/>
                  </a:rPr>
                  <a:t>  </a:t>
                </a:r>
                <a14:m>
                  <m:oMath xmlns:m="http://schemas.openxmlformats.org/officeDocument/2006/math">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to 1:</a:t>
                </a:r>
              </a:p>
              <a:p>
                <a:pPr lvl="4"/>
                <a:r>
                  <a:rPr lang="en-US" sz="1800" b="1" dirty="0"/>
                  <a:t>percolate down the element at location </a:t>
                </a:r>
                <a:r>
                  <a:rPr lang="en-US" sz="1800" b="1" dirty="0" err="1"/>
                  <a:t>i</a:t>
                </a:r>
                <a:endParaRPr lang="en-US" b="1"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3"/>
                <a:stretch>
                  <a:fillRect t="-3191" b="-709"/>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35</a:t>
                      </a:r>
                      <a:endParaRPr lang="en-US" dirty="0"/>
                    </a:p>
                  </a:txBody>
                  <a:tcPr>
                    <a:solidFill>
                      <a:schemeClr val="bg2">
                        <a:lumMod val="90000"/>
                      </a:schemeClr>
                    </a:solidFill>
                  </a:tcPr>
                </a:tc>
                <a:tc>
                  <a:txBody>
                    <a:bodyPr/>
                    <a:lstStyle/>
                    <a:p>
                      <a:pPr algn="ctr"/>
                      <a:r>
                        <a:rPr lang="en-GB" dirty="0"/>
                        <a:t>44</a:t>
                      </a:r>
                      <a:endParaRPr lang="en-US" dirty="0"/>
                    </a:p>
                  </a:txBody>
                  <a:tcPr>
                    <a:solidFill>
                      <a:srgbClr val="FAEDE7"/>
                    </a:solidFill>
                  </a:tcPr>
                </a:tc>
                <a:tc>
                  <a:txBody>
                    <a:bodyPr/>
                    <a:lstStyle/>
                    <a:p>
                      <a:pPr algn="ctr"/>
                      <a:r>
                        <a:rPr lang="en-GB" dirty="0"/>
                        <a:t>19</a:t>
                      </a:r>
                      <a:endParaRPr lang="en-US" dirty="0"/>
                    </a:p>
                  </a:txBody>
                  <a:tcPr>
                    <a:solidFill>
                      <a:srgbClr val="FAEDE7"/>
                    </a:solidFill>
                  </a:tcPr>
                </a:tc>
                <a:tc>
                  <a:txBody>
                    <a:bodyPr/>
                    <a:lstStyle/>
                    <a:p>
                      <a:pPr algn="ctr"/>
                      <a:r>
                        <a:rPr lang="en-GB" dirty="0"/>
                        <a:t>26</a:t>
                      </a:r>
                      <a:endParaRPr lang="en-US" dirty="0"/>
                    </a:p>
                  </a:txBody>
                  <a:tcPr/>
                </a:tc>
                <a:tc>
                  <a:txBody>
                    <a:bodyPr/>
                    <a:lstStyle/>
                    <a:p>
                      <a:pPr algn="ctr"/>
                      <a:r>
                        <a:rPr lang="en-GB" dirty="0"/>
                        <a:t>31</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35</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07DB8C0-CBFC-E5A3-7186-0B76F39D27DE}"/>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2234303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C75-230C-F63F-1B92-251356ED7770}"/>
              </a:ext>
            </a:extLst>
          </p:cNvPr>
          <p:cNvSpPr>
            <a:spLocks noGrp="1"/>
          </p:cNvSpPr>
          <p:nvPr>
            <p:ph type="title"/>
          </p:nvPr>
        </p:nvSpPr>
        <p:spPr/>
        <p:txBody>
          <a:bodyPr/>
          <a:lstStyle/>
          <a:p>
            <a:r>
              <a:rPr lang="en-US" dirty="0"/>
              <a:t>B</a:t>
            </a:r>
            <a:r>
              <a:rPr lang="en-GB" dirty="0" err="1"/>
              <a:t>uildHeap</a:t>
            </a:r>
            <a:r>
              <a:rPr lang="en-GB" dirty="0"/>
              <a:t> - Example</a:t>
            </a: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3B28594-4BB0-F306-E734-2112FAE8CC68}"/>
                  </a:ext>
                </a:extLst>
              </p:cNvPr>
              <p:cNvSpPr>
                <a:spLocks noGrp="1"/>
              </p:cNvSpPr>
              <p:nvPr>
                <p:ph idx="1"/>
              </p:nvPr>
            </p:nvSpPr>
            <p:spPr>
              <a:xfrm>
                <a:off x="6600140" y="1971343"/>
                <a:ext cx="5050754" cy="1717079"/>
              </a:xfrm>
            </p:spPr>
            <p:txBody>
              <a:bodyPr>
                <a:normAutofit/>
              </a:bodyPr>
              <a:lstStyle/>
              <a:p>
                <a:pPr lvl="1"/>
                <a:r>
                  <a:rPr lang="en-US" dirty="0"/>
                  <a:t>BuildHeap (</a:t>
                </a:r>
                <a:r>
                  <a:rPr lang="en-US" dirty="0" err="1"/>
                  <a:t>arr</a:t>
                </a:r>
                <a:r>
                  <a:rPr lang="en-US" dirty="0"/>
                  <a:t>):</a:t>
                </a:r>
              </a:p>
              <a:p>
                <a:pPr lvl="2"/>
                <a:r>
                  <a:rPr lang="en-US" sz="1800" dirty="0"/>
                  <a:t>Create a heap out of given array of elements.</a:t>
                </a:r>
              </a:p>
              <a:p>
                <a:pPr lvl="3"/>
                <a:r>
                  <a:rPr lang="en-US" sz="1800" dirty="0"/>
                  <a:t>n </a:t>
                </a:r>
                <a:r>
                  <a:rPr lang="en-US" sz="1800" dirty="0">
                    <a:sym typeface="Symbol" panose="05050102010706020507" pitchFamily="18" charset="2"/>
                  </a:rPr>
                  <a:t></a:t>
                </a:r>
                <a:r>
                  <a:rPr lang="en-US" sz="1800" dirty="0"/>
                  <a:t> length(</a:t>
                </a:r>
                <a:r>
                  <a:rPr lang="en-US" sz="1800" dirty="0" err="1"/>
                  <a:t>arr</a:t>
                </a:r>
                <a:r>
                  <a:rPr lang="en-US" sz="1800" dirty="0"/>
                  <a:t>)</a:t>
                </a:r>
              </a:p>
              <a:p>
                <a:pPr lvl="3"/>
                <a:r>
                  <a:rPr lang="en-US" sz="1800" b="1" dirty="0"/>
                  <a:t>For  i</a:t>
                </a:r>
                <a:r>
                  <a:rPr lang="en-US" sz="1800" b="1" dirty="0">
                    <a:sym typeface="Symbol" panose="05050102010706020507" pitchFamily="18" charset="2"/>
                  </a:rPr>
                  <a:t>  </a:t>
                </a:r>
                <a14:m>
                  <m:oMath xmlns:m="http://schemas.openxmlformats.org/officeDocument/2006/math">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to 1:</a:t>
                </a:r>
              </a:p>
              <a:p>
                <a:pPr lvl="4"/>
                <a:r>
                  <a:rPr lang="en-US" sz="1800" b="1" dirty="0"/>
                  <a:t>percolate down the element at location </a:t>
                </a:r>
                <a:r>
                  <a:rPr lang="en-US" sz="1800" b="1" dirty="0" err="1"/>
                  <a:t>i</a:t>
                </a:r>
                <a:endParaRPr lang="en-US" b="1" dirty="0"/>
              </a:p>
            </p:txBody>
          </p:sp>
        </mc:Choice>
        <mc:Fallback xmlns="">
          <p:sp>
            <p:nvSpPr>
              <p:cNvPr id="4" name="Content Placeholder 2">
                <a:extLst>
                  <a:ext uri="{FF2B5EF4-FFF2-40B4-BE49-F238E27FC236}">
                    <a16:creationId xmlns:a16="http://schemas.microsoft.com/office/drawing/2014/main" id="{63B28594-4BB0-F306-E734-2112FAE8CC68}"/>
                  </a:ext>
                </a:extLst>
              </p:cNvPr>
              <p:cNvSpPr>
                <a:spLocks noGrp="1" noRot="1" noChangeAspect="1" noMove="1" noResize="1" noEditPoints="1" noAdjustHandles="1" noChangeArrowheads="1" noChangeShapeType="1" noTextEdit="1"/>
              </p:cNvSpPr>
              <p:nvPr>
                <p:ph idx="1"/>
              </p:nvPr>
            </p:nvSpPr>
            <p:spPr>
              <a:xfrm>
                <a:off x="6600140" y="1971343"/>
                <a:ext cx="5050754" cy="1717079"/>
              </a:xfrm>
              <a:blipFill>
                <a:blip r:embed="rId2"/>
                <a:stretch>
                  <a:fillRect t="-3191" b="-709"/>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A767AD8B-3238-A61F-6EBE-8240D2F616FE}"/>
              </a:ext>
            </a:extLst>
          </p:cNvPr>
          <p:cNvGraphicFramePr>
            <a:graphicFrameLocks noGrp="1"/>
          </p:cNvGraphicFramePr>
          <p:nvPr/>
        </p:nvGraphicFramePr>
        <p:xfrm>
          <a:off x="1744325" y="2055306"/>
          <a:ext cx="3146173" cy="370840"/>
        </p:xfrm>
        <a:graphic>
          <a:graphicData uri="http://schemas.openxmlformats.org/drawingml/2006/table">
            <a:tbl>
              <a:tblPr firstRow="1" bandRow="1">
                <a:tableStyleId>{69CF1AB2-1976-4502-BF36-3FF5EA218861}</a:tableStyleId>
              </a:tblPr>
              <a:tblGrid>
                <a:gridCol w="538917">
                  <a:extLst>
                    <a:ext uri="{9D8B030D-6E8A-4147-A177-3AD203B41FA5}">
                      <a16:colId xmlns:a16="http://schemas.microsoft.com/office/drawing/2014/main" val="4041919332"/>
                    </a:ext>
                  </a:extLst>
                </a:gridCol>
                <a:gridCol w="509808">
                  <a:extLst>
                    <a:ext uri="{9D8B030D-6E8A-4147-A177-3AD203B41FA5}">
                      <a16:colId xmlns:a16="http://schemas.microsoft.com/office/drawing/2014/main" val="676084136"/>
                    </a:ext>
                  </a:extLst>
                </a:gridCol>
                <a:gridCol w="524362">
                  <a:extLst>
                    <a:ext uri="{9D8B030D-6E8A-4147-A177-3AD203B41FA5}">
                      <a16:colId xmlns:a16="http://schemas.microsoft.com/office/drawing/2014/main" val="714906362"/>
                    </a:ext>
                  </a:extLst>
                </a:gridCol>
                <a:gridCol w="524362">
                  <a:extLst>
                    <a:ext uri="{9D8B030D-6E8A-4147-A177-3AD203B41FA5}">
                      <a16:colId xmlns:a16="http://schemas.microsoft.com/office/drawing/2014/main" val="1956767276"/>
                    </a:ext>
                  </a:extLst>
                </a:gridCol>
                <a:gridCol w="524362">
                  <a:extLst>
                    <a:ext uri="{9D8B030D-6E8A-4147-A177-3AD203B41FA5}">
                      <a16:colId xmlns:a16="http://schemas.microsoft.com/office/drawing/2014/main" val="4062532164"/>
                    </a:ext>
                  </a:extLst>
                </a:gridCol>
                <a:gridCol w="524362">
                  <a:extLst>
                    <a:ext uri="{9D8B030D-6E8A-4147-A177-3AD203B41FA5}">
                      <a16:colId xmlns:a16="http://schemas.microsoft.com/office/drawing/2014/main" val="482061992"/>
                    </a:ext>
                  </a:extLst>
                </a:gridCol>
              </a:tblGrid>
              <a:tr h="370840">
                <a:tc>
                  <a:txBody>
                    <a:bodyPr/>
                    <a:lstStyle/>
                    <a:p>
                      <a:pPr algn="ctr"/>
                      <a:r>
                        <a:rPr lang="en-GB" dirty="0"/>
                        <a:t>44</a:t>
                      </a:r>
                      <a:endParaRPr lang="en-US" dirty="0"/>
                    </a:p>
                  </a:txBody>
                  <a:tcPr>
                    <a:solidFill>
                      <a:schemeClr val="bg2">
                        <a:lumMod val="90000"/>
                      </a:schemeClr>
                    </a:solidFill>
                  </a:tcPr>
                </a:tc>
                <a:tc>
                  <a:txBody>
                    <a:bodyPr/>
                    <a:lstStyle/>
                    <a:p>
                      <a:pPr algn="ctr"/>
                      <a:r>
                        <a:rPr lang="en-GB" dirty="0"/>
                        <a:t>35</a:t>
                      </a:r>
                      <a:endParaRPr lang="en-US" dirty="0"/>
                    </a:p>
                  </a:txBody>
                  <a:tcPr>
                    <a:solidFill>
                      <a:srgbClr val="FAEDE7"/>
                    </a:solidFill>
                  </a:tcPr>
                </a:tc>
                <a:tc>
                  <a:txBody>
                    <a:bodyPr/>
                    <a:lstStyle/>
                    <a:p>
                      <a:pPr algn="ctr"/>
                      <a:r>
                        <a:rPr lang="en-GB" dirty="0"/>
                        <a:t>19</a:t>
                      </a:r>
                      <a:endParaRPr lang="en-US" dirty="0"/>
                    </a:p>
                  </a:txBody>
                  <a:tcPr>
                    <a:solidFill>
                      <a:srgbClr val="FAEDE7"/>
                    </a:solidFill>
                  </a:tcPr>
                </a:tc>
                <a:tc>
                  <a:txBody>
                    <a:bodyPr/>
                    <a:lstStyle/>
                    <a:p>
                      <a:pPr algn="ctr"/>
                      <a:r>
                        <a:rPr lang="en-GB" dirty="0"/>
                        <a:t>26</a:t>
                      </a:r>
                      <a:endParaRPr lang="en-US" dirty="0"/>
                    </a:p>
                  </a:txBody>
                  <a:tcPr/>
                </a:tc>
                <a:tc>
                  <a:txBody>
                    <a:bodyPr/>
                    <a:lstStyle/>
                    <a:p>
                      <a:pPr algn="ctr"/>
                      <a:r>
                        <a:rPr lang="en-GB" dirty="0"/>
                        <a:t>31</a:t>
                      </a:r>
                      <a:endParaRPr lang="en-US" dirty="0"/>
                    </a:p>
                  </a:txBody>
                  <a:tcPr/>
                </a:tc>
                <a:tc>
                  <a:txBody>
                    <a:bodyPr/>
                    <a:lstStyle/>
                    <a:p>
                      <a:pPr algn="ctr"/>
                      <a:r>
                        <a:rPr lang="en-GB" dirty="0"/>
                        <a:t>10</a:t>
                      </a:r>
                      <a:endParaRPr lang="en-US" dirty="0"/>
                    </a:p>
                  </a:txBody>
                  <a:tcPr/>
                </a:tc>
                <a:extLst>
                  <a:ext uri="{0D108BD9-81ED-4DB2-BD59-A6C34878D82A}">
                    <a16:rowId xmlns:a16="http://schemas.microsoft.com/office/drawing/2014/main" val="2579879128"/>
                  </a:ext>
                </a:extLst>
              </a:tr>
            </a:tbl>
          </a:graphicData>
        </a:graphic>
      </p:graphicFrame>
      <p:cxnSp>
        <p:nvCxnSpPr>
          <p:cNvPr id="7" name="Straight Arrow Connector 6">
            <a:extLst>
              <a:ext uri="{FF2B5EF4-FFF2-40B4-BE49-F238E27FC236}">
                <a16:creationId xmlns:a16="http://schemas.microsoft.com/office/drawing/2014/main" id="{D8F514A3-CEF5-446C-7101-2536C4CA814D}"/>
              </a:ext>
            </a:extLst>
          </p:cNvPr>
          <p:cNvCxnSpPr/>
          <p:nvPr/>
        </p:nvCxnSpPr>
        <p:spPr>
          <a:xfrm>
            <a:off x="3317411" y="2518613"/>
            <a:ext cx="0" cy="403736"/>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FE49DED-2896-7CBC-CEC3-29D6318554FB}"/>
              </a:ext>
            </a:extLst>
          </p:cNvPr>
          <p:cNvSpPr/>
          <p:nvPr/>
        </p:nvSpPr>
        <p:spPr>
          <a:xfrm>
            <a:off x="3132684" y="3059546"/>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44</a:t>
            </a:r>
            <a:endParaRPr lang="en-US" sz="1400" dirty="0">
              <a:solidFill>
                <a:schemeClr val="tx1"/>
              </a:solidFill>
            </a:endParaRPr>
          </a:p>
        </p:txBody>
      </p:sp>
      <p:sp>
        <p:nvSpPr>
          <p:cNvPr id="9" name="Oval 8">
            <a:extLst>
              <a:ext uri="{FF2B5EF4-FFF2-40B4-BE49-F238E27FC236}">
                <a16:creationId xmlns:a16="http://schemas.microsoft.com/office/drawing/2014/main" id="{68E01C05-02FB-F53A-DF35-99BE92EBDF61}"/>
              </a:ext>
            </a:extLst>
          </p:cNvPr>
          <p:cNvSpPr/>
          <p:nvPr/>
        </p:nvSpPr>
        <p:spPr>
          <a:xfrm>
            <a:off x="2049259"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10" name="Oval 9">
            <a:extLst>
              <a:ext uri="{FF2B5EF4-FFF2-40B4-BE49-F238E27FC236}">
                <a16:creationId xmlns:a16="http://schemas.microsoft.com/office/drawing/2014/main" id="{59B88A8C-2D01-78D5-739A-20882E4D944F}"/>
              </a:ext>
            </a:extLst>
          </p:cNvPr>
          <p:cNvSpPr/>
          <p:nvPr/>
        </p:nvSpPr>
        <p:spPr>
          <a:xfrm>
            <a:off x="4155151" y="3517528"/>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1" name="Oval 10">
            <a:extLst>
              <a:ext uri="{FF2B5EF4-FFF2-40B4-BE49-F238E27FC236}">
                <a16:creationId xmlns:a16="http://schemas.microsoft.com/office/drawing/2014/main" id="{BB6E7566-C4B4-7C39-4CF6-965C9A9A821C}"/>
              </a:ext>
            </a:extLst>
          </p:cNvPr>
          <p:cNvSpPr/>
          <p:nvPr/>
        </p:nvSpPr>
        <p:spPr>
          <a:xfrm>
            <a:off x="360961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sp>
        <p:nvSpPr>
          <p:cNvPr id="13" name="Oval 12">
            <a:extLst>
              <a:ext uri="{FF2B5EF4-FFF2-40B4-BE49-F238E27FC236}">
                <a16:creationId xmlns:a16="http://schemas.microsoft.com/office/drawing/2014/main" id="{2CECAEA3-453B-A0EE-7B37-973A68B76990}"/>
              </a:ext>
            </a:extLst>
          </p:cNvPr>
          <p:cNvSpPr/>
          <p:nvPr/>
        </p:nvSpPr>
        <p:spPr>
          <a:xfrm>
            <a:off x="1523969"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14" name="Oval 13">
            <a:extLst>
              <a:ext uri="{FF2B5EF4-FFF2-40B4-BE49-F238E27FC236}">
                <a16:creationId xmlns:a16="http://schemas.microsoft.com/office/drawing/2014/main" id="{08085B09-A68E-DB68-46A8-C3013418356D}"/>
              </a:ext>
            </a:extLst>
          </p:cNvPr>
          <p:cNvSpPr/>
          <p:nvPr/>
        </p:nvSpPr>
        <p:spPr>
          <a:xfrm>
            <a:off x="2596766" y="419971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5" name="Straight Arrow Connector 14">
            <a:extLst>
              <a:ext uri="{FF2B5EF4-FFF2-40B4-BE49-F238E27FC236}">
                <a16:creationId xmlns:a16="http://schemas.microsoft.com/office/drawing/2014/main" id="{F2A7A83A-5753-0669-CF96-37AE3DC306BD}"/>
              </a:ext>
            </a:extLst>
          </p:cNvPr>
          <p:cNvCxnSpPr>
            <a:cxnSpLocks/>
            <a:stCxn id="8" idx="5"/>
            <a:endCxn id="10" idx="1"/>
          </p:cNvCxnSpPr>
          <p:nvPr/>
        </p:nvCxnSpPr>
        <p:spPr>
          <a:xfrm>
            <a:off x="3448033" y="3374895"/>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7D0DBEE-9EC0-8FB9-5AE0-ABCBCF87FCB5}"/>
              </a:ext>
            </a:extLst>
          </p:cNvPr>
          <p:cNvCxnSpPr>
            <a:cxnSpLocks/>
            <a:stCxn id="8" idx="3"/>
            <a:endCxn id="9" idx="7"/>
          </p:cNvCxnSpPr>
          <p:nvPr/>
        </p:nvCxnSpPr>
        <p:spPr>
          <a:xfrm flipH="1">
            <a:off x="2364608" y="3374895"/>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BE6572-88BB-1347-2478-BA79FA2E1561}"/>
              </a:ext>
            </a:extLst>
          </p:cNvPr>
          <p:cNvCxnSpPr>
            <a:stCxn id="10" idx="3"/>
            <a:endCxn id="11" idx="0"/>
          </p:cNvCxnSpPr>
          <p:nvPr/>
        </p:nvCxnSpPr>
        <p:spPr>
          <a:xfrm flipH="1">
            <a:off x="3794343" y="3832877"/>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4681CF-6178-34B8-4877-10BF9B829B5D}"/>
              </a:ext>
            </a:extLst>
          </p:cNvPr>
          <p:cNvCxnSpPr>
            <a:cxnSpLocks/>
            <a:stCxn id="9" idx="5"/>
            <a:endCxn id="14" idx="0"/>
          </p:cNvCxnSpPr>
          <p:nvPr/>
        </p:nvCxnSpPr>
        <p:spPr>
          <a:xfrm>
            <a:off x="2364608" y="3832877"/>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0AA99B-EBFB-409E-77F9-B449BDE275C7}"/>
              </a:ext>
            </a:extLst>
          </p:cNvPr>
          <p:cNvCxnSpPr>
            <a:cxnSpLocks/>
            <a:stCxn id="9" idx="3"/>
            <a:endCxn id="13" idx="0"/>
          </p:cNvCxnSpPr>
          <p:nvPr/>
        </p:nvCxnSpPr>
        <p:spPr>
          <a:xfrm flipH="1">
            <a:off x="1708696" y="3832877"/>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1139EBC-43B3-CD02-B35D-F1E4FFEB14B0}"/>
              </a:ext>
            </a:extLst>
          </p:cNvPr>
          <p:cNvSpPr txBox="1"/>
          <p:nvPr/>
        </p:nvSpPr>
        <p:spPr>
          <a:xfrm>
            <a:off x="1848621" y="1764841"/>
            <a:ext cx="2977097" cy="307777"/>
          </a:xfrm>
          <a:prstGeom prst="rect">
            <a:avLst/>
          </a:prstGeom>
          <a:noFill/>
        </p:spPr>
        <p:txBody>
          <a:bodyPr wrap="none" rtlCol="0">
            <a:spAutoFit/>
          </a:bodyPr>
          <a:lstStyle/>
          <a:p>
            <a:r>
              <a:rPr lang="en-GB" sz="1400" dirty="0"/>
              <a:t>1           2           3           4            5          6</a:t>
            </a:r>
            <a:endParaRPr lang="en-US" sz="1400" dirty="0"/>
          </a:p>
        </p:txBody>
      </p:sp>
    </p:spTree>
    <p:extLst>
      <p:ext uri="{BB962C8B-B14F-4D97-AF65-F5344CB8AC3E}">
        <p14:creationId xmlns:p14="http://schemas.microsoft.com/office/powerpoint/2010/main" val="28264223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2.1</a:t>
            </a:r>
          </a:p>
        </p:txBody>
      </p:sp>
      <p:sp>
        <p:nvSpPr>
          <p:cNvPr id="3" name="Content Placeholder 2"/>
          <p:cNvSpPr>
            <a:spLocks noGrp="1"/>
          </p:cNvSpPr>
          <p:nvPr>
            <p:ph idx="1"/>
          </p:nvPr>
        </p:nvSpPr>
        <p:spPr/>
        <p:txBody>
          <a:bodyPr>
            <a:normAutofit/>
          </a:bodyPr>
          <a:lstStyle/>
          <a:p>
            <a:pPr lvl="1"/>
            <a:r>
              <a:rPr lang="en-US" sz="2400" dirty="0"/>
              <a:t>Finding the value of the maximal element in the heap is trivial.</a:t>
            </a:r>
          </a:p>
          <a:p>
            <a:pPr lvl="1"/>
            <a:r>
              <a:rPr lang="en-US" sz="2400" dirty="0"/>
              <a:t>How can we find the value of the second largest element?</a:t>
            </a:r>
          </a:p>
          <a:p>
            <a:pPr lvl="1"/>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pic>
        <p:nvPicPr>
          <p:cNvPr id="12" name="Picture 11"/>
          <p:cNvPicPr>
            <a:picLocks noChangeAspect="1"/>
          </p:cNvPicPr>
          <p:nvPr/>
        </p:nvPicPr>
        <p:blipFill>
          <a:blip r:embed="rId3"/>
          <a:stretch>
            <a:fillRect/>
          </a:stretch>
        </p:blipFill>
        <p:spPr>
          <a:xfrm>
            <a:off x="7998204" y="3330430"/>
            <a:ext cx="2458227" cy="2173710"/>
          </a:xfrm>
          <a:prstGeom prst="rect">
            <a:avLst/>
          </a:prstGeom>
        </p:spPr>
      </p:pic>
    </p:spTree>
    <p:extLst>
      <p:ext uri="{BB962C8B-B14F-4D97-AF65-F5344CB8AC3E}">
        <p14:creationId xmlns:p14="http://schemas.microsoft.com/office/powerpoint/2010/main" val="6001305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dirty="0"/>
                  <a:t>Finding the value of the maximal element in the heap is trivial.</a:t>
                </a:r>
              </a:p>
              <a:p>
                <a:pPr lvl="1"/>
                <a:r>
                  <a:rPr lang="en-US" sz="2400" dirty="0"/>
                  <a:t>How can we find the value of the second largest element?</a:t>
                </a:r>
              </a:p>
              <a:p>
                <a:pPr lvl="1"/>
                <a:endParaRPr lang="en-US" sz="2400" dirty="0"/>
              </a:p>
              <a:p>
                <a:pPr lvl="1"/>
                <a:r>
                  <a:rPr lang="en-US" sz="2400" b="1" dirty="0"/>
                  <a:t>Answer:</a:t>
                </a:r>
              </a:p>
              <a:p>
                <a:pPr lvl="1"/>
                <a:r>
                  <a:rPr lang="en-US" sz="2400" dirty="0"/>
                  <a:t>It must be a child of the root, one of the nodes in the second level.</a:t>
                </a:r>
              </a:p>
              <a:p>
                <a:pPr lvl="1"/>
                <a:r>
                  <a:rPr lang="en-US" sz="2400" dirty="0"/>
                  <a:t>Just compare the two candidates.</a:t>
                </a:r>
              </a:p>
              <a:p>
                <a:pPr lvl="1"/>
                <a:r>
                  <a:rPr lang="en-US" sz="2400" dirty="0"/>
                  <a:t>Time complexity: </a:t>
                </a:r>
                <a14:m>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(1)</m:t>
                    </m:r>
                  </m:oMath>
                </a14:m>
                <a:r>
                  <a:rPr lang="en-US" sz="2400" dirty="0"/>
                  <a:t>.</a:t>
                </a:r>
              </a:p>
              <a:p>
                <a:pPr lvl="1"/>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01"/>
                </a:stretch>
              </a:blipFill>
            </p:spPr>
            <p:txBody>
              <a:bodyPr/>
              <a:lstStyle/>
              <a:p>
                <a:r>
                  <a:rPr lang="en-IL">
                    <a:noFill/>
                  </a:rPr>
                  <a:t> </a:t>
                </a:r>
              </a:p>
            </p:txBody>
          </p:sp>
        </mc:Fallback>
      </mc:AlternateContent>
      <p:pic>
        <p:nvPicPr>
          <p:cNvPr id="12" name="Picture 11"/>
          <p:cNvPicPr>
            <a:picLocks noChangeAspect="1"/>
          </p:cNvPicPr>
          <p:nvPr/>
        </p:nvPicPr>
        <p:blipFill>
          <a:blip r:embed="rId3"/>
          <a:stretch>
            <a:fillRect/>
          </a:stretch>
        </p:blipFill>
        <p:spPr>
          <a:xfrm>
            <a:off x="9433713" y="4033786"/>
            <a:ext cx="2458227" cy="2173710"/>
          </a:xfrm>
          <a:prstGeom prst="rect">
            <a:avLst/>
          </a:prstGeom>
        </p:spPr>
      </p:pic>
      <p:sp>
        <p:nvSpPr>
          <p:cNvPr id="16" name="Freeform 15"/>
          <p:cNvSpPr/>
          <p:nvPr/>
        </p:nvSpPr>
        <p:spPr>
          <a:xfrm>
            <a:off x="9670174" y="4476619"/>
            <a:ext cx="2221766" cy="798737"/>
          </a:xfrm>
          <a:custGeom>
            <a:avLst/>
            <a:gdLst>
              <a:gd name="connsiteX0" fmla="*/ 1030530 w 2221766"/>
              <a:gd name="connsiteY0" fmla="*/ 744208 h 798737"/>
              <a:gd name="connsiteX1" fmla="*/ 858555 w 2221766"/>
              <a:gd name="connsiteY1" fmla="*/ 735819 h 798737"/>
              <a:gd name="connsiteX2" fmla="*/ 543968 w 2221766"/>
              <a:gd name="connsiteY2" fmla="*/ 731625 h 798737"/>
              <a:gd name="connsiteX3" fmla="*/ 522996 w 2221766"/>
              <a:gd name="connsiteY3" fmla="*/ 723236 h 798737"/>
              <a:gd name="connsiteX4" fmla="*/ 510412 w 2221766"/>
              <a:gd name="connsiteY4" fmla="*/ 710652 h 798737"/>
              <a:gd name="connsiteX5" fmla="*/ 493634 w 2221766"/>
              <a:gd name="connsiteY5" fmla="*/ 706458 h 798737"/>
              <a:gd name="connsiteX6" fmla="*/ 472662 w 2221766"/>
              <a:gd name="connsiteY6" fmla="*/ 698069 h 798737"/>
              <a:gd name="connsiteX7" fmla="*/ 455884 w 2221766"/>
              <a:gd name="connsiteY7" fmla="*/ 693874 h 798737"/>
              <a:gd name="connsiteX8" fmla="*/ 434911 w 2221766"/>
              <a:gd name="connsiteY8" fmla="*/ 685485 h 798737"/>
              <a:gd name="connsiteX9" fmla="*/ 418133 w 2221766"/>
              <a:gd name="connsiteY9" fmla="*/ 672902 h 798737"/>
              <a:gd name="connsiteX10" fmla="*/ 384577 w 2221766"/>
              <a:gd name="connsiteY10" fmla="*/ 668707 h 798737"/>
              <a:gd name="connsiteX11" fmla="*/ 359410 w 2221766"/>
              <a:gd name="connsiteY11" fmla="*/ 656124 h 798737"/>
              <a:gd name="connsiteX12" fmla="*/ 334244 w 2221766"/>
              <a:gd name="connsiteY12" fmla="*/ 647735 h 798737"/>
              <a:gd name="connsiteX13" fmla="*/ 304882 w 2221766"/>
              <a:gd name="connsiteY13" fmla="*/ 635151 h 798737"/>
              <a:gd name="connsiteX14" fmla="*/ 271326 w 2221766"/>
              <a:gd name="connsiteY14" fmla="*/ 618373 h 798737"/>
              <a:gd name="connsiteX15" fmla="*/ 254548 w 2221766"/>
              <a:gd name="connsiteY15" fmla="*/ 614179 h 798737"/>
              <a:gd name="connsiteX16" fmla="*/ 208409 w 2221766"/>
              <a:gd name="connsiteY16" fmla="*/ 601595 h 798737"/>
              <a:gd name="connsiteX17" fmla="*/ 191631 w 2221766"/>
              <a:gd name="connsiteY17" fmla="*/ 593206 h 798737"/>
              <a:gd name="connsiteX18" fmla="*/ 179047 w 2221766"/>
              <a:gd name="connsiteY18" fmla="*/ 584817 h 798737"/>
              <a:gd name="connsiteX19" fmla="*/ 153880 w 2221766"/>
              <a:gd name="connsiteY19" fmla="*/ 580623 h 798737"/>
              <a:gd name="connsiteX20" fmla="*/ 116130 w 2221766"/>
              <a:gd name="connsiteY20" fmla="*/ 559650 h 798737"/>
              <a:gd name="connsiteX21" fmla="*/ 99352 w 2221766"/>
              <a:gd name="connsiteY21" fmla="*/ 547067 h 798737"/>
              <a:gd name="connsiteX22" fmla="*/ 78379 w 2221766"/>
              <a:gd name="connsiteY22" fmla="*/ 542872 h 798737"/>
              <a:gd name="connsiteX23" fmla="*/ 61601 w 2221766"/>
              <a:gd name="connsiteY23" fmla="*/ 534483 h 798737"/>
              <a:gd name="connsiteX24" fmla="*/ 36434 w 2221766"/>
              <a:gd name="connsiteY24" fmla="*/ 509316 h 798737"/>
              <a:gd name="connsiteX25" fmla="*/ 7073 w 2221766"/>
              <a:gd name="connsiteY25" fmla="*/ 488344 h 798737"/>
              <a:gd name="connsiteX26" fmla="*/ 7073 w 2221766"/>
              <a:gd name="connsiteY26" fmla="*/ 387676 h 798737"/>
              <a:gd name="connsiteX27" fmla="*/ 15462 w 2221766"/>
              <a:gd name="connsiteY27" fmla="*/ 366704 h 798737"/>
              <a:gd name="connsiteX28" fmla="*/ 19656 w 2221766"/>
              <a:gd name="connsiteY28" fmla="*/ 341537 h 798737"/>
              <a:gd name="connsiteX29" fmla="*/ 36434 w 2221766"/>
              <a:gd name="connsiteY29" fmla="*/ 303786 h 798737"/>
              <a:gd name="connsiteX30" fmla="*/ 53212 w 2221766"/>
              <a:gd name="connsiteY30" fmla="*/ 278619 h 798737"/>
              <a:gd name="connsiteX31" fmla="*/ 61601 w 2221766"/>
              <a:gd name="connsiteY31" fmla="*/ 266036 h 798737"/>
              <a:gd name="connsiteX32" fmla="*/ 90963 w 2221766"/>
              <a:gd name="connsiteY32" fmla="*/ 219896 h 798737"/>
              <a:gd name="connsiteX33" fmla="*/ 90963 w 2221766"/>
              <a:gd name="connsiteY33" fmla="*/ 219896 h 798737"/>
              <a:gd name="connsiteX34" fmla="*/ 103546 w 2221766"/>
              <a:gd name="connsiteY34" fmla="*/ 190535 h 798737"/>
              <a:gd name="connsiteX35" fmla="*/ 141297 w 2221766"/>
              <a:gd name="connsiteY35" fmla="*/ 161173 h 798737"/>
              <a:gd name="connsiteX36" fmla="*/ 191631 w 2221766"/>
              <a:gd name="connsiteY36" fmla="*/ 123423 h 798737"/>
              <a:gd name="connsiteX37" fmla="*/ 212603 w 2221766"/>
              <a:gd name="connsiteY37" fmla="*/ 110839 h 798737"/>
              <a:gd name="connsiteX38" fmla="*/ 271326 w 2221766"/>
              <a:gd name="connsiteY38" fmla="*/ 89867 h 798737"/>
              <a:gd name="connsiteX39" fmla="*/ 296493 w 2221766"/>
              <a:gd name="connsiteY39" fmla="*/ 81478 h 798737"/>
              <a:gd name="connsiteX40" fmla="*/ 321660 w 2221766"/>
              <a:gd name="connsiteY40" fmla="*/ 73089 h 798737"/>
              <a:gd name="connsiteX41" fmla="*/ 342633 w 2221766"/>
              <a:gd name="connsiteY41" fmla="*/ 68894 h 798737"/>
              <a:gd name="connsiteX42" fmla="*/ 380383 w 2221766"/>
              <a:gd name="connsiteY42" fmla="*/ 52116 h 798737"/>
              <a:gd name="connsiteX43" fmla="*/ 405550 w 2221766"/>
              <a:gd name="connsiteY43" fmla="*/ 43727 h 798737"/>
              <a:gd name="connsiteX44" fmla="*/ 426522 w 2221766"/>
              <a:gd name="connsiteY44" fmla="*/ 35338 h 798737"/>
              <a:gd name="connsiteX45" fmla="*/ 464273 w 2221766"/>
              <a:gd name="connsiteY45" fmla="*/ 31144 h 798737"/>
              <a:gd name="connsiteX46" fmla="*/ 506218 w 2221766"/>
              <a:gd name="connsiteY46" fmla="*/ 22755 h 798737"/>
              <a:gd name="connsiteX47" fmla="*/ 611080 w 2221766"/>
              <a:gd name="connsiteY47" fmla="*/ 14366 h 798737"/>
              <a:gd name="connsiteX48" fmla="*/ 791444 w 2221766"/>
              <a:gd name="connsiteY48" fmla="*/ 10171 h 798737"/>
              <a:gd name="connsiteX49" fmla="*/ 871139 w 2221766"/>
              <a:gd name="connsiteY49" fmla="*/ 18560 h 798737"/>
              <a:gd name="connsiteX50" fmla="*/ 1034724 w 2221766"/>
              <a:gd name="connsiteY50" fmla="*/ 10171 h 798737"/>
              <a:gd name="connsiteX51" fmla="*/ 1143781 w 2221766"/>
              <a:gd name="connsiteY51" fmla="*/ 14366 h 798737"/>
              <a:gd name="connsiteX52" fmla="*/ 1168948 w 2221766"/>
              <a:gd name="connsiteY52" fmla="*/ 18560 h 798737"/>
              <a:gd name="connsiteX53" fmla="*/ 1554842 w 2221766"/>
              <a:gd name="connsiteY53" fmla="*/ 26949 h 798737"/>
              <a:gd name="connsiteX54" fmla="*/ 1617759 w 2221766"/>
              <a:gd name="connsiteY54" fmla="*/ 35338 h 798737"/>
              <a:gd name="connsiteX55" fmla="*/ 1705844 w 2221766"/>
              <a:gd name="connsiteY55" fmla="*/ 43727 h 798737"/>
              <a:gd name="connsiteX56" fmla="*/ 1798122 w 2221766"/>
              <a:gd name="connsiteY56" fmla="*/ 60505 h 798737"/>
              <a:gd name="connsiteX57" fmla="*/ 1886207 w 2221766"/>
              <a:gd name="connsiteY57" fmla="*/ 77283 h 798737"/>
              <a:gd name="connsiteX58" fmla="*/ 1902985 w 2221766"/>
              <a:gd name="connsiteY58" fmla="*/ 81478 h 798737"/>
              <a:gd name="connsiteX59" fmla="*/ 1928152 w 2221766"/>
              <a:gd name="connsiteY59" fmla="*/ 94061 h 798737"/>
              <a:gd name="connsiteX60" fmla="*/ 2121099 w 2221766"/>
              <a:gd name="connsiteY60" fmla="*/ 177951 h 798737"/>
              <a:gd name="connsiteX61" fmla="*/ 2175627 w 2221766"/>
              <a:gd name="connsiteY61" fmla="*/ 232480 h 798737"/>
              <a:gd name="connsiteX62" fmla="*/ 2196599 w 2221766"/>
              <a:gd name="connsiteY62" fmla="*/ 274425 h 798737"/>
              <a:gd name="connsiteX63" fmla="*/ 2221766 w 2221766"/>
              <a:gd name="connsiteY63" fmla="*/ 354120 h 798737"/>
              <a:gd name="connsiteX64" fmla="*/ 2217572 w 2221766"/>
              <a:gd name="connsiteY64" fmla="*/ 425426 h 798737"/>
              <a:gd name="connsiteX65" fmla="*/ 2184016 w 2221766"/>
              <a:gd name="connsiteY65" fmla="*/ 488344 h 798737"/>
              <a:gd name="connsiteX66" fmla="*/ 2146266 w 2221766"/>
              <a:gd name="connsiteY66" fmla="*/ 551261 h 798737"/>
              <a:gd name="connsiteX67" fmla="*/ 2121099 w 2221766"/>
              <a:gd name="connsiteY67" fmla="*/ 584817 h 798737"/>
              <a:gd name="connsiteX68" fmla="*/ 2112710 w 2221766"/>
              <a:gd name="connsiteY68" fmla="*/ 597401 h 798737"/>
              <a:gd name="connsiteX69" fmla="*/ 2053987 w 2221766"/>
              <a:gd name="connsiteY69" fmla="*/ 618373 h 798737"/>
              <a:gd name="connsiteX70" fmla="*/ 2007847 w 2221766"/>
              <a:gd name="connsiteY70" fmla="*/ 647735 h 798737"/>
              <a:gd name="connsiteX71" fmla="*/ 1974291 w 2221766"/>
              <a:gd name="connsiteY71" fmla="*/ 668707 h 798737"/>
              <a:gd name="connsiteX72" fmla="*/ 1915568 w 2221766"/>
              <a:gd name="connsiteY72" fmla="*/ 681291 h 798737"/>
              <a:gd name="connsiteX73" fmla="*/ 1898790 w 2221766"/>
              <a:gd name="connsiteY73" fmla="*/ 689680 h 798737"/>
              <a:gd name="connsiteX74" fmla="*/ 1886207 w 2221766"/>
              <a:gd name="connsiteY74" fmla="*/ 698069 h 798737"/>
              <a:gd name="connsiteX75" fmla="*/ 1861040 w 2221766"/>
              <a:gd name="connsiteY75" fmla="*/ 710652 h 798737"/>
              <a:gd name="connsiteX76" fmla="*/ 1793928 w 2221766"/>
              <a:gd name="connsiteY76" fmla="*/ 752597 h 798737"/>
              <a:gd name="connsiteX77" fmla="*/ 1747788 w 2221766"/>
              <a:gd name="connsiteY77" fmla="*/ 773570 h 798737"/>
              <a:gd name="connsiteX78" fmla="*/ 1710038 w 2221766"/>
              <a:gd name="connsiteY78" fmla="*/ 794542 h 798737"/>
              <a:gd name="connsiteX79" fmla="*/ 1676482 w 2221766"/>
              <a:gd name="connsiteY79" fmla="*/ 798737 h 798737"/>
              <a:gd name="connsiteX80" fmla="*/ 1454174 w 2221766"/>
              <a:gd name="connsiteY80" fmla="*/ 790348 h 798737"/>
              <a:gd name="connsiteX81" fmla="*/ 1408034 w 2221766"/>
              <a:gd name="connsiteY81" fmla="*/ 777764 h 798737"/>
              <a:gd name="connsiteX82" fmla="*/ 1382867 w 2221766"/>
              <a:gd name="connsiteY82" fmla="*/ 773570 h 798737"/>
              <a:gd name="connsiteX83" fmla="*/ 1366089 w 2221766"/>
              <a:gd name="connsiteY83" fmla="*/ 760986 h 798737"/>
              <a:gd name="connsiteX84" fmla="*/ 1311561 w 2221766"/>
              <a:gd name="connsiteY84" fmla="*/ 748403 h 798737"/>
              <a:gd name="connsiteX85" fmla="*/ 1240255 w 2221766"/>
              <a:gd name="connsiteY85" fmla="*/ 735819 h 798737"/>
              <a:gd name="connsiteX86" fmla="*/ 1147976 w 2221766"/>
              <a:gd name="connsiteY86" fmla="*/ 735819 h 79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221766" h="798737">
                <a:moveTo>
                  <a:pt x="1030530" y="744208"/>
                </a:moveTo>
                <a:cubicBezTo>
                  <a:pt x="973205" y="741412"/>
                  <a:pt x="915945" y="736429"/>
                  <a:pt x="858555" y="735819"/>
                </a:cubicBezTo>
                <a:cubicBezTo>
                  <a:pt x="512296" y="732136"/>
                  <a:pt x="748844" y="750250"/>
                  <a:pt x="543968" y="731625"/>
                </a:cubicBezTo>
                <a:cubicBezTo>
                  <a:pt x="536977" y="728829"/>
                  <a:pt x="529381" y="727227"/>
                  <a:pt x="522996" y="723236"/>
                </a:cubicBezTo>
                <a:cubicBezTo>
                  <a:pt x="517966" y="720092"/>
                  <a:pt x="515563" y="713595"/>
                  <a:pt x="510412" y="710652"/>
                </a:cubicBezTo>
                <a:cubicBezTo>
                  <a:pt x="505407" y="707792"/>
                  <a:pt x="499103" y="708281"/>
                  <a:pt x="493634" y="706458"/>
                </a:cubicBezTo>
                <a:cubicBezTo>
                  <a:pt x="486491" y="704077"/>
                  <a:pt x="479805" y="700450"/>
                  <a:pt x="472662" y="698069"/>
                </a:cubicBezTo>
                <a:cubicBezTo>
                  <a:pt x="467193" y="696246"/>
                  <a:pt x="461353" y="695697"/>
                  <a:pt x="455884" y="693874"/>
                </a:cubicBezTo>
                <a:cubicBezTo>
                  <a:pt x="448741" y="691493"/>
                  <a:pt x="441493" y="689142"/>
                  <a:pt x="434911" y="685485"/>
                </a:cubicBezTo>
                <a:cubicBezTo>
                  <a:pt x="428800" y="682090"/>
                  <a:pt x="424765" y="675113"/>
                  <a:pt x="418133" y="672902"/>
                </a:cubicBezTo>
                <a:cubicBezTo>
                  <a:pt x="407439" y="669337"/>
                  <a:pt x="395762" y="670105"/>
                  <a:pt x="384577" y="668707"/>
                </a:cubicBezTo>
                <a:cubicBezTo>
                  <a:pt x="376188" y="664513"/>
                  <a:pt x="368068" y="659731"/>
                  <a:pt x="359410" y="656124"/>
                </a:cubicBezTo>
                <a:cubicBezTo>
                  <a:pt x="351248" y="652723"/>
                  <a:pt x="342324" y="651326"/>
                  <a:pt x="334244" y="647735"/>
                </a:cubicBezTo>
                <a:cubicBezTo>
                  <a:pt x="297000" y="631182"/>
                  <a:pt x="349265" y="646248"/>
                  <a:pt x="304882" y="635151"/>
                </a:cubicBezTo>
                <a:cubicBezTo>
                  <a:pt x="289469" y="624875"/>
                  <a:pt x="291849" y="625214"/>
                  <a:pt x="271326" y="618373"/>
                </a:cubicBezTo>
                <a:cubicBezTo>
                  <a:pt x="265857" y="616550"/>
                  <a:pt x="260017" y="616002"/>
                  <a:pt x="254548" y="614179"/>
                </a:cubicBezTo>
                <a:cubicBezTo>
                  <a:pt x="214127" y="600706"/>
                  <a:pt x="254052" y="609203"/>
                  <a:pt x="208409" y="601595"/>
                </a:cubicBezTo>
                <a:cubicBezTo>
                  <a:pt x="202816" y="598799"/>
                  <a:pt x="197060" y="596308"/>
                  <a:pt x="191631" y="593206"/>
                </a:cubicBezTo>
                <a:cubicBezTo>
                  <a:pt x="187254" y="590705"/>
                  <a:pt x="183830" y="586411"/>
                  <a:pt x="179047" y="584817"/>
                </a:cubicBezTo>
                <a:cubicBezTo>
                  <a:pt x="170979" y="582128"/>
                  <a:pt x="162269" y="582021"/>
                  <a:pt x="153880" y="580623"/>
                </a:cubicBezTo>
                <a:cubicBezTo>
                  <a:pt x="137885" y="572625"/>
                  <a:pt x="131935" y="570187"/>
                  <a:pt x="116130" y="559650"/>
                </a:cubicBezTo>
                <a:cubicBezTo>
                  <a:pt x="110313" y="555772"/>
                  <a:pt x="105740" y="549906"/>
                  <a:pt x="99352" y="547067"/>
                </a:cubicBezTo>
                <a:cubicBezTo>
                  <a:pt x="92837" y="544171"/>
                  <a:pt x="85370" y="544270"/>
                  <a:pt x="78379" y="542872"/>
                </a:cubicBezTo>
                <a:cubicBezTo>
                  <a:pt x="72786" y="540076"/>
                  <a:pt x="66484" y="538389"/>
                  <a:pt x="61601" y="534483"/>
                </a:cubicBezTo>
                <a:cubicBezTo>
                  <a:pt x="52337" y="527072"/>
                  <a:pt x="47045" y="514622"/>
                  <a:pt x="36434" y="509316"/>
                </a:cubicBezTo>
                <a:cubicBezTo>
                  <a:pt x="14351" y="498274"/>
                  <a:pt x="24077" y="505348"/>
                  <a:pt x="7073" y="488344"/>
                </a:cubicBezTo>
                <a:cubicBezTo>
                  <a:pt x="-3040" y="447896"/>
                  <a:pt x="-1650" y="460365"/>
                  <a:pt x="7073" y="387676"/>
                </a:cubicBezTo>
                <a:cubicBezTo>
                  <a:pt x="7970" y="380200"/>
                  <a:pt x="12666" y="373695"/>
                  <a:pt x="15462" y="366704"/>
                </a:cubicBezTo>
                <a:cubicBezTo>
                  <a:pt x="16860" y="358315"/>
                  <a:pt x="17418" y="349742"/>
                  <a:pt x="19656" y="341537"/>
                </a:cubicBezTo>
                <a:cubicBezTo>
                  <a:pt x="21760" y="333823"/>
                  <a:pt x="31826" y="311466"/>
                  <a:pt x="36434" y="303786"/>
                </a:cubicBezTo>
                <a:cubicBezTo>
                  <a:pt x="41621" y="295140"/>
                  <a:pt x="47619" y="287008"/>
                  <a:pt x="53212" y="278619"/>
                </a:cubicBezTo>
                <a:cubicBezTo>
                  <a:pt x="56008" y="274425"/>
                  <a:pt x="60007" y="270818"/>
                  <a:pt x="61601" y="266036"/>
                </a:cubicBezTo>
                <a:cubicBezTo>
                  <a:pt x="70218" y="240188"/>
                  <a:pt x="63143" y="256989"/>
                  <a:pt x="90963" y="219896"/>
                </a:cubicBezTo>
                <a:lnTo>
                  <a:pt x="90963" y="219896"/>
                </a:lnTo>
                <a:cubicBezTo>
                  <a:pt x="95157" y="210109"/>
                  <a:pt x="98068" y="199665"/>
                  <a:pt x="103546" y="190535"/>
                </a:cubicBezTo>
                <a:cubicBezTo>
                  <a:pt x="112402" y="175775"/>
                  <a:pt x="129648" y="172822"/>
                  <a:pt x="141297" y="161173"/>
                </a:cubicBezTo>
                <a:cubicBezTo>
                  <a:pt x="163459" y="139011"/>
                  <a:pt x="151788" y="149037"/>
                  <a:pt x="191631" y="123423"/>
                </a:cubicBezTo>
                <a:cubicBezTo>
                  <a:pt x="198489" y="119014"/>
                  <a:pt x="205033" y="113867"/>
                  <a:pt x="212603" y="110839"/>
                </a:cubicBezTo>
                <a:cubicBezTo>
                  <a:pt x="245893" y="97523"/>
                  <a:pt x="226430" y="104832"/>
                  <a:pt x="271326" y="89867"/>
                </a:cubicBezTo>
                <a:lnTo>
                  <a:pt x="296493" y="81478"/>
                </a:lnTo>
                <a:cubicBezTo>
                  <a:pt x="304882" y="78682"/>
                  <a:pt x="312989" y="74823"/>
                  <a:pt x="321660" y="73089"/>
                </a:cubicBezTo>
                <a:cubicBezTo>
                  <a:pt x="328651" y="71691"/>
                  <a:pt x="335755" y="70770"/>
                  <a:pt x="342633" y="68894"/>
                </a:cubicBezTo>
                <a:cubicBezTo>
                  <a:pt x="407276" y="51263"/>
                  <a:pt x="340661" y="69770"/>
                  <a:pt x="380383" y="52116"/>
                </a:cubicBezTo>
                <a:cubicBezTo>
                  <a:pt x="388464" y="48525"/>
                  <a:pt x="397240" y="46749"/>
                  <a:pt x="405550" y="43727"/>
                </a:cubicBezTo>
                <a:cubicBezTo>
                  <a:pt x="412626" y="41154"/>
                  <a:pt x="419160" y="36916"/>
                  <a:pt x="426522" y="35338"/>
                </a:cubicBezTo>
                <a:cubicBezTo>
                  <a:pt x="438902" y="32685"/>
                  <a:pt x="451767" y="33119"/>
                  <a:pt x="464273" y="31144"/>
                </a:cubicBezTo>
                <a:cubicBezTo>
                  <a:pt x="478357" y="28920"/>
                  <a:pt x="492052" y="24374"/>
                  <a:pt x="506218" y="22755"/>
                </a:cubicBezTo>
                <a:cubicBezTo>
                  <a:pt x="541057" y="18773"/>
                  <a:pt x="576126" y="17162"/>
                  <a:pt x="611080" y="14366"/>
                </a:cubicBezTo>
                <a:cubicBezTo>
                  <a:pt x="683419" y="-9747"/>
                  <a:pt x="638662" y="1987"/>
                  <a:pt x="791444" y="10171"/>
                </a:cubicBezTo>
                <a:cubicBezTo>
                  <a:pt x="818118" y="11600"/>
                  <a:pt x="844574" y="15764"/>
                  <a:pt x="871139" y="18560"/>
                </a:cubicBezTo>
                <a:cubicBezTo>
                  <a:pt x="925667" y="15764"/>
                  <a:pt x="980130" y="11011"/>
                  <a:pt x="1034724" y="10171"/>
                </a:cubicBezTo>
                <a:cubicBezTo>
                  <a:pt x="1071099" y="9611"/>
                  <a:pt x="1107473" y="12097"/>
                  <a:pt x="1143781" y="14366"/>
                </a:cubicBezTo>
                <a:cubicBezTo>
                  <a:pt x="1152269" y="14897"/>
                  <a:pt x="1160447" y="18300"/>
                  <a:pt x="1168948" y="18560"/>
                </a:cubicBezTo>
                <a:lnTo>
                  <a:pt x="1554842" y="26949"/>
                </a:lnTo>
                <a:cubicBezTo>
                  <a:pt x="1575814" y="29745"/>
                  <a:pt x="1596730" y="33001"/>
                  <a:pt x="1617759" y="35338"/>
                </a:cubicBezTo>
                <a:cubicBezTo>
                  <a:pt x="1647073" y="38595"/>
                  <a:pt x="1676632" y="39651"/>
                  <a:pt x="1705844" y="43727"/>
                </a:cubicBezTo>
                <a:cubicBezTo>
                  <a:pt x="1736808" y="48048"/>
                  <a:pt x="1767363" y="54912"/>
                  <a:pt x="1798122" y="60505"/>
                </a:cubicBezTo>
                <a:cubicBezTo>
                  <a:pt x="1830658" y="66421"/>
                  <a:pt x="1854138" y="70411"/>
                  <a:pt x="1886207" y="77283"/>
                </a:cubicBezTo>
                <a:cubicBezTo>
                  <a:pt x="1891844" y="78491"/>
                  <a:pt x="1897632" y="79337"/>
                  <a:pt x="1902985" y="81478"/>
                </a:cubicBezTo>
                <a:cubicBezTo>
                  <a:pt x="1911693" y="84961"/>
                  <a:pt x="1919411" y="90662"/>
                  <a:pt x="1928152" y="94061"/>
                </a:cubicBezTo>
                <a:cubicBezTo>
                  <a:pt x="2036445" y="136175"/>
                  <a:pt x="2038971" y="125688"/>
                  <a:pt x="2121099" y="177951"/>
                </a:cubicBezTo>
                <a:cubicBezTo>
                  <a:pt x="2141745" y="191089"/>
                  <a:pt x="2160768" y="214319"/>
                  <a:pt x="2175627" y="232480"/>
                </a:cubicBezTo>
                <a:cubicBezTo>
                  <a:pt x="2185501" y="244549"/>
                  <a:pt x="2191369" y="260230"/>
                  <a:pt x="2196599" y="274425"/>
                </a:cubicBezTo>
                <a:cubicBezTo>
                  <a:pt x="2209325" y="308967"/>
                  <a:pt x="2212703" y="322400"/>
                  <a:pt x="2221766" y="354120"/>
                </a:cubicBezTo>
                <a:cubicBezTo>
                  <a:pt x="2220368" y="377889"/>
                  <a:pt x="2222561" y="402145"/>
                  <a:pt x="2217572" y="425426"/>
                </a:cubicBezTo>
                <a:cubicBezTo>
                  <a:pt x="2205638" y="481119"/>
                  <a:pt x="2201798" y="456731"/>
                  <a:pt x="2184016" y="488344"/>
                </a:cubicBezTo>
                <a:cubicBezTo>
                  <a:pt x="2112375" y="615707"/>
                  <a:pt x="2185970" y="502734"/>
                  <a:pt x="2146266" y="551261"/>
                </a:cubicBezTo>
                <a:cubicBezTo>
                  <a:pt x="2137412" y="562082"/>
                  <a:pt x="2128854" y="573183"/>
                  <a:pt x="2121099" y="584817"/>
                </a:cubicBezTo>
                <a:cubicBezTo>
                  <a:pt x="2118303" y="589012"/>
                  <a:pt x="2117219" y="595146"/>
                  <a:pt x="2112710" y="597401"/>
                </a:cubicBezTo>
                <a:cubicBezTo>
                  <a:pt x="2094119" y="606696"/>
                  <a:pt x="2072725" y="609379"/>
                  <a:pt x="2053987" y="618373"/>
                </a:cubicBezTo>
                <a:cubicBezTo>
                  <a:pt x="2037552" y="626262"/>
                  <a:pt x="2023015" y="637623"/>
                  <a:pt x="2007847" y="647735"/>
                </a:cubicBezTo>
                <a:cubicBezTo>
                  <a:pt x="1996114" y="655557"/>
                  <a:pt x="1988335" y="664806"/>
                  <a:pt x="1974291" y="668707"/>
                </a:cubicBezTo>
                <a:cubicBezTo>
                  <a:pt x="1955003" y="674065"/>
                  <a:pt x="1935142" y="677096"/>
                  <a:pt x="1915568" y="681291"/>
                </a:cubicBezTo>
                <a:cubicBezTo>
                  <a:pt x="1909975" y="684087"/>
                  <a:pt x="1904219" y="686578"/>
                  <a:pt x="1898790" y="689680"/>
                </a:cubicBezTo>
                <a:cubicBezTo>
                  <a:pt x="1894413" y="692181"/>
                  <a:pt x="1890614" y="695621"/>
                  <a:pt x="1886207" y="698069"/>
                </a:cubicBezTo>
                <a:cubicBezTo>
                  <a:pt x="1878008" y="702624"/>
                  <a:pt x="1869429" y="706458"/>
                  <a:pt x="1861040" y="710652"/>
                </a:cubicBezTo>
                <a:cubicBezTo>
                  <a:pt x="1832266" y="746620"/>
                  <a:pt x="1853829" y="726553"/>
                  <a:pt x="1793928" y="752597"/>
                </a:cubicBezTo>
                <a:cubicBezTo>
                  <a:pt x="1778435" y="759333"/>
                  <a:pt x="1762275" y="764878"/>
                  <a:pt x="1747788" y="773570"/>
                </a:cubicBezTo>
                <a:cubicBezTo>
                  <a:pt x="1743870" y="775920"/>
                  <a:pt x="1716915" y="792823"/>
                  <a:pt x="1710038" y="794542"/>
                </a:cubicBezTo>
                <a:cubicBezTo>
                  <a:pt x="1699102" y="797276"/>
                  <a:pt x="1687667" y="797339"/>
                  <a:pt x="1676482" y="798737"/>
                </a:cubicBezTo>
                <a:lnTo>
                  <a:pt x="1454174" y="790348"/>
                </a:lnTo>
                <a:cubicBezTo>
                  <a:pt x="1419891" y="788605"/>
                  <a:pt x="1438399" y="786045"/>
                  <a:pt x="1408034" y="777764"/>
                </a:cubicBezTo>
                <a:cubicBezTo>
                  <a:pt x="1399829" y="775526"/>
                  <a:pt x="1391256" y="774968"/>
                  <a:pt x="1382867" y="773570"/>
                </a:cubicBezTo>
                <a:cubicBezTo>
                  <a:pt x="1377274" y="769375"/>
                  <a:pt x="1372453" y="763879"/>
                  <a:pt x="1366089" y="760986"/>
                </a:cubicBezTo>
                <a:cubicBezTo>
                  <a:pt x="1349445" y="753420"/>
                  <a:pt x="1329310" y="751630"/>
                  <a:pt x="1311561" y="748403"/>
                </a:cubicBezTo>
                <a:cubicBezTo>
                  <a:pt x="1289421" y="744378"/>
                  <a:pt x="1260614" y="737017"/>
                  <a:pt x="1240255" y="735819"/>
                </a:cubicBezTo>
                <a:cubicBezTo>
                  <a:pt x="1209548" y="734013"/>
                  <a:pt x="1178736" y="735819"/>
                  <a:pt x="1147976" y="735819"/>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Freeform 16"/>
          <p:cNvSpPr/>
          <p:nvPr/>
        </p:nvSpPr>
        <p:spPr>
          <a:xfrm>
            <a:off x="10688205" y="5216634"/>
            <a:ext cx="121640" cy="21114"/>
          </a:xfrm>
          <a:custGeom>
            <a:avLst/>
            <a:gdLst>
              <a:gd name="connsiteX0" fmla="*/ 0 w 121640"/>
              <a:gd name="connsiteY0" fmla="*/ 8389 h 21114"/>
              <a:gd name="connsiteX1" fmla="*/ 25167 w 121640"/>
              <a:gd name="connsiteY1" fmla="*/ 12583 h 21114"/>
              <a:gd name="connsiteX2" fmla="*/ 54528 w 121640"/>
              <a:gd name="connsiteY2" fmla="*/ 20972 h 21114"/>
              <a:gd name="connsiteX3" fmla="*/ 109057 w 121640"/>
              <a:gd name="connsiteY3" fmla="*/ 16778 h 21114"/>
              <a:gd name="connsiteX4" fmla="*/ 121640 w 121640"/>
              <a:gd name="connsiteY4" fmla="*/ 0 h 21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40" h="21114">
                <a:moveTo>
                  <a:pt x="0" y="8389"/>
                </a:moveTo>
                <a:cubicBezTo>
                  <a:pt x="8389" y="9787"/>
                  <a:pt x="16880" y="10671"/>
                  <a:pt x="25167" y="12583"/>
                </a:cubicBezTo>
                <a:cubicBezTo>
                  <a:pt x="35085" y="14872"/>
                  <a:pt x="44362" y="20464"/>
                  <a:pt x="54528" y="20972"/>
                </a:cubicBezTo>
                <a:cubicBezTo>
                  <a:pt x="72735" y="21882"/>
                  <a:pt x="90881" y="18176"/>
                  <a:pt x="109057" y="16778"/>
                </a:cubicBezTo>
                <a:cubicBezTo>
                  <a:pt x="114239" y="1228"/>
                  <a:pt x="109296" y="6171"/>
                  <a:pt x="121640"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054842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a:t>
            </a:r>
          </a:p>
        </p:txBody>
      </p:sp>
      <p:sp>
        <p:nvSpPr>
          <p:cNvPr id="3" name="Content Placeholder 2"/>
          <p:cNvSpPr>
            <a:spLocks noGrp="1"/>
          </p:cNvSpPr>
          <p:nvPr>
            <p:ph idx="1"/>
          </p:nvPr>
        </p:nvSpPr>
        <p:spPr/>
        <p:txBody>
          <a:bodyPr>
            <a:normAutofit/>
          </a:bodyPr>
          <a:lstStyle/>
          <a:p>
            <a:pPr lvl="1"/>
            <a:r>
              <a:rPr lang="en-US" sz="2400" dirty="0"/>
              <a:t>How about the third largest?</a:t>
            </a:r>
          </a:p>
          <a:p>
            <a:pPr marL="201168" lvl="1" indent="0">
              <a:buNone/>
            </a:pPr>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pic>
        <p:nvPicPr>
          <p:cNvPr id="12" name="Picture 11"/>
          <p:cNvPicPr>
            <a:picLocks noChangeAspect="1"/>
          </p:cNvPicPr>
          <p:nvPr/>
        </p:nvPicPr>
        <p:blipFill>
          <a:blip r:embed="rId2"/>
          <a:stretch>
            <a:fillRect/>
          </a:stretch>
        </p:blipFill>
        <p:spPr>
          <a:xfrm>
            <a:off x="8003711" y="3330430"/>
            <a:ext cx="2458227" cy="2173710"/>
          </a:xfrm>
          <a:prstGeom prst="rect">
            <a:avLst/>
          </a:prstGeom>
        </p:spPr>
      </p:pic>
    </p:spTree>
    <p:extLst>
      <p:ext uri="{BB962C8B-B14F-4D97-AF65-F5344CB8AC3E}">
        <p14:creationId xmlns:p14="http://schemas.microsoft.com/office/powerpoint/2010/main" val="727192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a:t>
            </a:r>
          </a:p>
        </p:txBody>
      </p:sp>
      <p:sp>
        <p:nvSpPr>
          <p:cNvPr id="3" name="Content Placeholder 2"/>
          <p:cNvSpPr>
            <a:spLocks noGrp="1"/>
          </p:cNvSpPr>
          <p:nvPr>
            <p:ph idx="1"/>
          </p:nvPr>
        </p:nvSpPr>
        <p:spPr/>
        <p:txBody>
          <a:bodyPr>
            <a:normAutofit/>
          </a:bodyPr>
          <a:lstStyle/>
          <a:p>
            <a:pPr lvl="1"/>
            <a:r>
              <a:rPr lang="en-US" sz="2400" dirty="0"/>
              <a:t>How about the third largest?</a:t>
            </a:r>
          </a:p>
          <a:p>
            <a:pPr lvl="1"/>
            <a:r>
              <a:rPr lang="en-US" sz="2400" dirty="0"/>
              <a:t>This time it could either be in the second level, but also on the third level.</a:t>
            </a:r>
          </a:p>
          <a:p>
            <a:pPr lvl="1"/>
            <a:endParaRPr lang="en-US" sz="2400" dirty="0"/>
          </a:p>
          <a:p>
            <a:pPr lvl="1"/>
            <a:r>
              <a:rPr lang="en-US" sz="2400" b="1" dirty="0"/>
              <a:t>Answer:</a:t>
            </a:r>
          </a:p>
          <a:p>
            <a:pPr lvl="1"/>
            <a:r>
              <a:rPr lang="en-US" sz="2400" dirty="0"/>
              <a:t>The third largest element is either a child of the largest element                                                                            (not counting the second largest element) or a child of the                                                                                    second largest element.</a:t>
            </a:r>
          </a:p>
          <a:p>
            <a:pPr lvl="1"/>
            <a:r>
              <a:rPr lang="en-US" sz="2400" dirty="0"/>
              <a:t>Just compare the three candidates.</a:t>
            </a:r>
          </a:p>
          <a:p>
            <a:pPr lvl="1"/>
            <a:r>
              <a:rPr lang="en-US" sz="2400" dirty="0"/>
              <a:t>Time complexity:</a:t>
            </a:r>
            <a:r>
              <a:rPr lang="he-IL" sz="2400" dirty="0"/>
              <a:t> </a:t>
            </a:r>
            <a:r>
              <a:rPr lang="en-US" sz="2400" dirty="0"/>
              <a:t> O(1).</a:t>
            </a:r>
          </a:p>
          <a:p>
            <a:pPr lvl="1"/>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pic>
        <p:nvPicPr>
          <p:cNvPr id="12" name="Picture 11"/>
          <p:cNvPicPr>
            <a:picLocks noChangeAspect="1"/>
          </p:cNvPicPr>
          <p:nvPr/>
        </p:nvPicPr>
        <p:blipFill>
          <a:blip r:embed="rId3"/>
          <a:stretch>
            <a:fillRect/>
          </a:stretch>
        </p:blipFill>
        <p:spPr>
          <a:xfrm>
            <a:off x="9380228" y="3763048"/>
            <a:ext cx="2458227" cy="2173710"/>
          </a:xfrm>
          <a:prstGeom prst="rect">
            <a:avLst/>
          </a:prstGeom>
        </p:spPr>
      </p:pic>
      <p:sp>
        <p:nvSpPr>
          <p:cNvPr id="18" name="Freeform 17"/>
          <p:cNvSpPr/>
          <p:nvPr/>
        </p:nvSpPr>
        <p:spPr>
          <a:xfrm>
            <a:off x="9511668" y="4226347"/>
            <a:ext cx="2326787" cy="1197735"/>
          </a:xfrm>
          <a:custGeom>
            <a:avLst/>
            <a:gdLst>
              <a:gd name="connsiteX0" fmla="*/ 2223756 w 2326787"/>
              <a:gd name="connsiteY0" fmla="*/ 60101 h 1197735"/>
              <a:gd name="connsiteX1" fmla="*/ 2197998 w 2326787"/>
              <a:gd name="connsiteY1" fmla="*/ 55808 h 1197735"/>
              <a:gd name="connsiteX2" fmla="*/ 2176534 w 2326787"/>
              <a:gd name="connsiteY2" fmla="*/ 47222 h 1197735"/>
              <a:gd name="connsiteX3" fmla="*/ 2133604 w 2326787"/>
              <a:gd name="connsiteY3" fmla="*/ 42929 h 1197735"/>
              <a:gd name="connsiteX4" fmla="*/ 2077795 w 2326787"/>
              <a:gd name="connsiteY4" fmla="*/ 30050 h 1197735"/>
              <a:gd name="connsiteX5" fmla="*/ 2039159 w 2326787"/>
              <a:gd name="connsiteY5" fmla="*/ 17171 h 1197735"/>
              <a:gd name="connsiteX6" fmla="*/ 2004815 w 2326787"/>
              <a:gd name="connsiteY6" fmla="*/ 12878 h 1197735"/>
              <a:gd name="connsiteX7" fmla="*/ 1897491 w 2326787"/>
              <a:gd name="connsiteY7" fmla="*/ 0 h 1197735"/>
              <a:gd name="connsiteX8" fmla="*/ 1657086 w 2326787"/>
              <a:gd name="connsiteY8" fmla="*/ 8585 h 1197735"/>
              <a:gd name="connsiteX9" fmla="*/ 1639914 w 2326787"/>
              <a:gd name="connsiteY9" fmla="*/ 12878 h 1197735"/>
              <a:gd name="connsiteX10" fmla="*/ 1601277 w 2326787"/>
              <a:gd name="connsiteY10" fmla="*/ 21464 h 1197735"/>
              <a:gd name="connsiteX11" fmla="*/ 1588398 w 2326787"/>
              <a:gd name="connsiteY11" fmla="*/ 25757 h 1197735"/>
              <a:gd name="connsiteX12" fmla="*/ 1575519 w 2326787"/>
              <a:gd name="connsiteY12" fmla="*/ 34343 h 1197735"/>
              <a:gd name="connsiteX13" fmla="*/ 1549762 w 2326787"/>
              <a:gd name="connsiteY13" fmla="*/ 38636 h 1197735"/>
              <a:gd name="connsiteX14" fmla="*/ 1532590 w 2326787"/>
              <a:gd name="connsiteY14" fmla="*/ 42929 h 1197735"/>
              <a:gd name="connsiteX15" fmla="*/ 1502539 w 2326787"/>
              <a:gd name="connsiteY15" fmla="*/ 64394 h 1197735"/>
              <a:gd name="connsiteX16" fmla="*/ 1463903 w 2326787"/>
              <a:gd name="connsiteY16" fmla="*/ 94445 h 1197735"/>
              <a:gd name="connsiteX17" fmla="*/ 1446731 w 2326787"/>
              <a:gd name="connsiteY17" fmla="*/ 98738 h 1197735"/>
              <a:gd name="connsiteX18" fmla="*/ 1420973 w 2326787"/>
              <a:gd name="connsiteY18" fmla="*/ 124495 h 1197735"/>
              <a:gd name="connsiteX19" fmla="*/ 1408094 w 2326787"/>
              <a:gd name="connsiteY19" fmla="*/ 137374 h 1197735"/>
              <a:gd name="connsiteX20" fmla="*/ 1390922 w 2326787"/>
              <a:gd name="connsiteY20" fmla="*/ 150253 h 1197735"/>
              <a:gd name="connsiteX21" fmla="*/ 1360872 w 2326787"/>
              <a:gd name="connsiteY21" fmla="*/ 180304 h 1197735"/>
              <a:gd name="connsiteX22" fmla="*/ 1339407 w 2326787"/>
              <a:gd name="connsiteY22" fmla="*/ 197476 h 1197735"/>
              <a:gd name="connsiteX23" fmla="*/ 1305063 w 2326787"/>
              <a:gd name="connsiteY23" fmla="*/ 231819 h 1197735"/>
              <a:gd name="connsiteX24" fmla="*/ 1287891 w 2326787"/>
              <a:gd name="connsiteY24" fmla="*/ 236112 h 1197735"/>
              <a:gd name="connsiteX25" fmla="*/ 1249255 w 2326787"/>
              <a:gd name="connsiteY25" fmla="*/ 253284 h 1197735"/>
              <a:gd name="connsiteX26" fmla="*/ 1206325 w 2326787"/>
              <a:gd name="connsiteY26" fmla="*/ 291921 h 1197735"/>
              <a:gd name="connsiteX27" fmla="*/ 1184860 w 2326787"/>
              <a:gd name="connsiteY27" fmla="*/ 309093 h 1197735"/>
              <a:gd name="connsiteX28" fmla="*/ 1176274 w 2326787"/>
              <a:gd name="connsiteY28" fmla="*/ 321971 h 1197735"/>
              <a:gd name="connsiteX29" fmla="*/ 1154810 w 2326787"/>
              <a:gd name="connsiteY29" fmla="*/ 330557 h 1197735"/>
              <a:gd name="connsiteX30" fmla="*/ 1124759 w 2326787"/>
              <a:gd name="connsiteY30" fmla="*/ 369194 h 1197735"/>
              <a:gd name="connsiteX31" fmla="*/ 1111880 w 2326787"/>
              <a:gd name="connsiteY31" fmla="*/ 390659 h 1197735"/>
              <a:gd name="connsiteX32" fmla="*/ 1094708 w 2326787"/>
              <a:gd name="connsiteY32" fmla="*/ 399245 h 1197735"/>
              <a:gd name="connsiteX33" fmla="*/ 1081829 w 2326787"/>
              <a:gd name="connsiteY33" fmla="*/ 425002 h 1197735"/>
              <a:gd name="connsiteX34" fmla="*/ 1064657 w 2326787"/>
              <a:gd name="connsiteY34" fmla="*/ 437881 h 1197735"/>
              <a:gd name="connsiteX35" fmla="*/ 1051779 w 2326787"/>
              <a:gd name="connsiteY35" fmla="*/ 455053 h 1197735"/>
              <a:gd name="connsiteX36" fmla="*/ 995970 w 2326787"/>
              <a:gd name="connsiteY36" fmla="*/ 506569 h 1197735"/>
              <a:gd name="connsiteX37" fmla="*/ 965919 w 2326787"/>
              <a:gd name="connsiteY37" fmla="*/ 528033 h 1197735"/>
              <a:gd name="connsiteX38" fmla="*/ 940162 w 2326787"/>
              <a:gd name="connsiteY38" fmla="*/ 549498 h 1197735"/>
              <a:gd name="connsiteX39" fmla="*/ 914404 w 2326787"/>
              <a:gd name="connsiteY39" fmla="*/ 566670 h 1197735"/>
              <a:gd name="connsiteX40" fmla="*/ 905818 w 2326787"/>
              <a:gd name="connsiteY40" fmla="*/ 579549 h 1197735"/>
              <a:gd name="connsiteX41" fmla="*/ 892939 w 2326787"/>
              <a:gd name="connsiteY41" fmla="*/ 583842 h 1197735"/>
              <a:gd name="connsiteX42" fmla="*/ 854303 w 2326787"/>
              <a:gd name="connsiteY42" fmla="*/ 601014 h 1197735"/>
              <a:gd name="connsiteX43" fmla="*/ 824252 w 2326787"/>
              <a:gd name="connsiteY43" fmla="*/ 622478 h 1197735"/>
              <a:gd name="connsiteX44" fmla="*/ 811373 w 2326787"/>
              <a:gd name="connsiteY44" fmla="*/ 626771 h 1197735"/>
              <a:gd name="connsiteX45" fmla="*/ 798494 w 2326787"/>
              <a:gd name="connsiteY45" fmla="*/ 635357 h 1197735"/>
              <a:gd name="connsiteX46" fmla="*/ 631069 w 2326787"/>
              <a:gd name="connsiteY46" fmla="*/ 639650 h 1197735"/>
              <a:gd name="connsiteX47" fmla="*/ 549503 w 2326787"/>
              <a:gd name="connsiteY47" fmla="*/ 631064 h 1197735"/>
              <a:gd name="connsiteX48" fmla="*/ 476522 w 2326787"/>
              <a:gd name="connsiteY48" fmla="*/ 618185 h 1197735"/>
              <a:gd name="connsiteX49" fmla="*/ 339148 w 2326787"/>
              <a:gd name="connsiteY49" fmla="*/ 622478 h 1197735"/>
              <a:gd name="connsiteX50" fmla="*/ 309097 w 2326787"/>
              <a:gd name="connsiteY50" fmla="*/ 626771 h 1197735"/>
              <a:gd name="connsiteX51" fmla="*/ 274753 w 2326787"/>
              <a:gd name="connsiteY51" fmla="*/ 648236 h 1197735"/>
              <a:gd name="connsiteX52" fmla="*/ 261874 w 2326787"/>
              <a:gd name="connsiteY52" fmla="*/ 652529 h 1197735"/>
              <a:gd name="connsiteX53" fmla="*/ 218945 w 2326787"/>
              <a:gd name="connsiteY53" fmla="*/ 673994 h 1197735"/>
              <a:gd name="connsiteX54" fmla="*/ 206066 w 2326787"/>
              <a:gd name="connsiteY54" fmla="*/ 682580 h 1197735"/>
              <a:gd name="connsiteX55" fmla="*/ 163136 w 2326787"/>
              <a:gd name="connsiteY55" fmla="*/ 704045 h 1197735"/>
              <a:gd name="connsiteX56" fmla="*/ 154550 w 2326787"/>
              <a:gd name="connsiteY56" fmla="*/ 716924 h 1197735"/>
              <a:gd name="connsiteX57" fmla="*/ 141672 w 2326787"/>
              <a:gd name="connsiteY57" fmla="*/ 721216 h 1197735"/>
              <a:gd name="connsiteX58" fmla="*/ 137379 w 2326787"/>
              <a:gd name="connsiteY58" fmla="*/ 734095 h 1197735"/>
              <a:gd name="connsiteX59" fmla="*/ 111621 w 2326787"/>
              <a:gd name="connsiteY59" fmla="*/ 751267 h 1197735"/>
              <a:gd name="connsiteX60" fmla="*/ 72984 w 2326787"/>
              <a:gd name="connsiteY60" fmla="*/ 785611 h 1197735"/>
              <a:gd name="connsiteX61" fmla="*/ 47226 w 2326787"/>
              <a:gd name="connsiteY61" fmla="*/ 794197 h 1197735"/>
              <a:gd name="connsiteX62" fmla="*/ 25762 w 2326787"/>
              <a:gd name="connsiteY62" fmla="*/ 819954 h 1197735"/>
              <a:gd name="connsiteX63" fmla="*/ 12883 w 2326787"/>
              <a:gd name="connsiteY63" fmla="*/ 824247 h 1197735"/>
              <a:gd name="connsiteX64" fmla="*/ 8590 w 2326787"/>
              <a:gd name="connsiteY64" fmla="*/ 837126 h 1197735"/>
              <a:gd name="connsiteX65" fmla="*/ 4 w 2326787"/>
              <a:gd name="connsiteY65" fmla="*/ 858591 h 1197735"/>
              <a:gd name="connsiteX66" fmla="*/ 8590 w 2326787"/>
              <a:gd name="connsiteY66" fmla="*/ 892935 h 1197735"/>
              <a:gd name="connsiteX67" fmla="*/ 21469 w 2326787"/>
              <a:gd name="connsiteY67" fmla="*/ 905814 h 1197735"/>
              <a:gd name="connsiteX68" fmla="*/ 34348 w 2326787"/>
              <a:gd name="connsiteY68" fmla="*/ 927278 h 1197735"/>
              <a:gd name="connsiteX69" fmla="*/ 47226 w 2326787"/>
              <a:gd name="connsiteY69" fmla="*/ 944450 h 1197735"/>
              <a:gd name="connsiteX70" fmla="*/ 51519 w 2326787"/>
              <a:gd name="connsiteY70" fmla="*/ 957329 h 1197735"/>
              <a:gd name="connsiteX71" fmla="*/ 77277 w 2326787"/>
              <a:gd name="connsiteY71" fmla="*/ 987380 h 1197735"/>
              <a:gd name="connsiteX72" fmla="*/ 94449 w 2326787"/>
              <a:gd name="connsiteY72" fmla="*/ 1000259 h 1197735"/>
              <a:gd name="connsiteX73" fmla="*/ 107328 w 2326787"/>
              <a:gd name="connsiteY73" fmla="*/ 1047481 h 1197735"/>
              <a:gd name="connsiteX74" fmla="*/ 120207 w 2326787"/>
              <a:gd name="connsiteY74" fmla="*/ 1060360 h 1197735"/>
              <a:gd name="connsiteX75" fmla="*/ 133086 w 2326787"/>
              <a:gd name="connsiteY75" fmla="*/ 1098997 h 1197735"/>
              <a:gd name="connsiteX76" fmla="*/ 150257 w 2326787"/>
              <a:gd name="connsiteY76" fmla="*/ 1103290 h 1197735"/>
              <a:gd name="connsiteX77" fmla="*/ 180308 w 2326787"/>
              <a:gd name="connsiteY77" fmla="*/ 1120462 h 1197735"/>
              <a:gd name="connsiteX78" fmla="*/ 193187 w 2326787"/>
              <a:gd name="connsiteY78" fmla="*/ 1129047 h 1197735"/>
              <a:gd name="connsiteX79" fmla="*/ 206066 w 2326787"/>
              <a:gd name="connsiteY79" fmla="*/ 1133340 h 1197735"/>
              <a:gd name="connsiteX80" fmla="*/ 218945 w 2326787"/>
              <a:gd name="connsiteY80" fmla="*/ 1141926 h 1197735"/>
              <a:gd name="connsiteX81" fmla="*/ 240410 w 2326787"/>
              <a:gd name="connsiteY81" fmla="*/ 1146219 h 1197735"/>
              <a:gd name="connsiteX82" fmla="*/ 279046 w 2326787"/>
              <a:gd name="connsiteY82" fmla="*/ 1163391 h 1197735"/>
              <a:gd name="connsiteX83" fmla="*/ 291925 w 2326787"/>
              <a:gd name="connsiteY83" fmla="*/ 1171977 h 1197735"/>
              <a:gd name="connsiteX84" fmla="*/ 313390 w 2326787"/>
              <a:gd name="connsiteY84" fmla="*/ 1176270 h 1197735"/>
              <a:gd name="connsiteX85" fmla="*/ 545210 w 2326787"/>
              <a:gd name="connsiteY85" fmla="*/ 1180563 h 1197735"/>
              <a:gd name="connsiteX86" fmla="*/ 609604 w 2326787"/>
              <a:gd name="connsiteY86" fmla="*/ 1176270 h 1197735"/>
              <a:gd name="connsiteX87" fmla="*/ 652534 w 2326787"/>
              <a:gd name="connsiteY87" fmla="*/ 1167684 h 1197735"/>
              <a:gd name="connsiteX88" fmla="*/ 686877 w 2326787"/>
              <a:gd name="connsiteY88" fmla="*/ 1163391 h 1197735"/>
              <a:gd name="connsiteX89" fmla="*/ 708342 w 2326787"/>
              <a:gd name="connsiteY89" fmla="*/ 1154805 h 1197735"/>
              <a:gd name="connsiteX90" fmla="*/ 746979 w 2326787"/>
              <a:gd name="connsiteY90" fmla="*/ 1150512 h 1197735"/>
              <a:gd name="connsiteX91" fmla="*/ 940162 w 2326787"/>
              <a:gd name="connsiteY91" fmla="*/ 1167684 h 1197735"/>
              <a:gd name="connsiteX92" fmla="*/ 953041 w 2326787"/>
              <a:gd name="connsiteY92" fmla="*/ 1171977 h 1197735"/>
              <a:gd name="connsiteX93" fmla="*/ 983091 w 2326787"/>
              <a:gd name="connsiteY93" fmla="*/ 1180563 h 1197735"/>
              <a:gd name="connsiteX94" fmla="*/ 995970 w 2326787"/>
              <a:gd name="connsiteY94" fmla="*/ 1184856 h 1197735"/>
              <a:gd name="connsiteX95" fmla="*/ 1068950 w 2326787"/>
              <a:gd name="connsiteY95" fmla="*/ 1197735 h 1197735"/>
              <a:gd name="connsiteX96" fmla="*/ 1099001 w 2326787"/>
              <a:gd name="connsiteY96" fmla="*/ 1193442 h 1197735"/>
              <a:gd name="connsiteX97" fmla="*/ 1111880 w 2326787"/>
              <a:gd name="connsiteY97" fmla="*/ 1189149 h 1197735"/>
              <a:gd name="connsiteX98" fmla="*/ 1141931 w 2326787"/>
              <a:gd name="connsiteY98" fmla="*/ 1184856 h 1197735"/>
              <a:gd name="connsiteX99" fmla="*/ 1163395 w 2326787"/>
              <a:gd name="connsiteY99" fmla="*/ 1171977 h 1197735"/>
              <a:gd name="connsiteX100" fmla="*/ 1180567 w 2326787"/>
              <a:gd name="connsiteY100" fmla="*/ 1163391 h 1197735"/>
              <a:gd name="connsiteX101" fmla="*/ 1202032 w 2326787"/>
              <a:gd name="connsiteY101" fmla="*/ 1146219 h 1197735"/>
              <a:gd name="connsiteX102" fmla="*/ 1227790 w 2326787"/>
              <a:gd name="connsiteY102" fmla="*/ 1120462 h 1197735"/>
              <a:gd name="connsiteX103" fmla="*/ 1236376 w 2326787"/>
              <a:gd name="connsiteY103" fmla="*/ 1107583 h 1197735"/>
              <a:gd name="connsiteX104" fmla="*/ 1240669 w 2326787"/>
              <a:gd name="connsiteY104" fmla="*/ 1094704 h 1197735"/>
              <a:gd name="connsiteX105" fmla="*/ 1279305 w 2326787"/>
              <a:gd name="connsiteY105" fmla="*/ 1064653 h 1197735"/>
              <a:gd name="connsiteX106" fmla="*/ 1296477 w 2326787"/>
              <a:gd name="connsiteY106" fmla="*/ 1030309 h 1197735"/>
              <a:gd name="connsiteX107" fmla="*/ 1322235 w 2326787"/>
              <a:gd name="connsiteY107" fmla="*/ 974501 h 1197735"/>
              <a:gd name="connsiteX108" fmla="*/ 1313649 w 2326787"/>
              <a:gd name="connsiteY108" fmla="*/ 871470 h 1197735"/>
              <a:gd name="connsiteX109" fmla="*/ 1309356 w 2326787"/>
              <a:gd name="connsiteY109" fmla="*/ 854298 h 1197735"/>
              <a:gd name="connsiteX110" fmla="*/ 1300770 w 2326787"/>
              <a:gd name="connsiteY110" fmla="*/ 802783 h 1197735"/>
              <a:gd name="connsiteX111" fmla="*/ 1305063 w 2326787"/>
              <a:gd name="connsiteY111" fmla="*/ 772732 h 1197735"/>
              <a:gd name="connsiteX112" fmla="*/ 1317942 w 2326787"/>
              <a:gd name="connsiteY112" fmla="*/ 755560 h 1197735"/>
              <a:gd name="connsiteX113" fmla="*/ 1322235 w 2326787"/>
              <a:gd name="connsiteY113" fmla="*/ 742681 h 1197735"/>
              <a:gd name="connsiteX114" fmla="*/ 1347993 w 2326787"/>
              <a:gd name="connsiteY114" fmla="*/ 721216 h 1197735"/>
              <a:gd name="connsiteX115" fmla="*/ 1369457 w 2326787"/>
              <a:gd name="connsiteY115" fmla="*/ 686873 h 1197735"/>
              <a:gd name="connsiteX116" fmla="*/ 1382336 w 2326787"/>
              <a:gd name="connsiteY116" fmla="*/ 665408 h 1197735"/>
              <a:gd name="connsiteX117" fmla="*/ 1395215 w 2326787"/>
              <a:gd name="connsiteY117" fmla="*/ 652529 h 1197735"/>
              <a:gd name="connsiteX118" fmla="*/ 1408094 w 2326787"/>
              <a:gd name="connsiteY118" fmla="*/ 635357 h 1197735"/>
              <a:gd name="connsiteX119" fmla="*/ 1433852 w 2326787"/>
              <a:gd name="connsiteY119" fmla="*/ 622478 h 1197735"/>
              <a:gd name="connsiteX120" fmla="*/ 1472488 w 2326787"/>
              <a:gd name="connsiteY120" fmla="*/ 596721 h 1197735"/>
              <a:gd name="connsiteX121" fmla="*/ 1485367 w 2326787"/>
              <a:gd name="connsiteY121" fmla="*/ 588135 h 1197735"/>
              <a:gd name="connsiteX122" fmla="*/ 1498246 w 2326787"/>
              <a:gd name="connsiteY122" fmla="*/ 583842 h 1197735"/>
              <a:gd name="connsiteX123" fmla="*/ 1528297 w 2326787"/>
              <a:gd name="connsiteY123" fmla="*/ 570963 h 1197735"/>
              <a:gd name="connsiteX124" fmla="*/ 1541176 w 2326787"/>
              <a:gd name="connsiteY124" fmla="*/ 562377 h 1197735"/>
              <a:gd name="connsiteX125" fmla="*/ 1622742 w 2326787"/>
              <a:gd name="connsiteY125" fmla="*/ 553791 h 1197735"/>
              <a:gd name="connsiteX126" fmla="*/ 1657086 w 2326787"/>
              <a:gd name="connsiteY126" fmla="*/ 545205 h 1197735"/>
              <a:gd name="connsiteX127" fmla="*/ 1764410 w 2326787"/>
              <a:gd name="connsiteY127" fmla="*/ 553791 h 1197735"/>
              <a:gd name="connsiteX128" fmla="*/ 1918956 w 2326787"/>
              <a:gd name="connsiteY128" fmla="*/ 545205 h 1197735"/>
              <a:gd name="connsiteX129" fmla="*/ 1940421 w 2326787"/>
              <a:gd name="connsiteY129" fmla="*/ 536619 h 1197735"/>
              <a:gd name="connsiteX130" fmla="*/ 1961886 w 2326787"/>
              <a:gd name="connsiteY130" fmla="*/ 532326 h 1197735"/>
              <a:gd name="connsiteX131" fmla="*/ 1996229 w 2326787"/>
              <a:gd name="connsiteY131" fmla="*/ 523740 h 1197735"/>
              <a:gd name="connsiteX132" fmla="*/ 2039159 w 2326787"/>
              <a:gd name="connsiteY132" fmla="*/ 519447 h 1197735"/>
              <a:gd name="connsiteX133" fmla="*/ 2056331 w 2326787"/>
              <a:gd name="connsiteY133" fmla="*/ 515154 h 1197735"/>
              <a:gd name="connsiteX134" fmla="*/ 2082088 w 2326787"/>
              <a:gd name="connsiteY134" fmla="*/ 510862 h 1197735"/>
              <a:gd name="connsiteX135" fmla="*/ 2094967 w 2326787"/>
              <a:gd name="connsiteY135" fmla="*/ 506569 h 1197735"/>
              <a:gd name="connsiteX136" fmla="*/ 2107846 w 2326787"/>
              <a:gd name="connsiteY136" fmla="*/ 497983 h 1197735"/>
              <a:gd name="connsiteX137" fmla="*/ 2133604 w 2326787"/>
              <a:gd name="connsiteY137" fmla="*/ 493690 h 1197735"/>
              <a:gd name="connsiteX138" fmla="*/ 2150776 w 2326787"/>
              <a:gd name="connsiteY138" fmla="*/ 485104 h 1197735"/>
              <a:gd name="connsiteX139" fmla="*/ 2180826 w 2326787"/>
              <a:gd name="connsiteY139" fmla="*/ 455053 h 1197735"/>
              <a:gd name="connsiteX140" fmla="*/ 2219463 w 2326787"/>
              <a:gd name="connsiteY140" fmla="*/ 429295 h 1197735"/>
              <a:gd name="connsiteX141" fmla="*/ 2249514 w 2326787"/>
              <a:gd name="connsiteY141" fmla="*/ 399245 h 1197735"/>
              <a:gd name="connsiteX142" fmla="*/ 2283857 w 2326787"/>
              <a:gd name="connsiteY142" fmla="*/ 364901 h 1197735"/>
              <a:gd name="connsiteX143" fmla="*/ 2318201 w 2326787"/>
              <a:gd name="connsiteY143" fmla="*/ 326264 h 1197735"/>
              <a:gd name="connsiteX144" fmla="*/ 2322494 w 2326787"/>
              <a:gd name="connsiteY144" fmla="*/ 313385 h 1197735"/>
              <a:gd name="connsiteX145" fmla="*/ 2296736 w 2326787"/>
              <a:gd name="connsiteY145" fmla="*/ 214647 h 1197735"/>
              <a:gd name="connsiteX146" fmla="*/ 2283857 w 2326787"/>
              <a:gd name="connsiteY146" fmla="*/ 201769 h 1197735"/>
              <a:gd name="connsiteX147" fmla="*/ 2270979 w 2326787"/>
              <a:gd name="connsiteY147" fmla="*/ 184597 h 1197735"/>
              <a:gd name="connsiteX148" fmla="*/ 2266686 w 2326787"/>
              <a:gd name="connsiteY148" fmla="*/ 171718 h 1197735"/>
              <a:gd name="connsiteX149" fmla="*/ 2258100 w 2326787"/>
              <a:gd name="connsiteY149" fmla="*/ 85859 h 1197735"/>
              <a:gd name="connsiteX150" fmla="*/ 2245221 w 2326787"/>
              <a:gd name="connsiteY150" fmla="*/ 81566 h 1197735"/>
              <a:gd name="connsiteX151" fmla="*/ 2279564 w 2326787"/>
              <a:gd name="connsiteY151" fmla="*/ 94445 h 1197735"/>
              <a:gd name="connsiteX152" fmla="*/ 2305322 w 2326787"/>
              <a:gd name="connsiteY152" fmla="*/ 111616 h 1197735"/>
              <a:gd name="connsiteX153" fmla="*/ 2326787 w 2326787"/>
              <a:gd name="connsiteY153" fmla="*/ 137374 h 1197735"/>
              <a:gd name="connsiteX154" fmla="*/ 2288150 w 2326787"/>
              <a:gd name="connsiteY154" fmla="*/ 141667 h 1197735"/>
              <a:gd name="connsiteX155" fmla="*/ 2283857 w 2326787"/>
              <a:gd name="connsiteY155" fmla="*/ 128788 h 1197735"/>
              <a:gd name="connsiteX156" fmla="*/ 2270979 w 2326787"/>
              <a:gd name="connsiteY156" fmla="*/ 115909 h 1197735"/>
              <a:gd name="connsiteX157" fmla="*/ 2258100 w 2326787"/>
              <a:gd name="connsiteY157" fmla="*/ 107324 h 119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326787" h="1197735">
                <a:moveTo>
                  <a:pt x="2223756" y="60101"/>
                </a:moveTo>
                <a:cubicBezTo>
                  <a:pt x="2215170" y="58670"/>
                  <a:pt x="2206396" y="58098"/>
                  <a:pt x="2197998" y="55808"/>
                </a:cubicBezTo>
                <a:cubicBezTo>
                  <a:pt x="2190564" y="53780"/>
                  <a:pt x="2184090" y="48733"/>
                  <a:pt x="2176534" y="47222"/>
                </a:cubicBezTo>
                <a:cubicBezTo>
                  <a:pt x="2162432" y="44402"/>
                  <a:pt x="2147914" y="44360"/>
                  <a:pt x="2133604" y="42929"/>
                </a:cubicBezTo>
                <a:cubicBezTo>
                  <a:pt x="2089273" y="28152"/>
                  <a:pt x="2126838" y="38967"/>
                  <a:pt x="2077795" y="30050"/>
                </a:cubicBezTo>
                <a:cubicBezTo>
                  <a:pt x="2016168" y="18845"/>
                  <a:pt x="2114403" y="34535"/>
                  <a:pt x="2039159" y="17171"/>
                </a:cubicBezTo>
                <a:cubicBezTo>
                  <a:pt x="2027917" y="14577"/>
                  <a:pt x="2016236" y="14509"/>
                  <a:pt x="2004815" y="12878"/>
                </a:cubicBezTo>
                <a:cubicBezTo>
                  <a:pt x="1918533" y="553"/>
                  <a:pt x="1980070" y="6882"/>
                  <a:pt x="1897491" y="0"/>
                </a:cubicBezTo>
                <a:lnTo>
                  <a:pt x="1657086" y="8585"/>
                </a:lnTo>
                <a:cubicBezTo>
                  <a:pt x="1651193" y="8880"/>
                  <a:pt x="1645663" y="11551"/>
                  <a:pt x="1639914" y="12878"/>
                </a:cubicBezTo>
                <a:cubicBezTo>
                  <a:pt x="1627059" y="15845"/>
                  <a:pt x="1614076" y="18264"/>
                  <a:pt x="1601277" y="21464"/>
                </a:cubicBezTo>
                <a:cubicBezTo>
                  <a:pt x="1596887" y="22562"/>
                  <a:pt x="1592445" y="23733"/>
                  <a:pt x="1588398" y="25757"/>
                </a:cubicBezTo>
                <a:cubicBezTo>
                  <a:pt x="1583783" y="28064"/>
                  <a:pt x="1580414" y="32711"/>
                  <a:pt x="1575519" y="34343"/>
                </a:cubicBezTo>
                <a:cubicBezTo>
                  <a:pt x="1567262" y="37096"/>
                  <a:pt x="1558297" y="36929"/>
                  <a:pt x="1549762" y="38636"/>
                </a:cubicBezTo>
                <a:cubicBezTo>
                  <a:pt x="1543976" y="39793"/>
                  <a:pt x="1538314" y="41498"/>
                  <a:pt x="1532590" y="42929"/>
                </a:cubicBezTo>
                <a:cubicBezTo>
                  <a:pt x="1522973" y="49340"/>
                  <a:pt x="1511059" y="56939"/>
                  <a:pt x="1502539" y="64394"/>
                </a:cubicBezTo>
                <a:cubicBezTo>
                  <a:pt x="1482726" y="81730"/>
                  <a:pt x="1488949" y="83313"/>
                  <a:pt x="1463903" y="94445"/>
                </a:cubicBezTo>
                <a:cubicBezTo>
                  <a:pt x="1458511" y="96841"/>
                  <a:pt x="1452455" y="97307"/>
                  <a:pt x="1446731" y="98738"/>
                </a:cubicBezTo>
                <a:lnTo>
                  <a:pt x="1420973" y="124495"/>
                </a:lnTo>
                <a:cubicBezTo>
                  <a:pt x="1416680" y="128788"/>
                  <a:pt x="1412951" y="133731"/>
                  <a:pt x="1408094" y="137374"/>
                </a:cubicBezTo>
                <a:cubicBezTo>
                  <a:pt x="1402370" y="141667"/>
                  <a:pt x="1396216" y="145440"/>
                  <a:pt x="1390922" y="150253"/>
                </a:cubicBezTo>
                <a:cubicBezTo>
                  <a:pt x="1380440" y="159782"/>
                  <a:pt x="1371934" y="171455"/>
                  <a:pt x="1360872" y="180304"/>
                </a:cubicBezTo>
                <a:cubicBezTo>
                  <a:pt x="1353717" y="186028"/>
                  <a:pt x="1345886" y="190997"/>
                  <a:pt x="1339407" y="197476"/>
                </a:cubicBezTo>
                <a:cubicBezTo>
                  <a:pt x="1322634" y="214248"/>
                  <a:pt x="1325763" y="221469"/>
                  <a:pt x="1305063" y="231819"/>
                </a:cubicBezTo>
                <a:cubicBezTo>
                  <a:pt x="1299786" y="234458"/>
                  <a:pt x="1293398" y="233994"/>
                  <a:pt x="1287891" y="236112"/>
                </a:cubicBezTo>
                <a:cubicBezTo>
                  <a:pt x="1274737" y="241171"/>
                  <a:pt x="1261491" y="246292"/>
                  <a:pt x="1249255" y="253284"/>
                </a:cubicBezTo>
                <a:cubicBezTo>
                  <a:pt x="1232616" y="262792"/>
                  <a:pt x="1220215" y="279420"/>
                  <a:pt x="1206325" y="291921"/>
                </a:cubicBezTo>
                <a:cubicBezTo>
                  <a:pt x="1199514" y="298051"/>
                  <a:pt x="1191339" y="302614"/>
                  <a:pt x="1184860" y="309093"/>
                </a:cubicBezTo>
                <a:cubicBezTo>
                  <a:pt x="1181212" y="312741"/>
                  <a:pt x="1180472" y="318972"/>
                  <a:pt x="1176274" y="321971"/>
                </a:cubicBezTo>
                <a:cubicBezTo>
                  <a:pt x="1170003" y="326450"/>
                  <a:pt x="1161965" y="327695"/>
                  <a:pt x="1154810" y="330557"/>
                </a:cubicBezTo>
                <a:cubicBezTo>
                  <a:pt x="1144793" y="343436"/>
                  <a:pt x="1133153" y="355203"/>
                  <a:pt x="1124759" y="369194"/>
                </a:cubicBezTo>
                <a:cubicBezTo>
                  <a:pt x="1120466" y="376349"/>
                  <a:pt x="1117780" y="384759"/>
                  <a:pt x="1111880" y="390659"/>
                </a:cubicBezTo>
                <a:cubicBezTo>
                  <a:pt x="1107355" y="395184"/>
                  <a:pt x="1100432" y="396383"/>
                  <a:pt x="1094708" y="399245"/>
                </a:cubicBezTo>
                <a:cubicBezTo>
                  <a:pt x="1091216" y="409720"/>
                  <a:pt x="1090152" y="416680"/>
                  <a:pt x="1081829" y="425002"/>
                </a:cubicBezTo>
                <a:cubicBezTo>
                  <a:pt x="1076770" y="430061"/>
                  <a:pt x="1069716" y="432822"/>
                  <a:pt x="1064657" y="437881"/>
                </a:cubicBezTo>
                <a:cubicBezTo>
                  <a:pt x="1059598" y="442940"/>
                  <a:pt x="1056592" y="449759"/>
                  <a:pt x="1051779" y="455053"/>
                </a:cubicBezTo>
                <a:cubicBezTo>
                  <a:pt x="1017331" y="492947"/>
                  <a:pt x="1029845" y="476082"/>
                  <a:pt x="995970" y="506569"/>
                </a:cubicBezTo>
                <a:cubicBezTo>
                  <a:pt x="972004" y="528138"/>
                  <a:pt x="988486" y="520511"/>
                  <a:pt x="965919" y="528033"/>
                </a:cubicBezTo>
                <a:cubicBezTo>
                  <a:pt x="928305" y="565650"/>
                  <a:pt x="976014" y="519621"/>
                  <a:pt x="940162" y="549498"/>
                </a:cubicBezTo>
                <a:cubicBezTo>
                  <a:pt x="918724" y="567363"/>
                  <a:pt x="937037" y="559126"/>
                  <a:pt x="914404" y="566670"/>
                </a:cubicBezTo>
                <a:cubicBezTo>
                  <a:pt x="911542" y="570963"/>
                  <a:pt x="909847" y="576326"/>
                  <a:pt x="905818" y="579549"/>
                </a:cubicBezTo>
                <a:cubicBezTo>
                  <a:pt x="902284" y="582376"/>
                  <a:pt x="896986" y="581818"/>
                  <a:pt x="892939" y="583842"/>
                </a:cubicBezTo>
                <a:cubicBezTo>
                  <a:pt x="855805" y="602409"/>
                  <a:pt x="887071" y="592821"/>
                  <a:pt x="854303" y="601014"/>
                </a:cubicBezTo>
                <a:cubicBezTo>
                  <a:pt x="850408" y="603935"/>
                  <a:pt x="830534" y="619337"/>
                  <a:pt x="824252" y="622478"/>
                </a:cubicBezTo>
                <a:cubicBezTo>
                  <a:pt x="820204" y="624502"/>
                  <a:pt x="815420" y="624747"/>
                  <a:pt x="811373" y="626771"/>
                </a:cubicBezTo>
                <a:cubicBezTo>
                  <a:pt x="806758" y="629078"/>
                  <a:pt x="803640" y="634989"/>
                  <a:pt x="798494" y="635357"/>
                </a:cubicBezTo>
                <a:cubicBezTo>
                  <a:pt x="742809" y="639335"/>
                  <a:pt x="686877" y="638219"/>
                  <a:pt x="631069" y="639650"/>
                </a:cubicBezTo>
                <a:lnTo>
                  <a:pt x="549503" y="631064"/>
                </a:lnTo>
                <a:cubicBezTo>
                  <a:pt x="491076" y="625221"/>
                  <a:pt x="518529" y="632187"/>
                  <a:pt x="476522" y="618185"/>
                </a:cubicBezTo>
                <a:lnTo>
                  <a:pt x="339148" y="622478"/>
                </a:lnTo>
                <a:cubicBezTo>
                  <a:pt x="329043" y="622996"/>
                  <a:pt x="318696" y="623571"/>
                  <a:pt x="309097" y="626771"/>
                </a:cubicBezTo>
                <a:cubicBezTo>
                  <a:pt x="292575" y="632278"/>
                  <a:pt x="288783" y="641221"/>
                  <a:pt x="274753" y="648236"/>
                </a:cubicBezTo>
                <a:cubicBezTo>
                  <a:pt x="270706" y="650260"/>
                  <a:pt x="265983" y="650633"/>
                  <a:pt x="261874" y="652529"/>
                </a:cubicBezTo>
                <a:cubicBezTo>
                  <a:pt x="247348" y="659234"/>
                  <a:pt x="233031" y="666409"/>
                  <a:pt x="218945" y="673994"/>
                </a:cubicBezTo>
                <a:cubicBezTo>
                  <a:pt x="214402" y="676440"/>
                  <a:pt x="210681" y="680273"/>
                  <a:pt x="206066" y="682580"/>
                </a:cubicBezTo>
                <a:cubicBezTo>
                  <a:pt x="156361" y="707432"/>
                  <a:pt x="192142" y="684707"/>
                  <a:pt x="163136" y="704045"/>
                </a:cubicBezTo>
                <a:cubicBezTo>
                  <a:pt x="160274" y="708338"/>
                  <a:pt x="158579" y="713701"/>
                  <a:pt x="154550" y="716924"/>
                </a:cubicBezTo>
                <a:cubicBezTo>
                  <a:pt x="151017" y="719751"/>
                  <a:pt x="144872" y="718016"/>
                  <a:pt x="141672" y="721216"/>
                </a:cubicBezTo>
                <a:cubicBezTo>
                  <a:pt x="138472" y="724416"/>
                  <a:pt x="140579" y="730895"/>
                  <a:pt x="137379" y="734095"/>
                </a:cubicBezTo>
                <a:cubicBezTo>
                  <a:pt x="130082" y="741392"/>
                  <a:pt x="119679" y="744821"/>
                  <a:pt x="111621" y="751267"/>
                </a:cubicBezTo>
                <a:cubicBezTo>
                  <a:pt x="98165" y="762031"/>
                  <a:pt x="87321" y="776053"/>
                  <a:pt x="72984" y="785611"/>
                </a:cubicBezTo>
                <a:cubicBezTo>
                  <a:pt x="65454" y="790631"/>
                  <a:pt x="47226" y="794197"/>
                  <a:pt x="47226" y="794197"/>
                </a:cubicBezTo>
                <a:cubicBezTo>
                  <a:pt x="40890" y="803702"/>
                  <a:pt x="35681" y="813342"/>
                  <a:pt x="25762" y="819954"/>
                </a:cubicBezTo>
                <a:cubicBezTo>
                  <a:pt x="21997" y="822464"/>
                  <a:pt x="17176" y="822816"/>
                  <a:pt x="12883" y="824247"/>
                </a:cubicBezTo>
                <a:cubicBezTo>
                  <a:pt x="11452" y="828540"/>
                  <a:pt x="10179" y="832889"/>
                  <a:pt x="8590" y="837126"/>
                </a:cubicBezTo>
                <a:cubicBezTo>
                  <a:pt x="5884" y="844342"/>
                  <a:pt x="771" y="850923"/>
                  <a:pt x="4" y="858591"/>
                </a:cubicBezTo>
                <a:cubicBezTo>
                  <a:pt x="-184" y="860476"/>
                  <a:pt x="5319" y="888029"/>
                  <a:pt x="8590" y="892935"/>
                </a:cubicBezTo>
                <a:cubicBezTo>
                  <a:pt x="11958" y="897987"/>
                  <a:pt x="17826" y="900957"/>
                  <a:pt x="21469" y="905814"/>
                </a:cubicBezTo>
                <a:cubicBezTo>
                  <a:pt x="26475" y="912489"/>
                  <a:pt x="29720" y="920336"/>
                  <a:pt x="34348" y="927278"/>
                </a:cubicBezTo>
                <a:cubicBezTo>
                  <a:pt x="38317" y="933231"/>
                  <a:pt x="42933" y="938726"/>
                  <a:pt x="47226" y="944450"/>
                </a:cubicBezTo>
                <a:cubicBezTo>
                  <a:pt x="48657" y="948743"/>
                  <a:pt x="49274" y="953400"/>
                  <a:pt x="51519" y="957329"/>
                </a:cubicBezTo>
                <a:cubicBezTo>
                  <a:pt x="56948" y="966830"/>
                  <a:pt x="68751" y="980072"/>
                  <a:pt x="77277" y="987380"/>
                </a:cubicBezTo>
                <a:cubicBezTo>
                  <a:pt x="82709" y="992036"/>
                  <a:pt x="88725" y="995966"/>
                  <a:pt x="94449" y="1000259"/>
                </a:cubicBezTo>
                <a:cubicBezTo>
                  <a:pt x="96933" y="1010196"/>
                  <a:pt x="104776" y="1042377"/>
                  <a:pt x="107328" y="1047481"/>
                </a:cubicBezTo>
                <a:cubicBezTo>
                  <a:pt x="110043" y="1052911"/>
                  <a:pt x="115914" y="1056067"/>
                  <a:pt x="120207" y="1060360"/>
                </a:cubicBezTo>
                <a:cubicBezTo>
                  <a:pt x="121812" y="1069992"/>
                  <a:pt x="121768" y="1091451"/>
                  <a:pt x="133086" y="1098997"/>
                </a:cubicBezTo>
                <a:cubicBezTo>
                  <a:pt x="137995" y="1102270"/>
                  <a:pt x="144533" y="1101859"/>
                  <a:pt x="150257" y="1103290"/>
                </a:cubicBezTo>
                <a:cubicBezTo>
                  <a:pt x="174722" y="1127755"/>
                  <a:pt x="150041" y="1107491"/>
                  <a:pt x="180308" y="1120462"/>
                </a:cubicBezTo>
                <a:cubicBezTo>
                  <a:pt x="185050" y="1122494"/>
                  <a:pt x="188572" y="1126740"/>
                  <a:pt x="193187" y="1129047"/>
                </a:cubicBezTo>
                <a:cubicBezTo>
                  <a:pt x="197235" y="1131071"/>
                  <a:pt x="202019" y="1131316"/>
                  <a:pt x="206066" y="1133340"/>
                </a:cubicBezTo>
                <a:cubicBezTo>
                  <a:pt x="210681" y="1135647"/>
                  <a:pt x="214114" y="1140114"/>
                  <a:pt x="218945" y="1141926"/>
                </a:cubicBezTo>
                <a:cubicBezTo>
                  <a:pt x="225777" y="1144488"/>
                  <a:pt x="233255" y="1144788"/>
                  <a:pt x="240410" y="1146219"/>
                </a:cubicBezTo>
                <a:cubicBezTo>
                  <a:pt x="264978" y="1170788"/>
                  <a:pt x="239364" y="1150164"/>
                  <a:pt x="279046" y="1163391"/>
                </a:cubicBezTo>
                <a:cubicBezTo>
                  <a:pt x="283941" y="1165023"/>
                  <a:pt x="287094" y="1170165"/>
                  <a:pt x="291925" y="1171977"/>
                </a:cubicBezTo>
                <a:cubicBezTo>
                  <a:pt x="298757" y="1174539"/>
                  <a:pt x="306235" y="1174839"/>
                  <a:pt x="313390" y="1176270"/>
                </a:cubicBezTo>
                <a:cubicBezTo>
                  <a:pt x="394169" y="1216660"/>
                  <a:pt x="328649" y="1187226"/>
                  <a:pt x="545210" y="1180563"/>
                </a:cubicBezTo>
                <a:cubicBezTo>
                  <a:pt x="566712" y="1179901"/>
                  <a:pt x="588139" y="1177701"/>
                  <a:pt x="609604" y="1176270"/>
                </a:cubicBezTo>
                <a:cubicBezTo>
                  <a:pt x="623914" y="1173408"/>
                  <a:pt x="638139" y="1170083"/>
                  <a:pt x="652534" y="1167684"/>
                </a:cubicBezTo>
                <a:cubicBezTo>
                  <a:pt x="663914" y="1165787"/>
                  <a:pt x="675636" y="1165985"/>
                  <a:pt x="686877" y="1163391"/>
                </a:cubicBezTo>
                <a:cubicBezTo>
                  <a:pt x="694386" y="1161658"/>
                  <a:pt x="700807" y="1156420"/>
                  <a:pt x="708342" y="1154805"/>
                </a:cubicBezTo>
                <a:cubicBezTo>
                  <a:pt x="721013" y="1152090"/>
                  <a:pt x="734100" y="1151943"/>
                  <a:pt x="746979" y="1150512"/>
                </a:cubicBezTo>
                <a:cubicBezTo>
                  <a:pt x="831596" y="1155971"/>
                  <a:pt x="867312" y="1154828"/>
                  <a:pt x="940162" y="1167684"/>
                </a:cubicBezTo>
                <a:cubicBezTo>
                  <a:pt x="944618" y="1168470"/>
                  <a:pt x="948707" y="1170677"/>
                  <a:pt x="953041" y="1171977"/>
                </a:cubicBezTo>
                <a:cubicBezTo>
                  <a:pt x="963019" y="1174971"/>
                  <a:pt x="973113" y="1177569"/>
                  <a:pt x="983091" y="1180563"/>
                </a:cubicBezTo>
                <a:cubicBezTo>
                  <a:pt x="987425" y="1181863"/>
                  <a:pt x="991580" y="1183758"/>
                  <a:pt x="995970" y="1184856"/>
                </a:cubicBezTo>
                <a:cubicBezTo>
                  <a:pt x="1011383" y="1188709"/>
                  <a:pt x="1065403" y="1197144"/>
                  <a:pt x="1068950" y="1197735"/>
                </a:cubicBezTo>
                <a:cubicBezTo>
                  <a:pt x="1078967" y="1196304"/>
                  <a:pt x="1089079" y="1195426"/>
                  <a:pt x="1099001" y="1193442"/>
                </a:cubicBezTo>
                <a:cubicBezTo>
                  <a:pt x="1103438" y="1192555"/>
                  <a:pt x="1107443" y="1190036"/>
                  <a:pt x="1111880" y="1189149"/>
                </a:cubicBezTo>
                <a:cubicBezTo>
                  <a:pt x="1121802" y="1187165"/>
                  <a:pt x="1131914" y="1186287"/>
                  <a:pt x="1141931" y="1184856"/>
                </a:cubicBezTo>
                <a:cubicBezTo>
                  <a:pt x="1149086" y="1180563"/>
                  <a:pt x="1156101" y="1176029"/>
                  <a:pt x="1163395" y="1171977"/>
                </a:cubicBezTo>
                <a:cubicBezTo>
                  <a:pt x="1168989" y="1168869"/>
                  <a:pt x="1176042" y="1167916"/>
                  <a:pt x="1180567" y="1163391"/>
                </a:cubicBezTo>
                <a:cubicBezTo>
                  <a:pt x="1203149" y="1140809"/>
                  <a:pt x="1159056" y="1156963"/>
                  <a:pt x="1202032" y="1146219"/>
                </a:cubicBezTo>
                <a:cubicBezTo>
                  <a:pt x="1210618" y="1137633"/>
                  <a:pt x="1221055" y="1130565"/>
                  <a:pt x="1227790" y="1120462"/>
                </a:cubicBezTo>
                <a:cubicBezTo>
                  <a:pt x="1230652" y="1116169"/>
                  <a:pt x="1234069" y="1112198"/>
                  <a:pt x="1236376" y="1107583"/>
                </a:cubicBezTo>
                <a:cubicBezTo>
                  <a:pt x="1238400" y="1103536"/>
                  <a:pt x="1237891" y="1098276"/>
                  <a:pt x="1240669" y="1094704"/>
                </a:cubicBezTo>
                <a:cubicBezTo>
                  <a:pt x="1260939" y="1068642"/>
                  <a:pt x="1258144" y="1071707"/>
                  <a:pt x="1279305" y="1064653"/>
                </a:cubicBezTo>
                <a:cubicBezTo>
                  <a:pt x="1315817" y="1003800"/>
                  <a:pt x="1277991" y="1070361"/>
                  <a:pt x="1296477" y="1030309"/>
                </a:cubicBezTo>
                <a:cubicBezTo>
                  <a:pt x="1324664" y="969239"/>
                  <a:pt x="1311554" y="1006544"/>
                  <a:pt x="1322235" y="974501"/>
                </a:cubicBezTo>
                <a:cubicBezTo>
                  <a:pt x="1319373" y="940157"/>
                  <a:pt x="1317320" y="905737"/>
                  <a:pt x="1313649" y="871470"/>
                </a:cubicBezTo>
                <a:cubicBezTo>
                  <a:pt x="1313020" y="865603"/>
                  <a:pt x="1310443" y="860097"/>
                  <a:pt x="1309356" y="854298"/>
                </a:cubicBezTo>
                <a:cubicBezTo>
                  <a:pt x="1306148" y="837188"/>
                  <a:pt x="1303632" y="819955"/>
                  <a:pt x="1300770" y="802783"/>
                </a:cubicBezTo>
                <a:cubicBezTo>
                  <a:pt x="1302201" y="792766"/>
                  <a:pt x="1301605" y="782241"/>
                  <a:pt x="1305063" y="772732"/>
                </a:cubicBezTo>
                <a:cubicBezTo>
                  <a:pt x="1307508" y="766008"/>
                  <a:pt x="1314392" y="761772"/>
                  <a:pt x="1317942" y="755560"/>
                </a:cubicBezTo>
                <a:cubicBezTo>
                  <a:pt x="1320187" y="751631"/>
                  <a:pt x="1319725" y="746446"/>
                  <a:pt x="1322235" y="742681"/>
                </a:cubicBezTo>
                <a:cubicBezTo>
                  <a:pt x="1328846" y="732765"/>
                  <a:pt x="1338490" y="727551"/>
                  <a:pt x="1347993" y="721216"/>
                </a:cubicBezTo>
                <a:cubicBezTo>
                  <a:pt x="1355148" y="709768"/>
                  <a:pt x="1362512" y="698449"/>
                  <a:pt x="1369457" y="686873"/>
                </a:cubicBezTo>
                <a:cubicBezTo>
                  <a:pt x="1373750" y="679718"/>
                  <a:pt x="1377330" y="672083"/>
                  <a:pt x="1382336" y="665408"/>
                </a:cubicBezTo>
                <a:cubicBezTo>
                  <a:pt x="1385979" y="660551"/>
                  <a:pt x="1391264" y="657139"/>
                  <a:pt x="1395215" y="652529"/>
                </a:cubicBezTo>
                <a:cubicBezTo>
                  <a:pt x="1399871" y="647097"/>
                  <a:pt x="1403035" y="640416"/>
                  <a:pt x="1408094" y="635357"/>
                </a:cubicBezTo>
                <a:cubicBezTo>
                  <a:pt x="1416416" y="627035"/>
                  <a:pt x="1423377" y="625970"/>
                  <a:pt x="1433852" y="622478"/>
                </a:cubicBezTo>
                <a:cubicBezTo>
                  <a:pt x="1455985" y="600347"/>
                  <a:pt x="1437402" y="616214"/>
                  <a:pt x="1472488" y="596721"/>
                </a:cubicBezTo>
                <a:cubicBezTo>
                  <a:pt x="1476998" y="594215"/>
                  <a:pt x="1480752" y="590442"/>
                  <a:pt x="1485367" y="588135"/>
                </a:cubicBezTo>
                <a:cubicBezTo>
                  <a:pt x="1489414" y="586111"/>
                  <a:pt x="1494199" y="585866"/>
                  <a:pt x="1498246" y="583842"/>
                </a:cubicBezTo>
                <a:cubicBezTo>
                  <a:pt x="1527893" y="569018"/>
                  <a:pt x="1492558" y="579898"/>
                  <a:pt x="1528297" y="570963"/>
                </a:cubicBezTo>
                <a:cubicBezTo>
                  <a:pt x="1532590" y="568101"/>
                  <a:pt x="1536281" y="564009"/>
                  <a:pt x="1541176" y="562377"/>
                </a:cubicBezTo>
                <a:cubicBezTo>
                  <a:pt x="1556632" y="557225"/>
                  <a:pt x="1619784" y="554019"/>
                  <a:pt x="1622742" y="553791"/>
                </a:cubicBezTo>
                <a:cubicBezTo>
                  <a:pt x="1634190" y="550929"/>
                  <a:pt x="1645294" y="545659"/>
                  <a:pt x="1657086" y="545205"/>
                </a:cubicBezTo>
                <a:cubicBezTo>
                  <a:pt x="1699156" y="543587"/>
                  <a:pt x="1726592" y="548388"/>
                  <a:pt x="1764410" y="553791"/>
                </a:cubicBezTo>
                <a:cubicBezTo>
                  <a:pt x="1815925" y="550929"/>
                  <a:pt x="1867605" y="550215"/>
                  <a:pt x="1918956" y="545205"/>
                </a:cubicBezTo>
                <a:cubicBezTo>
                  <a:pt x="1926626" y="544457"/>
                  <a:pt x="1933040" y="538833"/>
                  <a:pt x="1940421" y="536619"/>
                </a:cubicBezTo>
                <a:cubicBezTo>
                  <a:pt x="1947410" y="534522"/>
                  <a:pt x="1954776" y="533967"/>
                  <a:pt x="1961886" y="532326"/>
                </a:cubicBezTo>
                <a:cubicBezTo>
                  <a:pt x="1973384" y="529673"/>
                  <a:pt x="1984781" y="526602"/>
                  <a:pt x="1996229" y="523740"/>
                </a:cubicBezTo>
                <a:cubicBezTo>
                  <a:pt x="2021369" y="506980"/>
                  <a:pt x="1996466" y="519447"/>
                  <a:pt x="2039159" y="519447"/>
                </a:cubicBezTo>
                <a:cubicBezTo>
                  <a:pt x="2045059" y="519447"/>
                  <a:pt x="2050545" y="516311"/>
                  <a:pt x="2056331" y="515154"/>
                </a:cubicBezTo>
                <a:cubicBezTo>
                  <a:pt x="2064866" y="513447"/>
                  <a:pt x="2073502" y="512293"/>
                  <a:pt x="2082088" y="510862"/>
                </a:cubicBezTo>
                <a:cubicBezTo>
                  <a:pt x="2086381" y="509431"/>
                  <a:pt x="2090920" y="508593"/>
                  <a:pt x="2094967" y="506569"/>
                </a:cubicBezTo>
                <a:cubicBezTo>
                  <a:pt x="2099582" y="504262"/>
                  <a:pt x="2102951" y="499615"/>
                  <a:pt x="2107846" y="497983"/>
                </a:cubicBezTo>
                <a:cubicBezTo>
                  <a:pt x="2116104" y="495230"/>
                  <a:pt x="2125018" y="495121"/>
                  <a:pt x="2133604" y="493690"/>
                </a:cubicBezTo>
                <a:cubicBezTo>
                  <a:pt x="2139328" y="490828"/>
                  <a:pt x="2145823" y="489157"/>
                  <a:pt x="2150776" y="485104"/>
                </a:cubicBezTo>
                <a:cubicBezTo>
                  <a:pt x="2161740" y="476133"/>
                  <a:pt x="2168679" y="462341"/>
                  <a:pt x="2180826" y="455053"/>
                </a:cubicBezTo>
                <a:cubicBezTo>
                  <a:pt x="2194113" y="447081"/>
                  <a:pt x="2207889" y="439816"/>
                  <a:pt x="2219463" y="429295"/>
                </a:cubicBezTo>
                <a:cubicBezTo>
                  <a:pt x="2229945" y="419766"/>
                  <a:pt x="2239497" y="409262"/>
                  <a:pt x="2249514" y="399245"/>
                </a:cubicBezTo>
                <a:lnTo>
                  <a:pt x="2283857" y="364901"/>
                </a:lnTo>
                <a:cubicBezTo>
                  <a:pt x="2301450" y="335579"/>
                  <a:pt x="2290220" y="348649"/>
                  <a:pt x="2318201" y="326264"/>
                </a:cubicBezTo>
                <a:cubicBezTo>
                  <a:pt x="2319632" y="321971"/>
                  <a:pt x="2322760" y="317902"/>
                  <a:pt x="2322494" y="313385"/>
                </a:cubicBezTo>
                <a:cubicBezTo>
                  <a:pt x="2320518" y="279801"/>
                  <a:pt x="2315989" y="243526"/>
                  <a:pt x="2296736" y="214647"/>
                </a:cubicBezTo>
                <a:cubicBezTo>
                  <a:pt x="2293368" y="209596"/>
                  <a:pt x="2287808" y="206378"/>
                  <a:pt x="2283857" y="201769"/>
                </a:cubicBezTo>
                <a:cubicBezTo>
                  <a:pt x="2279201" y="196337"/>
                  <a:pt x="2275272" y="190321"/>
                  <a:pt x="2270979" y="184597"/>
                </a:cubicBezTo>
                <a:cubicBezTo>
                  <a:pt x="2269548" y="180304"/>
                  <a:pt x="2267271" y="176205"/>
                  <a:pt x="2266686" y="171718"/>
                </a:cubicBezTo>
                <a:cubicBezTo>
                  <a:pt x="2262966" y="143197"/>
                  <a:pt x="2264762" y="113839"/>
                  <a:pt x="2258100" y="85859"/>
                </a:cubicBezTo>
                <a:cubicBezTo>
                  <a:pt x="2257052" y="81457"/>
                  <a:pt x="2242021" y="78366"/>
                  <a:pt x="2245221" y="81566"/>
                </a:cubicBezTo>
                <a:cubicBezTo>
                  <a:pt x="2252704" y="89049"/>
                  <a:pt x="2269982" y="92049"/>
                  <a:pt x="2279564" y="94445"/>
                </a:cubicBezTo>
                <a:cubicBezTo>
                  <a:pt x="2288150" y="100169"/>
                  <a:pt x="2299598" y="103030"/>
                  <a:pt x="2305322" y="111616"/>
                </a:cubicBezTo>
                <a:cubicBezTo>
                  <a:pt x="2317276" y="129547"/>
                  <a:pt x="2310260" y="120847"/>
                  <a:pt x="2326787" y="137374"/>
                </a:cubicBezTo>
                <a:cubicBezTo>
                  <a:pt x="2312643" y="146803"/>
                  <a:pt x="2308913" y="153531"/>
                  <a:pt x="2288150" y="141667"/>
                </a:cubicBezTo>
                <a:cubicBezTo>
                  <a:pt x="2284221" y="139422"/>
                  <a:pt x="2286367" y="132553"/>
                  <a:pt x="2283857" y="128788"/>
                </a:cubicBezTo>
                <a:cubicBezTo>
                  <a:pt x="2280490" y="123737"/>
                  <a:pt x="2275643" y="119796"/>
                  <a:pt x="2270979" y="115909"/>
                </a:cubicBezTo>
                <a:cubicBezTo>
                  <a:pt x="2267015" y="112606"/>
                  <a:pt x="2258100" y="107324"/>
                  <a:pt x="2258100" y="10732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2966386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dirty="0"/>
                  <a:t>Given </a:t>
                </a:r>
                <a14:m>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 </m:t>
                    </m:r>
                  </m:oMath>
                </a14:m>
                <a:r>
                  <a:rPr lang="en-US" sz="2400" dirty="0"/>
                  <a:t>find the value of the </a:t>
                </a:r>
                <a14:m>
                  <m:oMath xmlns:m="http://schemas.openxmlformats.org/officeDocument/2006/math">
                    <m:r>
                      <a:rPr lang="en-US" sz="2400" b="0" i="1" smtClean="0">
                        <a:latin typeface="Cambria Math" panose="02040503050406030204" pitchFamily="18" charset="0"/>
                      </a:rPr>
                      <m:t>𝑘</m:t>
                    </m:r>
                  </m:oMath>
                </a14:m>
                <a:r>
                  <a:rPr lang="en-US" sz="2400" dirty="0"/>
                  <a:t>-</a:t>
                </a:r>
                <a:r>
                  <a:rPr lang="en-US" sz="2400" dirty="0" err="1"/>
                  <a:t>th</a:t>
                </a:r>
                <a:r>
                  <a:rPr lang="en-US" sz="2400" dirty="0"/>
                  <a:t> largest element.</a:t>
                </a:r>
              </a:p>
              <a:p>
                <a:pPr lvl="1"/>
                <a:endParaRPr lang="en-US" dirty="0"/>
              </a:p>
              <a:p>
                <a:pPr lvl="1"/>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01"/>
                </a:stretch>
              </a:blipFill>
            </p:spPr>
            <p:txBody>
              <a:bodyPr/>
              <a:lstStyle/>
              <a:p>
                <a:r>
                  <a:rPr lang="en-IL">
                    <a:noFill/>
                  </a:rPr>
                  <a:t> </a:t>
                </a:r>
              </a:p>
            </p:txBody>
          </p:sp>
        </mc:Fallback>
      </mc:AlternateContent>
      <p:pic>
        <p:nvPicPr>
          <p:cNvPr id="5" name="Picture 4">
            <a:extLst>
              <a:ext uri="{FF2B5EF4-FFF2-40B4-BE49-F238E27FC236}">
                <a16:creationId xmlns:a16="http://schemas.microsoft.com/office/drawing/2014/main" id="{E653CB8C-E5EE-427D-B703-2E32A9FFBF37}"/>
              </a:ext>
            </a:extLst>
          </p:cNvPr>
          <p:cNvPicPr>
            <a:picLocks noChangeAspect="1"/>
          </p:cNvPicPr>
          <p:nvPr/>
        </p:nvPicPr>
        <p:blipFill>
          <a:blip r:embed="rId3"/>
          <a:stretch>
            <a:fillRect/>
          </a:stretch>
        </p:blipFill>
        <p:spPr>
          <a:xfrm>
            <a:off x="8003711" y="3330430"/>
            <a:ext cx="2458227" cy="2173710"/>
          </a:xfrm>
          <a:prstGeom prst="rect">
            <a:avLst/>
          </a:prstGeom>
        </p:spPr>
      </p:pic>
    </p:spTree>
    <p:extLst>
      <p:ext uri="{BB962C8B-B14F-4D97-AF65-F5344CB8AC3E}">
        <p14:creationId xmlns:p14="http://schemas.microsoft.com/office/powerpoint/2010/main" val="12939843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dirty="0"/>
                  <a:t>Given </a:t>
                </a:r>
                <a14:m>
                  <m:oMath xmlns:m="http://schemas.openxmlformats.org/officeDocument/2006/math">
                    <m:r>
                      <a:rPr lang="en-US" sz="2400" i="1">
                        <a:latin typeface="Cambria Math" panose="02040503050406030204" pitchFamily="18" charset="0"/>
                      </a:rPr>
                      <m:t>1≤</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𝑛</m:t>
                    </m:r>
                    <m:r>
                      <a:rPr lang="en-US" sz="2400" b="0" i="1" smtClean="0">
                        <a:latin typeface="Cambria Math" panose="02040503050406030204" pitchFamily="18" charset="0"/>
                      </a:rPr>
                      <m:t>,</m:t>
                    </m:r>
                    <m:r>
                      <a:rPr lang="en-US" sz="2400" i="1">
                        <a:latin typeface="Cambria Math" panose="02040503050406030204" pitchFamily="18" charset="0"/>
                      </a:rPr>
                      <m:t> </m:t>
                    </m:r>
                  </m:oMath>
                </a14:m>
                <a:r>
                  <a:rPr lang="en-US" sz="2400" dirty="0"/>
                  <a:t>find the value of the </a:t>
                </a:r>
                <a14:m>
                  <m:oMath xmlns:m="http://schemas.openxmlformats.org/officeDocument/2006/math">
                    <m:r>
                      <a:rPr lang="en-US" sz="2400" i="1">
                        <a:latin typeface="Cambria Math" panose="02040503050406030204" pitchFamily="18" charset="0"/>
                      </a:rPr>
                      <m:t>𝑘</m:t>
                    </m:r>
                  </m:oMath>
                </a14:m>
                <a:r>
                  <a:rPr lang="en-US" sz="2400" dirty="0"/>
                  <a:t>-</a:t>
                </a:r>
                <a:r>
                  <a:rPr lang="en-US" sz="2400" dirty="0" err="1"/>
                  <a:t>th</a:t>
                </a:r>
                <a:r>
                  <a:rPr lang="en-US" sz="2400" dirty="0"/>
                  <a:t> largest element.</a:t>
                </a:r>
              </a:p>
              <a:p>
                <a:pPr marL="201168" lvl="1" indent="0">
                  <a:buNone/>
                </a:pPr>
                <a:endParaRPr lang="en-US" sz="2400" dirty="0"/>
              </a:p>
              <a:p>
                <a:pPr lvl="1"/>
                <a:r>
                  <a:rPr lang="en-US" sz="2400" b="1" dirty="0"/>
                  <a:t>Answer 1:</a:t>
                </a:r>
              </a:p>
              <a:p>
                <a:pPr lvl="1"/>
                <a:r>
                  <a:rPr lang="en-US" sz="2400" dirty="0"/>
                  <a:t>Extract the maximal element </a:t>
                </a:r>
                <a14:m>
                  <m:oMath xmlns:m="http://schemas.openxmlformats.org/officeDocument/2006/math">
                    <m:r>
                      <a:rPr lang="en-US" sz="2400" b="0" i="1" smtClean="0">
                        <a:latin typeface="Cambria Math" panose="02040503050406030204" pitchFamily="18" charset="0"/>
                      </a:rPr>
                      <m:t>𝑘</m:t>
                    </m:r>
                  </m:oMath>
                </a14:m>
                <a:r>
                  <a:rPr lang="en-US" sz="2400" dirty="0"/>
                  <a:t> times.</a:t>
                </a:r>
              </a:p>
              <a:p>
                <a:pPr lvl="1"/>
                <a:r>
                  <a:rPr lang="en-US" sz="2400" dirty="0"/>
                  <a:t>This process destroys the heap.</a:t>
                </a:r>
              </a:p>
              <a:p>
                <a:pPr lvl="1"/>
                <a:r>
                  <a:rPr lang="en-US" sz="2400" dirty="0"/>
                  <a:t>Thus, the </a:t>
                </a:r>
                <a14:m>
                  <m:oMath xmlns:m="http://schemas.openxmlformats.org/officeDocument/2006/math">
                    <m:r>
                      <a:rPr lang="en-US" sz="2400" b="0" i="1" smtClean="0">
                        <a:latin typeface="Cambria Math" panose="02040503050406030204" pitchFamily="18" charset="0"/>
                      </a:rPr>
                      <m:t>𝑘</m:t>
                    </m:r>
                  </m:oMath>
                </a14:m>
                <a:r>
                  <a:rPr lang="en-US" sz="2400" dirty="0"/>
                  <a:t> largest elements must be stored and inserted back into the heap after finding the required value.</a:t>
                </a:r>
              </a:p>
              <a:p>
                <a:pPr lvl="1"/>
                <a:r>
                  <a:rPr lang="en-US" sz="2400" dirty="0"/>
                  <a:t>What is the runtime?</a:t>
                </a:r>
              </a:p>
              <a:p>
                <a:pPr lvl="2"/>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r>
                          <m:rPr>
                            <m:sty m:val="p"/>
                          </m:rPr>
                          <a:rPr lang="en-US" sz="2400" b="0" i="0" smtClean="0">
                            <a:latin typeface="Cambria Math" panose="02040503050406030204" pitchFamily="18" charset="0"/>
                          </a:rPr>
                          <m:t>log</m:t>
                        </m:r>
                        <m:r>
                          <a:rPr lang="en-US" sz="2400" b="0" i="1" smtClean="0">
                            <a:latin typeface="Cambria Math" panose="02040503050406030204" pitchFamily="18" charset="0"/>
                          </a:rPr>
                          <m:t>𝑛</m:t>
                        </m:r>
                      </m:e>
                    </m:d>
                    <m:r>
                      <a:rPr lang="en-US" sz="2400" b="0" i="1" smtClean="0">
                        <a:latin typeface="Cambria Math" panose="02040503050406030204" pitchFamily="18" charset="0"/>
                      </a:rPr>
                      <m:t> </m:t>
                    </m:r>
                  </m:oMath>
                </a14:m>
                <a:r>
                  <a:rPr lang="en-US" sz="2400" dirty="0"/>
                  <a:t>(</a:t>
                </a:r>
                <a14:m>
                  <m:oMath xmlns:m="http://schemas.openxmlformats.org/officeDocument/2006/math">
                    <m:r>
                      <a:rPr lang="en-US" sz="2400" i="1" dirty="0" smtClean="0">
                        <a:latin typeface="Cambria Math" panose="02040503050406030204" pitchFamily="18" charset="0"/>
                      </a:rPr>
                      <m:t>𝑘</m:t>
                    </m:r>
                  </m:oMath>
                </a14:m>
                <a:r>
                  <a:rPr lang="en-US" sz="2400" dirty="0"/>
                  <a:t> extractions + </a:t>
                </a:r>
                <a14:m>
                  <m:oMath xmlns:m="http://schemas.openxmlformats.org/officeDocument/2006/math">
                    <m:r>
                      <a:rPr lang="en-US" sz="2400" i="1" dirty="0" smtClean="0">
                        <a:latin typeface="Cambria Math" panose="02040503050406030204" pitchFamily="18" charset="0"/>
                      </a:rPr>
                      <m:t>𝑘</m:t>
                    </m:r>
                  </m:oMath>
                </a14:m>
                <a:r>
                  <a:rPr lang="en-US" sz="2400" dirty="0"/>
                  <a:t> insertions, each takes </a:t>
                </a:r>
                <a14:m>
                  <m:oMath xmlns:m="http://schemas.openxmlformats.org/officeDocument/2006/math">
                    <m:r>
                      <a:rPr lang="en-US" sz="2400" i="1">
                        <a:latin typeface="Cambria Math" panose="02040503050406030204" pitchFamily="18" charset="0"/>
                      </a:rPr>
                      <m:t>𝑂</m:t>
                    </m:r>
                    <m:d>
                      <m:dPr>
                        <m:ctrlPr>
                          <a:rPr lang="en-US" sz="2400" i="1">
                            <a:latin typeface="Cambria Math" panose="02040503050406030204" pitchFamily="18" charset="0"/>
                          </a:rPr>
                        </m:ctrlPr>
                      </m:dPr>
                      <m:e>
                        <m:r>
                          <m:rPr>
                            <m:sty m:val="p"/>
                          </m:rPr>
                          <a:rPr lang="en-US" sz="2400" i="0">
                            <a:latin typeface="Cambria Math" panose="02040503050406030204" pitchFamily="18" charset="0"/>
                          </a:rPr>
                          <m:t>log</m:t>
                        </m:r>
                        <m:r>
                          <a:rPr lang="en-US" sz="2400" i="1">
                            <a:latin typeface="Cambria Math" panose="02040503050406030204" pitchFamily="18" charset="0"/>
                          </a:rPr>
                          <m:t>𝑛</m:t>
                        </m:r>
                      </m:e>
                    </m:d>
                  </m:oMath>
                </a14:m>
                <a:r>
                  <a:rPr lang="en-US" sz="2400" dirty="0"/>
                  <a:t>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t="-2201"/>
                </a:stretch>
              </a:blipFill>
            </p:spPr>
            <p:txBody>
              <a:bodyPr/>
              <a:lstStyle/>
              <a:p>
                <a:r>
                  <a:rPr lang="en-IL">
                    <a:noFill/>
                  </a:rPr>
                  <a:t> </a:t>
                </a:r>
              </a:p>
            </p:txBody>
          </p:sp>
        </mc:Fallback>
      </mc:AlternateContent>
    </p:spTree>
    <p:extLst>
      <p:ext uri="{BB962C8B-B14F-4D97-AF65-F5344CB8AC3E}">
        <p14:creationId xmlns:p14="http://schemas.microsoft.com/office/powerpoint/2010/main" val="2061775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45733"/>
                <a:ext cx="10058400" cy="4456743"/>
              </a:xfrm>
            </p:spPr>
            <p:txBody>
              <a:bodyPr>
                <a:normAutofit/>
              </a:bodyPr>
              <a:lstStyle/>
              <a:p>
                <a:pPr lvl="1"/>
                <a:r>
                  <a:rPr lang="en-US" sz="2400" dirty="0"/>
                  <a:t>Given </a:t>
                </a:r>
                <a14:m>
                  <m:oMath xmlns:m="http://schemas.openxmlformats.org/officeDocument/2006/math">
                    <m:r>
                      <a:rPr lang="en-US" sz="2400" i="1">
                        <a:latin typeface="Cambria Math" panose="02040503050406030204" pitchFamily="18" charset="0"/>
                      </a:rPr>
                      <m:t>1≤</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𝑛</m:t>
                    </m:r>
                    <m:r>
                      <a:rPr lang="en-US" sz="2400" b="0" i="1" smtClean="0">
                        <a:latin typeface="Cambria Math" panose="02040503050406030204" pitchFamily="18" charset="0"/>
                      </a:rPr>
                      <m:t>,</m:t>
                    </m:r>
                    <m:r>
                      <a:rPr lang="en-US" sz="2400" i="1">
                        <a:latin typeface="Cambria Math" panose="02040503050406030204" pitchFamily="18" charset="0"/>
                      </a:rPr>
                      <m:t> </m:t>
                    </m:r>
                  </m:oMath>
                </a14:m>
                <a:r>
                  <a:rPr lang="en-US" sz="2400" dirty="0"/>
                  <a:t>find the value of the </a:t>
                </a:r>
                <a14:m>
                  <m:oMath xmlns:m="http://schemas.openxmlformats.org/officeDocument/2006/math">
                    <m:r>
                      <a:rPr lang="en-US" sz="2400" i="1">
                        <a:latin typeface="Cambria Math" panose="02040503050406030204" pitchFamily="18" charset="0"/>
                      </a:rPr>
                      <m:t>𝑘</m:t>
                    </m:r>
                  </m:oMath>
                </a14:m>
                <a:r>
                  <a:rPr lang="en-US" sz="2400" dirty="0"/>
                  <a:t>-</a:t>
                </a:r>
                <a:r>
                  <a:rPr lang="en-US" sz="2400" dirty="0" err="1"/>
                  <a:t>th</a:t>
                </a:r>
                <a:r>
                  <a:rPr lang="en-US" sz="2400" dirty="0"/>
                  <a:t> largest element.</a:t>
                </a:r>
              </a:p>
              <a:p>
                <a:pPr marL="201168" lvl="1" indent="0">
                  <a:buNone/>
                </a:pPr>
                <a:endParaRPr lang="en-US" sz="2400" dirty="0"/>
              </a:p>
              <a:p>
                <a:pPr lvl="1"/>
                <a:r>
                  <a:rPr lang="en-US" sz="2400" b="1" dirty="0"/>
                  <a:t>Answer 2:</a:t>
                </a:r>
              </a:p>
              <a:p>
                <a:pPr lvl="1"/>
                <a:r>
                  <a:rPr lang="en-US" sz="2400" dirty="0"/>
                  <a:t>As before, we observe that the k-largest element must be a child of one of the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−1</m:t>
                    </m:r>
                  </m:oMath>
                </a14:m>
                <a:r>
                  <a:rPr lang="en-US" sz="2400" dirty="0"/>
                  <a:t> largest ones.</a:t>
                </a:r>
              </a:p>
              <a:p>
                <a:pPr lvl="1"/>
                <a:r>
                  <a:rPr lang="en-US" sz="2400" dirty="0"/>
                  <a:t>Suppose we know the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−1</m:t>
                    </m:r>
                  </m:oMath>
                </a14:m>
                <a:r>
                  <a:rPr lang="en-US" sz="2400" dirty="0"/>
                  <a:t> largest elements. All we need to do now is compare their children (only those who are not among the largest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−1</m:t>
                    </m:r>
                  </m:oMath>
                </a14:m>
                <a:r>
                  <a:rPr lang="en-US" sz="2400" dirty="0"/>
                  <a:t>).</a:t>
                </a:r>
              </a:p>
              <a:p>
                <a:pPr lvl="1"/>
                <a:r>
                  <a:rPr lang="en-US" sz="2400" dirty="0"/>
                  <a:t>Choose the largest one.</a:t>
                </a:r>
              </a:p>
              <a:p>
                <a:pPr lvl="1"/>
                <a:r>
                  <a:rPr lang="en-US" sz="2400" dirty="0"/>
                  <a:t>We will now describe an algorithm for finding the</a:t>
                </a:r>
                <a14:m>
                  <m:oMath xmlns:m="http://schemas.openxmlformats.org/officeDocument/2006/math">
                    <m:r>
                      <a:rPr lang="en-GB" sz="2400" b="0" i="0" smtClean="0">
                        <a:latin typeface="Cambria Math" panose="02040503050406030204" pitchFamily="18" charset="0"/>
                      </a:rPr>
                      <m:t> </m:t>
                    </m:r>
                    <m:r>
                      <a:rPr lang="en-US" sz="2400" i="1">
                        <a:latin typeface="Cambria Math" panose="02040503050406030204" pitchFamily="18" charset="0"/>
                      </a:rPr>
                      <m:t>𝑘</m:t>
                    </m:r>
                  </m:oMath>
                </a14:m>
                <a:r>
                  <a:rPr lang="en-US" sz="2400" dirty="0"/>
                  <a:t>-</a:t>
                </a:r>
                <a:r>
                  <a:rPr lang="en-US" sz="2400" dirty="0" err="1"/>
                  <a:t>th</a:t>
                </a:r>
                <a:r>
                  <a:rPr lang="en-US" sz="2400" dirty="0"/>
                  <a:t> largest element by first finding </a:t>
                </a:r>
                <a:r>
                  <a:rPr lang="en-US" sz="2400" b="1" dirty="0"/>
                  <a:t>all</a:t>
                </a:r>
                <a:r>
                  <a:rPr lang="en-US" sz="2400" dirty="0"/>
                  <a:t> </a:t>
                </a:r>
                <a14:m>
                  <m:oMath xmlns:m="http://schemas.openxmlformats.org/officeDocument/2006/math">
                    <m:r>
                      <a:rPr lang="en-US" sz="2400" b="0" i="1" smtClean="0">
                        <a:latin typeface="Cambria Math" panose="02040503050406030204" pitchFamily="18" charset="0"/>
                      </a:rPr>
                      <m:t>𝑘</m:t>
                    </m:r>
                    <m:r>
                      <a:rPr lang="en-GB" sz="2400" b="0" i="1" smtClean="0">
                        <a:latin typeface="Cambria Math" panose="02040503050406030204" pitchFamily="18" charset="0"/>
                      </a:rPr>
                      <m:t>−1</m:t>
                    </m:r>
                  </m:oMath>
                </a14:m>
                <a:r>
                  <a:rPr lang="en-US" sz="2400" dirty="0"/>
                  <a:t> largest elements.</a:t>
                </a:r>
              </a:p>
              <a:p>
                <a:pPr lvl="1"/>
                <a:endParaRPr lang="en-US"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80" y="1845733"/>
                <a:ext cx="10058400" cy="4456743"/>
              </a:xfrm>
              <a:blipFill>
                <a:blip r:embed="rId3"/>
                <a:stretch>
                  <a:fillRect t="-1989" r="-2018"/>
                </a:stretch>
              </a:blipFill>
            </p:spPr>
            <p:txBody>
              <a:bodyPr/>
              <a:lstStyle/>
              <a:p>
                <a:r>
                  <a:rPr lang="en-IL">
                    <a:noFill/>
                  </a:rPr>
                  <a:t> </a:t>
                </a:r>
              </a:p>
            </p:txBody>
          </p:sp>
        </mc:Fallback>
      </mc:AlternateContent>
    </p:spTree>
    <p:extLst>
      <p:ext uri="{BB962C8B-B14F-4D97-AF65-F5344CB8AC3E}">
        <p14:creationId xmlns:p14="http://schemas.microsoft.com/office/powerpoint/2010/main" val="31396443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endParaRPr lang="en-US" dirty="0"/>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708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4672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Tree>
    <p:extLst>
      <p:ext uri="{BB962C8B-B14F-4D97-AF65-F5344CB8AC3E}">
        <p14:creationId xmlns:p14="http://schemas.microsoft.com/office/powerpoint/2010/main" val="42599617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Tree>
    <p:extLst>
      <p:ext uri="{BB962C8B-B14F-4D97-AF65-F5344CB8AC3E}">
        <p14:creationId xmlns:p14="http://schemas.microsoft.com/office/powerpoint/2010/main" val="18057469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b="1" dirty="0"/>
              <a:t>Step 1: </a:t>
            </a:r>
            <a:r>
              <a:rPr lang="en-US" dirty="0"/>
              <a:t>initiate the collection with a pointer to the root</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6" name="Arc 35">
            <a:extLst>
              <a:ext uri="{FF2B5EF4-FFF2-40B4-BE49-F238E27FC236}">
                <a16:creationId xmlns:a16="http://schemas.microsoft.com/office/drawing/2014/main" id="{B0A5CBE4-9564-43D8-9E2C-66133E486254}"/>
              </a:ext>
            </a:extLst>
          </p:cNvPr>
          <p:cNvSpPr/>
          <p:nvPr/>
        </p:nvSpPr>
        <p:spPr>
          <a:xfrm rot="7761336">
            <a:off x="8768163" y="2880885"/>
            <a:ext cx="1109708" cy="817031"/>
          </a:xfrm>
          <a:prstGeom prst="arc">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662C22A9-AC64-4061-AC05-D4D088C94176}"/>
              </a:ext>
            </a:extLst>
          </p:cNvPr>
          <p:cNvSpPr txBox="1"/>
          <p:nvPr/>
        </p:nvSpPr>
        <p:spPr>
          <a:xfrm rot="1407749">
            <a:off x="8889936" y="3230925"/>
            <a:ext cx="2045657" cy="307777"/>
          </a:xfrm>
          <a:prstGeom prst="rect">
            <a:avLst/>
          </a:prstGeom>
          <a:noFill/>
        </p:spPr>
        <p:txBody>
          <a:bodyPr wrap="square" rtlCol="0">
            <a:spAutoFit/>
          </a:bodyPr>
          <a:lstStyle/>
          <a:p>
            <a:r>
              <a:rPr lang="en-US" sz="1400" dirty="0"/>
              <a:t>That’s the child collection</a:t>
            </a:r>
          </a:p>
        </p:txBody>
      </p:sp>
    </p:spTree>
    <p:extLst>
      <p:ext uri="{BB962C8B-B14F-4D97-AF65-F5344CB8AC3E}">
        <p14:creationId xmlns:p14="http://schemas.microsoft.com/office/powerpoint/2010/main" val="26286913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endParaRPr lang="en-US" dirty="0"/>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Tree>
    <p:extLst>
      <p:ext uri="{BB962C8B-B14F-4D97-AF65-F5344CB8AC3E}">
        <p14:creationId xmlns:p14="http://schemas.microsoft.com/office/powerpoint/2010/main" val="4241680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Tree>
    <p:extLst>
      <p:ext uri="{BB962C8B-B14F-4D97-AF65-F5344CB8AC3E}">
        <p14:creationId xmlns:p14="http://schemas.microsoft.com/office/powerpoint/2010/main" val="36448882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dirty="0"/>
              <a:t>Remove pointer from collection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Tree>
    <p:extLst>
      <p:ext uri="{BB962C8B-B14F-4D97-AF65-F5344CB8AC3E}">
        <p14:creationId xmlns:p14="http://schemas.microsoft.com/office/powerpoint/2010/main" val="3660844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dirty="0"/>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Tree>
    <p:extLst>
      <p:ext uri="{BB962C8B-B14F-4D97-AF65-F5344CB8AC3E}">
        <p14:creationId xmlns:p14="http://schemas.microsoft.com/office/powerpoint/2010/main" val="37620704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b="1" dirty="0">
                <a:solidFill>
                  <a:srgbClr val="C00000"/>
                </a:solidFill>
              </a:rPr>
              <a:t>Find the pointer to the biggest element</a:t>
            </a:r>
          </a:p>
          <a:p>
            <a:pPr lvl="2"/>
            <a:r>
              <a:rPr lang="en-US" dirty="0"/>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5" name="Arrow: Down 34">
            <a:extLst>
              <a:ext uri="{FF2B5EF4-FFF2-40B4-BE49-F238E27FC236}">
                <a16:creationId xmlns:a16="http://schemas.microsoft.com/office/drawing/2014/main" id="{F9A7F346-58C8-455A-B197-6688C69942A2}"/>
              </a:ext>
            </a:extLst>
          </p:cNvPr>
          <p:cNvSpPr/>
          <p:nvPr/>
        </p:nvSpPr>
        <p:spPr>
          <a:xfrm>
            <a:off x="8534400" y="2867025"/>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57111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b="1" dirty="0">
                <a:solidFill>
                  <a:srgbClr val="C00000"/>
                </a:solidFill>
              </a:rPr>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36" name="Rectangle 35">
            <a:extLst>
              <a:ext uri="{FF2B5EF4-FFF2-40B4-BE49-F238E27FC236}">
                <a16:creationId xmlns:a16="http://schemas.microsoft.com/office/drawing/2014/main" id="{63E861D5-F520-4EBD-ABAD-E84B47E16314}"/>
              </a:ext>
            </a:extLst>
          </p:cNvPr>
          <p:cNvSpPr/>
          <p:nvPr/>
        </p:nvSpPr>
        <p:spPr>
          <a:xfrm>
            <a:off x="8456353" y="3302779"/>
            <a:ext cx="369454" cy="3693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842926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dirty="0"/>
              <a:t>Remove pointer from collection</a:t>
            </a:r>
          </a:p>
          <a:p>
            <a:pPr lvl="2"/>
            <a:r>
              <a:rPr lang="en-US" b="1" dirty="0">
                <a:solidFill>
                  <a:srgbClr val="C00000"/>
                </a:solidFill>
              </a:rPr>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42387045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b="1" dirty="0">
                <a:solidFill>
                  <a:srgbClr val="C00000"/>
                </a:solidFill>
              </a:rPr>
              <a:t>Find the pointer to the biggest element</a:t>
            </a:r>
          </a:p>
          <a:p>
            <a:pPr lvl="2"/>
            <a:r>
              <a:rPr lang="en-US" dirty="0"/>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7" name="Arrow: Down 36">
            <a:extLst>
              <a:ext uri="{FF2B5EF4-FFF2-40B4-BE49-F238E27FC236}">
                <a16:creationId xmlns:a16="http://schemas.microsoft.com/office/drawing/2014/main" id="{82500839-2A81-4504-865F-E5660749696B}"/>
              </a:ext>
            </a:extLst>
          </p:cNvPr>
          <p:cNvSpPr/>
          <p:nvPr/>
        </p:nvSpPr>
        <p:spPr>
          <a:xfrm>
            <a:off x="8534400" y="2867025"/>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471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b="1" dirty="0">
                <a:solidFill>
                  <a:srgbClr val="C00000"/>
                </a:solidFill>
              </a:rPr>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4034923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dirty="0"/>
              <a:t>Remove pointer from collection</a:t>
            </a:r>
          </a:p>
          <a:p>
            <a:pPr lvl="2"/>
            <a:r>
              <a:rPr lang="en-US" b="1" dirty="0">
                <a:solidFill>
                  <a:srgbClr val="C00000"/>
                </a:solidFill>
              </a:rPr>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625823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b="1" dirty="0">
                <a:solidFill>
                  <a:srgbClr val="C00000"/>
                </a:solidFill>
              </a:rPr>
              <a:t>Find the pointer to the biggest element</a:t>
            </a:r>
          </a:p>
          <a:p>
            <a:pPr lvl="2"/>
            <a:r>
              <a:rPr lang="en-US" dirty="0"/>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Arrow: Down 37">
            <a:extLst>
              <a:ext uri="{FF2B5EF4-FFF2-40B4-BE49-F238E27FC236}">
                <a16:creationId xmlns:a16="http://schemas.microsoft.com/office/drawing/2014/main" id="{9643AA89-58C1-44BF-B3FC-3E97D2B46C40}"/>
              </a:ext>
            </a:extLst>
          </p:cNvPr>
          <p:cNvSpPr/>
          <p:nvPr/>
        </p:nvSpPr>
        <p:spPr>
          <a:xfrm>
            <a:off x="8924925" y="2867025"/>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627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b="1" dirty="0">
                <a:solidFill>
                  <a:srgbClr val="C00000"/>
                </a:solidFill>
              </a:rPr>
              <a:t>Remove pointer from collection</a:t>
            </a:r>
          </a:p>
          <a:p>
            <a:pPr lvl="2"/>
            <a:r>
              <a:rPr lang="en-US" dirty="0"/>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23008115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b="1" dirty="0"/>
              <a:t>Step 2:</a:t>
            </a:r>
            <a:r>
              <a:rPr lang="en-US" dirty="0"/>
              <a:t> repeat k-1 times:</a:t>
            </a:r>
          </a:p>
          <a:p>
            <a:pPr lvl="2"/>
            <a:r>
              <a:rPr lang="en-US" dirty="0"/>
              <a:t>Find the pointer to the biggest element</a:t>
            </a:r>
          </a:p>
          <a:p>
            <a:pPr lvl="2"/>
            <a:r>
              <a:rPr lang="en-US" dirty="0"/>
              <a:t>Remove pointer from collection</a:t>
            </a:r>
          </a:p>
          <a:p>
            <a:pPr lvl="2"/>
            <a:r>
              <a:rPr lang="en-US" b="1" dirty="0">
                <a:solidFill>
                  <a:srgbClr val="C00000"/>
                </a:solidFill>
              </a:rPr>
              <a:t>Add its children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Rectangle 37">
            <a:extLst>
              <a:ext uri="{FF2B5EF4-FFF2-40B4-BE49-F238E27FC236}">
                <a16:creationId xmlns:a16="http://schemas.microsoft.com/office/drawing/2014/main" id="{4AA74FB4-0237-4695-BE12-197285578C6F}"/>
              </a:ext>
            </a:extLst>
          </p:cNvPr>
          <p:cNvSpPr/>
          <p:nvPr/>
        </p:nvSpPr>
        <p:spPr>
          <a:xfrm>
            <a:off x="9564715"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extLst>
      <p:ext uri="{BB962C8B-B14F-4D97-AF65-F5344CB8AC3E}">
        <p14:creationId xmlns:p14="http://schemas.microsoft.com/office/powerpoint/2010/main" val="38947687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dirty="0"/>
              <a:t>Step 2: repeat k-1 times:</a:t>
            </a:r>
          </a:p>
          <a:p>
            <a:pPr lvl="2"/>
            <a:r>
              <a:rPr lang="en-US" dirty="0"/>
              <a:t>Find the pointer to the biggest element</a:t>
            </a:r>
          </a:p>
          <a:p>
            <a:pPr lvl="2"/>
            <a:r>
              <a:rPr lang="en-US" dirty="0"/>
              <a:t>Remove pointer from collection</a:t>
            </a:r>
          </a:p>
          <a:p>
            <a:pPr lvl="2"/>
            <a:r>
              <a:rPr lang="en-US" dirty="0"/>
              <a:t>Add its children</a:t>
            </a:r>
          </a:p>
          <a:p>
            <a:pPr lvl="1"/>
            <a:r>
              <a:rPr lang="en-US" b="1" dirty="0"/>
              <a:t>Step 3:</a:t>
            </a:r>
            <a:r>
              <a:rPr lang="en-US" dirty="0"/>
              <a:t> return max(collection)</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Rectangle 37">
            <a:extLst>
              <a:ext uri="{FF2B5EF4-FFF2-40B4-BE49-F238E27FC236}">
                <a16:creationId xmlns:a16="http://schemas.microsoft.com/office/drawing/2014/main" id="{4AA74FB4-0237-4695-BE12-197285578C6F}"/>
              </a:ext>
            </a:extLst>
          </p:cNvPr>
          <p:cNvSpPr/>
          <p:nvPr/>
        </p:nvSpPr>
        <p:spPr>
          <a:xfrm>
            <a:off x="9564715"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39" name="Arrow: Down 38">
            <a:extLst>
              <a:ext uri="{FF2B5EF4-FFF2-40B4-BE49-F238E27FC236}">
                <a16:creationId xmlns:a16="http://schemas.microsoft.com/office/drawing/2014/main" id="{78D48D15-70FB-4B07-8A65-306433114AC1}"/>
              </a:ext>
            </a:extLst>
          </p:cNvPr>
          <p:cNvSpPr/>
          <p:nvPr/>
        </p:nvSpPr>
        <p:spPr>
          <a:xfrm rot="12941565">
            <a:off x="8701526" y="2916362"/>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3436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dirty="0"/>
              <a:t>Step 2: repeat k-1 times:</a:t>
            </a:r>
          </a:p>
          <a:p>
            <a:pPr lvl="2"/>
            <a:r>
              <a:rPr lang="en-US" dirty="0"/>
              <a:t>Find the pointer to the biggest element</a:t>
            </a:r>
          </a:p>
          <a:p>
            <a:pPr lvl="2"/>
            <a:r>
              <a:rPr lang="en-US" dirty="0"/>
              <a:t>Remove pointer from collection</a:t>
            </a:r>
          </a:p>
          <a:p>
            <a:pPr lvl="2"/>
            <a:r>
              <a:rPr lang="en-US" dirty="0"/>
              <a:t>Add its children</a:t>
            </a:r>
          </a:p>
          <a:p>
            <a:pPr lvl="1"/>
            <a:r>
              <a:rPr lang="en-US" dirty="0"/>
              <a:t>Step 3: return max(collection)</a:t>
            </a:r>
          </a:p>
          <a:p>
            <a:pPr lvl="1"/>
            <a:r>
              <a:rPr lang="en-US" dirty="0"/>
              <a:t>Complexity?</a:t>
            </a:r>
          </a:p>
        </p:txBody>
      </p:sp>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Rectangle 37">
            <a:extLst>
              <a:ext uri="{FF2B5EF4-FFF2-40B4-BE49-F238E27FC236}">
                <a16:creationId xmlns:a16="http://schemas.microsoft.com/office/drawing/2014/main" id="{4AA74FB4-0237-4695-BE12-197285578C6F}"/>
              </a:ext>
            </a:extLst>
          </p:cNvPr>
          <p:cNvSpPr/>
          <p:nvPr/>
        </p:nvSpPr>
        <p:spPr>
          <a:xfrm>
            <a:off x="9564715"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39" name="Arrow: Down 38">
            <a:extLst>
              <a:ext uri="{FF2B5EF4-FFF2-40B4-BE49-F238E27FC236}">
                <a16:creationId xmlns:a16="http://schemas.microsoft.com/office/drawing/2014/main" id="{78D48D15-70FB-4B07-8A65-306433114AC1}"/>
              </a:ext>
            </a:extLst>
          </p:cNvPr>
          <p:cNvSpPr/>
          <p:nvPr/>
        </p:nvSpPr>
        <p:spPr>
          <a:xfrm rot="12941565">
            <a:off x="8701526" y="2916362"/>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24426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67334"/>
                <a:ext cx="10058400" cy="4023360"/>
              </a:xfrm>
            </p:spPr>
            <p:txBody>
              <a:bodyPr/>
              <a:lstStyle/>
              <a:p>
                <a:pPr lvl="1"/>
                <a:r>
                  <a:rPr lang="en-US" b="1" dirty="0"/>
                  <a:t>Child collection</a:t>
                </a:r>
              </a:p>
              <a:p>
                <a:pPr lvl="1"/>
                <a:r>
                  <a:rPr lang="en-US" dirty="0"/>
                  <a:t>Create a list of pointers to the heap</a:t>
                </a:r>
              </a:p>
              <a:p>
                <a:pPr lvl="1"/>
                <a:r>
                  <a:rPr lang="en-US" dirty="0"/>
                  <a:t>Step 1: initiate the collection with a pointer to the root</a:t>
                </a:r>
              </a:p>
              <a:p>
                <a:pPr lvl="1"/>
                <a:r>
                  <a:rPr lang="en-US" dirty="0"/>
                  <a:t>Step 2: repeat k-1 times:</a:t>
                </a:r>
              </a:p>
              <a:p>
                <a:pPr lvl="2"/>
                <a:r>
                  <a:rPr lang="en-US" dirty="0"/>
                  <a:t>Find the pointer to the biggest element</a:t>
                </a:r>
              </a:p>
              <a:p>
                <a:pPr lvl="2"/>
                <a:r>
                  <a:rPr lang="en-US" dirty="0"/>
                  <a:t>Remove the pointer from the collection</a:t>
                </a:r>
              </a:p>
              <a:p>
                <a:pPr lvl="2"/>
                <a:r>
                  <a:rPr lang="en-US" dirty="0"/>
                  <a:t>Add it’s children</a:t>
                </a:r>
              </a:p>
              <a:p>
                <a:pPr lvl="1"/>
                <a:r>
                  <a:rPr lang="en-US" dirty="0"/>
                  <a:t>Step 3: return max(collection)</a:t>
                </a:r>
              </a:p>
              <a:p>
                <a:pPr lvl="1"/>
                <a:r>
                  <a:rPr lang="en-US" dirty="0"/>
                  <a:t>Complexity?</a:t>
                </a:r>
              </a:p>
              <a:p>
                <a:pPr lvl="2"/>
                <a:r>
                  <a:rPr lang="en-US" b="1" dirty="0"/>
                  <a:t>For the </a:t>
                </a:r>
                <a14:m>
                  <m:oMath xmlns:m="http://schemas.openxmlformats.org/officeDocument/2006/math">
                    <m:r>
                      <a:rPr lang="en-US" b="1" i="1" smtClean="0">
                        <a:latin typeface="Cambria Math" panose="02040503050406030204" pitchFamily="18" charset="0"/>
                      </a:rPr>
                      <m:t>𝒊</m:t>
                    </m:r>
                  </m:oMath>
                </a14:m>
                <a:r>
                  <a:rPr lang="en-US" b="1" dirty="0"/>
                  <a:t>’s iteration:</a:t>
                </a:r>
              </a:p>
              <a:p>
                <a:pPr lvl="2"/>
                <a:r>
                  <a:rPr lang="en-US" dirty="0"/>
                  <a:t>Find max: O(</a:t>
                </a:r>
                <a:r>
                  <a:rPr lang="en-US" dirty="0" err="1"/>
                  <a:t>i</a:t>
                </a:r>
                <a:r>
                  <a:rPr lang="en-US" dirty="0"/>
                  <a:t>)</a:t>
                </a:r>
              </a:p>
              <a:p>
                <a:pPr lvl="2"/>
                <a:r>
                  <a:rPr lang="en-US" dirty="0"/>
                  <a:t>Remove + Add: O(1)</a:t>
                </a:r>
              </a:p>
              <a:p>
                <a:pPr lvl="2"/>
                <a:r>
                  <a:rPr lang="en-US" b="1" dirty="0"/>
                  <a:t>Total O(k</a:t>
                </a:r>
                <a:r>
                  <a:rPr lang="en-US" b="1" baseline="30000" dirty="0"/>
                  <a:t>2</a:t>
                </a:r>
                <a:r>
                  <a:rPr lang="en-US" b="1"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80" y="1867334"/>
                <a:ext cx="10058400" cy="4023360"/>
              </a:xfrm>
              <a:blipFill>
                <a:blip r:embed="rId3"/>
                <a:stretch>
                  <a:fillRect t="-943"/>
                </a:stretch>
              </a:blipFill>
            </p:spPr>
            <p:txBody>
              <a:bodyPr/>
              <a:lstStyle/>
              <a:p>
                <a:r>
                  <a:rPr lang="en-IL">
                    <a:noFill/>
                  </a:rPr>
                  <a:t> </a:t>
                </a:r>
              </a:p>
            </p:txBody>
          </p:sp>
        </mc:Fallback>
      </mc:AlternateContent>
      <p:sp>
        <p:nvSpPr>
          <p:cNvPr id="5" name="Oval 4">
            <a:extLst>
              <a:ext uri="{FF2B5EF4-FFF2-40B4-BE49-F238E27FC236}">
                <a16:creationId xmlns:a16="http://schemas.microsoft.com/office/drawing/2014/main" id="{C98F403D-58F1-47A1-8319-19FF7F889C86}"/>
              </a:ext>
            </a:extLst>
          </p:cNvPr>
          <p:cNvSpPr/>
          <p:nvPr/>
        </p:nvSpPr>
        <p:spPr>
          <a:xfrm>
            <a:off x="5757026" y="3563762"/>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44</a:t>
            </a:r>
          </a:p>
        </p:txBody>
      </p:sp>
      <p:sp>
        <p:nvSpPr>
          <p:cNvPr id="7" name="Oval 6">
            <a:extLst>
              <a:ext uri="{FF2B5EF4-FFF2-40B4-BE49-F238E27FC236}">
                <a16:creationId xmlns:a16="http://schemas.microsoft.com/office/drawing/2014/main" id="{80EBCE75-7B90-4F84-99E2-CB2C2471D637}"/>
              </a:ext>
            </a:extLst>
          </p:cNvPr>
          <p:cNvSpPr/>
          <p:nvPr/>
        </p:nvSpPr>
        <p:spPr>
          <a:xfrm>
            <a:off x="4673601"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42</a:t>
            </a:r>
          </a:p>
        </p:txBody>
      </p:sp>
      <p:sp>
        <p:nvSpPr>
          <p:cNvPr id="8" name="Oval 7">
            <a:extLst>
              <a:ext uri="{FF2B5EF4-FFF2-40B4-BE49-F238E27FC236}">
                <a16:creationId xmlns:a16="http://schemas.microsoft.com/office/drawing/2014/main" id="{A65ECBF3-22E4-4A98-9773-14678B906A4A}"/>
              </a:ext>
            </a:extLst>
          </p:cNvPr>
          <p:cNvSpPr/>
          <p:nvPr/>
        </p:nvSpPr>
        <p:spPr>
          <a:xfrm>
            <a:off x="6779493" y="4021744"/>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35</a:t>
            </a:r>
          </a:p>
        </p:txBody>
      </p:sp>
      <p:sp>
        <p:nvSpPr>
          <p:cNvPr id="9" name="Oval 8">
            <a:extLst>
              <a:ext uri="{FF2B5EF4-FFF2-40B4-BE49-F238E27FC236}">
                <a16:creationId xmlns:a16="http://schemas.microsoft.com/office/drawing/2014/main" id="{D808E15E-C3EF-46A5-8B19-63B327167418}"/>
              </a:ext>
            </a:extLst>
          </p:cNvPr>
          <p:cNvSpPr/>
          <p:nvPr/>
        </p:nvSpPr>
        <p:spPr>
          <a:xfrm>
            <a:off x="623395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19</a:t>
            </a:r>
          </a:p>
        </p:txBody>
      </p:sp>
      <p:sp>
        <p:nvSpPr>
          <p:cNvPr id="10" name="Oval 9">
            <a:extLst>
              <a:ext uri="{FF2B5EF4-FFF2-40B4-BE49-F238E27FC236}">
                <a16:creationId xmlns:a16="http://schemas.microsoft.com/office/drawing/2014/main" id="{C19537A6-0978-492C-A491-94C80351488F}"/>
              </a:ext>
            </a:extLst>
          </p:cNvPr>
          <p:cNvSpPr/>
          <p:nvPr/>
        </p:nvSpPr>
        <p:spPr>
          <a:xfrm>
            <a:off x="7312515"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27</a:t>
            </a:r>
          </a:p>
        </p:txBody>
      </p:sp>
      <p:sp>
        <p:nvSpPr>
          <p:cNvPr id="11" name="Oval 10">
            <a:extLst>
              <a:ext uri="{FF2B5EF4-FFF2-40B4-BE49-F238E27FC236}">
                <a16:creationId xmlns:a16="http://schemas.microsoft.com/office/drawing/2014/main" id="{B945C7E3-65A8-49B6-819E-049C03507EB5}"/>
              </a:ext>
            </a:extLst>
          </p:cNvPr>
          <p:cNvSpPr/>
          <p:nvPr/>
        </p:nvSpPr>
        <p:spPr>
          <a:xfrm>
            <a:off x="4148311"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33</a:t>
            </a:r>
          </a:p>
        </p:txBody>
      </p:sp>
      <p:sp>
        <p:nvSpPr>
          <p:cNvPr id="12" name="Oval 11">
            <a:extLst>
              <a:ext uri="{FF2B5EF4-FFF2-40B4-BE49-F238E27FC236}">
                <a16:creationId xmlns:a16="http://schemas.microsoft.com/office/drawing/2014/main" id="{609D88CE-D237-4DBD-A6D2-D84C86454930}"/>
              </a:ext>
            </a:extLst>
          </p:cNvPr>
          <p:cNvSpPr/>
          <p:nvPr/>
        </p:nvSpPr>
        <p:spPr>
          <a:xfrm>
            <a:off x="5221108" y="4703929"/>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31</a:t>
            </a:r>
          </a:p>
        </p:txBody>
      </p:sp>
      <p:cxnSp>
        <p:nvCxnSpPr>
          <p:cNvPr id="13" name="Straight Arrow Connector 12">
            <a:extLst>
              <a:ext uri="{FF2B5EF4-FFF2-40B4-BE49-F238E27FC236}">
                <a16:creationId xmlns:a16="http://schemas.microsoft.com/office/drawing/2014/main" id="{A15C9024-9A41-4F66-8D24-8DADB7E53A94}"/>
              </a:ext>
            </a:extLst>
          </p:cNvPr>
          <p:cNvCxnSpPr>
            <a:cxnSpLocks/>
            <a:stCxn id="5" idx="5"/>
            <a:endCxn id="8" idx="1"/>
          </p:cNvCxnSpPr>
          <p:nvPr/>
        </p:nvCxnSpPr>
        <p:spPr>
          <a:xfrm>
            <a:off x="6072375" y="3879111"/>
            <a:ext cx="761223"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B6D9D9-01A8-430C-8B13-81D800D50243}"/>
              </a:ext>
            </a:extLst>
          </p:cNvPr>
          <p:cNvCxnSpPr>
            <a:stCxn id="5" idx="3"/>
            <a:endCxn id="7" idx="7"/>
          </p:cNvCxnSpPr>
          <p:nvPr/>
        </p:nvCxnSpPr>
        <p:spPr>
          <a:xfrm flipH="1">
            <a:off x="4988950" y="3879111"/>
            <a:ext cx="822181" cy="19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EAFE6DD-72B5-46FA-8437-6597B1C13A33}"/>
              </a:ext>
            </a:extLst>
          </p:cNvPr>
          <p:cNvCxnSpPr>
            <a:stCxn id="8" idx="5"/>
            <a:endCxn id="10" idx="0"/>
          </p:cNvCxnSpPr>
          <p:nvPr/>
        </p:nvCxnSpPr>
        <p:spPr>
          <a:xfrm>
            <a:off x="7094842" y="4337093"/>
            <a:ext cx="402400"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FF1F34-7C6B-446E-ADB0-63D33982DB18}"/>
              </a:ext>
            </a:extLst>
          </p:cNvPr>
          <p:cNvCxnSpPr>
            <a:stCxn id="8" idx="3"/>
            <a:endCxn id="9" idx="0"/>
          </p:cNvCxnSpPr>
          <p:nvPr/>
        </p:nvCxnSpPr>
        <p:spPr>
          <a:xfrm flipH="1">
            <a:off x="6418685" y="4337093"/>
            <a:ext cx="414913"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C5CE4-B4F8-4A42-8029-63E56F48E143}"/>
              </a:ext>
            </a:extLst>
          </p:cNvPr>
          <p:cNvCxnSpPr>
            <a:stCxn id="7" idx="5"/>
            <a:endCxn id="12" idx="0"/>
          </p:cNvCxnSpPr>
          <p:nvPr/>
        </p:nvCxnSpPr>
        <p:spPr>
          <a:xfrm>
            <a:off x="4988950" y="4337093"/>
            <a:ext cx="416885"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AAD025-4591-4763-9BE3-1C5E902840E4}"/>
              </a:ext>
            </a:extLst>
          </p:cNvPr>
          <p:cNvCxnSpPr>
            <a:cxnSpLocks/>
            <a:stCxn id="7" idx="3"/>
            <a:endCxn id="11" idx="0"/>
          </p:cNvCxnSpPr>
          <p:nvPr/>
        </p:nvCxnSpPr>
        <p:spPr>
          <a:xfrm flipH="1">
            <a:off x="4333038" y="4337093"/>
            <a:ext cx="394668" cy="36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DAB6A55-F0EF-4178-899A-27D25B2CCA15}"/>
              </a:ext>
            </a:extLst>
          </p:cNvPr>
          <p:cNvSpPr/>
          <p:nvPr/>
        </p:nvSpPr>
        <p:spPr>
          <a:xfrm>
            <a:off x="3809034"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10</a:t>
            </a:r>
          </a:p>
        </p:txBody>
      </p:sp>
      <p:cxnSp>
        <p:nvCxnSpPr>
          <p:cNvPr id="20" name="Straight Arrow Connector 19">
            <a:extLst>
              <a:ext uri="{FF2B5EF4-FFF2-40B4-BE49-F238E27FC236}">
                <a16:creationId xmlns:a16="http://schemas.microsoft.com/office/drawing/2014/main" id="{0A380E5D-7AD5-4505-A32A-C1C491BEDBA7}"/>
              </a:ext>
            </a:extLst>
          </p:cNvPr>
          <p:cNvCxnSpPr>
            <a:cxnSpLocks/>
            <a:stCxn id="11" idx="3"/>
            <a:endCxn id="19" idx="0"/>
          </p:cNvCxnSpPr>
          <p:nvPr/>
        </p:nvCxnSpPr>
        <p:spPr>
          <a:xfrm flipH="1">
            <a:off x="3993761" y="5019278"/>
            <a:ext cx="20865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2EC49E-4754-4E3D-ADFB-68CC10BB8ABB}"/>
              </a:ext>
            </a:extLst>
          </p:cNvPr>
          <p:cNvSpPr/>
          <p:nvPr/>
        </p:nvSpPr>
        <p:spPr>
          <a:xfrm>
            <a:off x="436339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26</a:t>
            </a:r>
          </a:p>
        </p:txBody>
      </p:sp>
      <p:sp>
        <p:nvSpPr>
          <p:cNvPr id="22" name="Oval 21">
            <a:extLst>
              <a:ext uri="{FF2B5EF4-FFF2-40B4-BE49-F238E27FC236}">
                <a16:creationId xmlns:a16="http://schemas.microsoft.com/office/drawing/2014/main" id="{A3BDE24C-1C74-4F43-A415-B8C2C00F3A7F}"/>
              </a:ext>
            </a:extLst>
          </p:cNvPr>
          <p:cNvSpPr/>
          <p:nvPr/>
        </p:nvSpPr>
        <p:spPr>
          <a:xfrm>
            <a:off x="4938271" y="5514173"/>
            <a:ext cx="369454" cy="369454"/>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14</a:t>
            </a:r>
          </a:p>
        </p:txBody>
      </p:sp>
      <p:cxnSp>
        <p:nvCxnSpPr>
          <p:cNvPr id="23" name="Straight Arrow Connector 22">
            <a:extLst>
              <a:ext uri="{FF2B5EF4-FFF2-40B4-BE49-F238E27FC236}">
                <a16:creationId xmlns:a16="http://schemas.microsoft.com/office/drawing/2014/main" id="{6F2C2A03-1D52-4EFA-9A0F-BC4CC079186A}"/>
              </a:ext>
            </a:extLst>
          </p:cNvPr>
          <p:cNvCxnSpPr>
            <a:stCxn id="11" idx="5"/>
            <a:endCxn id="21" idx="0"/>
          </p:cNvCxnSpPr>
          <p:nvPr/>
        </p:nvCxnSpPr>
        <p:spPr>
          <a:xfrm>
            <a:off x="4463660" y="5019278"/>
            <a:ext cx="84458"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2DD467-35E4-485C-BCEA-F9430F939291}"/>
              </a:ext>
            </a:extLst>
          </p:cNvPr>
          <p:cNvCxnSpPr>
            <a:cxnSpLocks/>
            <a:stCxn id="12" idx="3"/>
            <a:endCxn id="22" idx="0"/>
          </p:cNvCxnSpPr>
          <p:nvPr/>
        </p:nvCxnSpPr>
        <p:spPr>
          <a:xfrm flipH="1">
            <a:off x="5122998" y="5019278"/>
            <a:ext cx="152215" cy="49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759816-51CC-4ADA-B8B6-057C58EC619C}"/>
              </a:ext>
            </a:extLst>
          </p:cNvPr>
          <p:cNvSpPr txBox="1"/>
          <p:nvPr/>
        </p:nvSpPr>
        <p:spPr>
          <a:xfrm>
            <a:off x="5793375" y="3215122"/>
            <a:ext cx="422827" cy="369332"/>
          </a:xfrm>
          <a:prstGeom prst="rect">
            <a:avLst/>
          </a:prstGeom>
          <a:noFill/>
        </p:spPr>
        <p:txBody>
          <a:bodyPr wrap="square" rtlCol="0">
            <a:spAutoFit/>
          </a:bodyPr>
          <a:lstStyle/>
          <a:p>
            <a:r>
              <a:rPr lang="en-US" dirty="0"/>
              <a:t>0</a:t>
            </a:r>
          </a:p>
        </p:txBody>
      </p:sp>
      <p:sp>
        <p:nvSpPr>
          <p:cNvPr id="25" name="TextBox 24">
            <a:extLst>
              <a:ext uri="{FF2B5EF4-FFF2-40B4-BE49-F238E27FC236}">
                <a16:creationId xmlns:a16="http://schemas.microsoft.com/office/drawing/2014/main" id="{08FBD0B1-CD04-4251-96DB-84ADFEEC26D7}"/>
              </a:ext>
            </a:extLst>
          </p:cNvPr>
          <p:cNvSpPr txBox="1"/>
          <p:nvPr/>
        </p:nvSpPr>
        <p:spPr>
          <a:xfrm>
            <a:off x="4704125" y="3687378"/>
            <a:ext cx="422827"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99BA3779-EF82-404D-8932-1A1DF6A46F74}"/>
              </a:ext>
            </a:extLst>
          </p:cNvPr>
          <p:cNvSpPr txBox="1"/>
          <p:nvPr/>
        </p:nvSpPr>
        <p:spPr>
          <a:xfrm>
            <a:off x="6829635" y="3687378"/>
            <a:ext cx="422827" cy="369332"/>
          </a:xfrm>
          <a:prstGeom prst="rect">
            <a:avLst/>
          </a:prstGeom>
          <a:noFill/>
        </p:spPr>
        <p:txBody>
          <a:bodyPr wrap="square" rtlCol="0">
            <a:spAutoFit/>
          </a:bodyPr>
          <a:lstStyle/>
          <a:p>
            <a:r>
              <a:rPr lang="en-US" dirty="0"/>
              <a:t>2</a:t>
            </a:r>
          </a:p>
        </p:txBody>
      </p:sp>
      <p:sp>
        <p:nvSpPr>
          <p:cNvPr id="27" name="TextBox 26">
            <a:extLst>
              <a:ext uri="{FF2B5EF4-FFF2-40B4-BE49-F238E27FC236}">
                <a16:creationId xmlns:a16="http://schemas.microsoft.com/office/drawing/2014/main" id="{D9BE9CF2-690D-4292-96BC-F01332F60B03}"/>
              </a:ext>
            </a:extLst>
          </p:cNvPr>
          <p:cNvSpPr txBox="1"/>
          <p:nvPr/>
        </p:nvSpPr>
        <p:spPr>
          <a:xfrm>
            <a:off x="4185829" y="4344118"/>
            <a:ext cx="422827" cy="369332"/>
          </a:xfrm>
          <a:prstGeom prst="rect">
            <a:avLst/>
          </a:prstGeom>
          <a:noFill/>
        </p:spPr>
        <p:txBody>
          <a:bodyPr wrap="square" rtlCol="0">
            <a:spAutoFit/>
          </a:bodyPr>
          <a:lstStyle/>
          <a:p>
            <a:r>
              <a:rPr lang="en-US" dirty="0"/>
              <a:t>3</a:t>
            </a:r>
          </a:p>
        </p:txBody>
      </p:sp>
      <p:sp>
        <p:nvSpPr>
          <p:cNvPr id="28" name="TextBox 27">
            <a:extLst>
              <a:ext uri="{FF2B5EF4-FFF2-40B4-BE49-F238E27FC236}">
                <a16:creationId xmlns:a16="http://schemas.microsoft.com/office/drawing/2014/main" id="{DE2BBD83-52B0-4BAC-8A34-B6B6843420D9}"/>
              </a:ext>
            </a:extLst>
          </p:cNvPr>
          <p:cNvSpPr txBox="1"/>
          <p:nvPr/>
        </p:nvSpPr>
        <p:spPr>
          <a:xfrm>
            <a:off x="5277362" y="4355508"/>
            <a:ext cx="422827" cy="369332"/>
          </a:xfrm>
          <a:prstGeom prst="rect">
            <a:avLst/>
          </a:prstGeom>
          <a:noFill/>
        </p:spPr>
        <p:txBody>
          <a:bodyPr wrap="square" rtlCol="0">
            <a:spAutoFit/>
          </a:bodyPr>
          <a:lstStyle/>
          <a:p>
            <a:r>
              <a:rPr lang="en-US" dirty="0"/>
              <a:t>4</a:t>
            </a:r>
          </a:p>
        </p:txBody>
      </p:sp>
      <p:sp>
        <p:nvSpPr>
          <p:cNvPr id="29" name="TextBox 28">
            <a:extLst>
              <a:ext uri="{FF2B5EF4-FFF2-40B4-BE49-F238E27FC236}">
                <a16:creationId xmlns:a16="http://schemas.microsoft.com/office/drawing/2014/main" id="{943BF43D-99D8-4490-ABA8-A53F95B3133A}"/>
              </a:ext>
            </a:extLst>
          </p:cNvPr>
          <p:cNvSpPr txBox="1"/>
          <p:nvPr/>
        </p:nvSpPr>
        <p:spPr>
          <a:xfrm>
            <a:off x="6263552" y="4338318"/>
            <a:ext cx="422827" cy="369332"/>
          </a:xfrm>
          <a:prstGeom prst="rect">
            <a:avLst/>
          </a:prstGeom>
          <a:noFill/>
        </p:spPr>
        <p:txBody>
          <a:bodyPr wrap="square" rtlCol="0">
            <a:spAutoFit/>
          </a:bodyPr>
          <a:lstStyle/>
          <a:p>
            <a:r>
              <a:rPr lang="en-US" dirty="0"/>
              <a:t>5</a:t>
            </a:r>
          </a:p>
        </p:txBody>
      </p:sp>
      <p:sp>
        <p:nvSpPr>
          <p:cNvPr id="30" name="TextBox 29">
            <a:extLst>
              <a:ext uri="{FF2B5EF4-FFF2-40B4-BE49-F238E27FC236}">
                <a16:creationId xmlns:a16="http://schemas.microsoft.com/office/drawing/2014/main" id="{47C48C94-802C-4DD5-AF4D-81A98EE9D246}"/>
              </a:ext>
            </a:extLst>
          </p:cNvPr>
          <p:cNvSpPr txBox="1"/>
          <p:nvPr/>
        </p:nvSpPr>
        <p:spPr>
          <a:xfrm>
            <a:off x="7374155" y="4360958"/>
            <a:ext cx="422827" cy="369332"/>
          </a:xfrm>
          <a:prstGeom prst="rect">
            <a:avLst/>
          </a:prstGeom>
          <a:noFill/>
        </p:spPr>
        <p:txBody>
          <a:bodyPr wrap="square" rtlCol="0">
            <a:spAutoFit/>
          </a:bodyPr>
          <a:lstStyle/>
          <a:p>
            <a:r>
              <a:rPr lang="en-US" dirty="0"/>
              <a:t>6</a:t>
            </a:r>
          </a:p>
        </p:txBody>
      </p:sp>
      <p:sp>
        <p:nvSpPr>
          <p:cNvPr id="31" name="TextBox 30">
            <a:extLst>
              <a:ext uri="{FF2B5EF4-FFF2-40B4-BE49-F238E27FC236}">
                <a16:creationId xmlns:a16="http://schemas.microsoft.com/office/drawing/2014/main" id="{AC0F4E90-B511-4C2D-85E8-0318E3CA1060}"/>
              </a:ext>
            </a:extLst>
          </p:cNvPr>
          <p:cNvSpPr txBox="1"/>
          <p:nvPr/>
        </p:nvSpPr>
        <p:spPr>
          <a:xfrm>
            <a:off x="3809299" y="5137652"/>
            <a:ext cx="422827" cy="369332"/>
          </a:xfrm>
          <a:prstGeom prst="rect">
            <a:avLst/>
          </a:prstGeom>
          <a:noFill/>
        </p:spPr>
        <p:txBody>
          <a:bodyPr wrap="square" rtlCol="0">
            <a:spAutoFit/>
          </a:bodyPr>
          <a:lstStyle/>
          <a:p>
            <a:r>
              <a:rPr lang="en-US" dirty="0"/>
              <a:t>7</a:t>
            </a:r>
          </a:p>
        </p:txBody>
      </p:sp>
      <p:sp>
        <p:nvSpPr>
          <p:cNvPr id="32" name="TextBox 31">
            <a:extLst>
              <a:ext uri="{FF2B5EF4-FFF2-40B4-BE49-F238E27FC236}">
                <a16:creationId xmlns:a16="http://schemas.microsoft.com/office/drawing/2014/main" id="{42C667DD-3315-44FE-92E1-A3782F76C90F}"/>
              </a:ext>
            </a:extLst>
          </p:cNvPr>
          <p:cNvSpPr txBox="1"/>
          <p:nvPr/>
        </p:nvSpPr>
        <p:spPr>
          <a:xfrm>
            <a:off x="4470375" y="5135320"/>
            <a:ext cx="422827" cy="369332"/>
          </a:xfrm>
          <a:prstGeom prst="rect">
            <a:avLst/>
          </a:prstGeom>
          <a:noFill/>
        </p:spPr>
        <p:txBody>
          <a:bodyPr wrap="square" rtlCol="0">
            <a:spAutoFit/>
          </a:bodyPr>
          <a:lstStyle/>
          <a:p>
            <a:r>
              <a:rPr lang="en-US" dirty="0"/>
              <a:t>8</a:t>
            </a:r>
          </a:p>
        </p:txBody>
      </p:sp>
      <p:sp>
        <p:nvSpPr>
          <p:cNvPr id="33" name="TextBox 32">
            <a:extLst>
              <a:ext uri="{FF2B5EF4-FFF2-40B4-BE49-F238E27FC236}">
                <a16:creationId xmlns:a16="http://schemas.microsoft.com/office/drawing/2014/main" id="{1EDCE966-2CCF-4169-85FF-66A720FFE0DC}"/>
              </a:ext>
            </a:extLst>
          </p:cNvPr>
          <p:cNvSpPr txBox="1"/>
          <p:nvPr/>
        </p:nvSpPr>
        <p:spPr>
          <a:xfrm>
            <a:off x="4939381" y="5144719"/>
            <a:ext cx="422827" cy="369332"/>
          </a:xfrm>
          <a:prstGeom prst="rect">
            <a:avLst/>
          </a:prstGeom>
          <a:noFill/>
        </p:spPr>
        <p:txBody>
          <a:bodyPr wrap="square" rtlCol="0">
            <a:spAutoFit/>
          </a:bodyPr>
          <a:lstStyle/>
          <a:p>
            <a:r>
              <a:rPr lang="en-US" dirty="0"/>
              <a:t>9</a:t>
            </a:r>
          </a:p>
        </p:txBody>
      </p:sp>
      <p:sp>
        <p:nvSpPr>
          <p:cNvPr id="34" name="TextBox 33">
            <a:extLst>
              <a:ext uri="{FF2B5EF4-FFF2-40B4-BE49-F238E27FC236}">
                <a16:creationId xmlns:a16="http://schemas.microsoft.com/office/drawing/2014/main" id="{AD42D0BA-951A-48F3-BD42-E8DD84EFAB7E}"/>
              </a:ext>
            </a:extLst>
          </p:cNvPr>
          <p:cNvSpPr txBox="1"/>
          <p:nvPr/>
        </p:nvSpPr>
        <p:spPr>
          <a:xfrm>
            <a:off x="6072375" y="5476888"/>
            <a:ext cx="2651639" cy="369332"/>
          </a:xfrm>
          <a:prstGeom prst="rect">
            <a:avLst/>
          </a:prstGeom>
          <a:noFill/>
        </p:spPr>
        <p:txBody>
          <a:bodyPr wrap="square" rtlCol="0">
            <a:spAutoFit/>
          </a:bodyPr>
          <a:lstStyle/>
          <a:p>
            <a:r>
              <a:rPr lang="en-US" dirty="0"/>
              <a:t>Children of i:  2i+1, 2i+2</a:t>
            </a:r>
          </a:p>
        </p:txBody>
      </p:sp>
      <p:sp>
        <p:nvSpPr>
          <p:cNvPr id="6" name="Rectangle 5">
            <a:extLst>
              <a:ext uri="{FF2B5EF4-FFF2-40B4-BE49-F238E27FC236}">
                <a16:creationId xmlns:a16="http://schemas.microsoft.com/office/drawing/2014/main" id="{66BFE342-E223-4356-A58D-CD1B1977E999}"/>
              </a:ext>
            </a:extLst>
          </p:cNvPr>
          <p:cNvSpPr/>
          <p:nvPr/>
        </p:nvSpPr>
        <p:spPr>
          <a:xfrm>
            <a:off x="8456353"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EFD585D0-DDDB-4F32-933B-40555B7809A9}"/>
              </a:ext>
            </a:extLst>
          </p:cNvPr>
          <p:cNvSpPr/>
          <p:nvPr/>
        </p:nvSpPr>
        <p:spPr>
          <a:xfrm>
            <a:off x="8825807"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7" name="Rectangle 36">
            <a:extLst>
              <a:ext uri="{FF2B5EF4-FFF2-40B4-BE49-F238E27FC236}">
                <a16:creationId xmlns:a16="http://schemas.microsoft.com/office/drawing/2014/main" id="{10074FFF-4231-4602-856C-A8135515E088}"/>
              </a:ext>
            </a:extLst>
          </p:cNvPr>
          <p:cNvSpPr/>
          <p:nvPr/>
        </p:nvSpPr>
        <p:spPr>
          <a:xfrm>
            <a:off x="9195261"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Rectangle 37">
            <a:extLst>
              <a:ext uri="{FF2B5EF4-FFF2-40B4-BE49-F238E27FC236}">
                <a16:creationId xmlns:a16="http://schemas.microsoft.com/office/drawing/2014/main" id="{4AA74FB4-0237-4695-BE12-197285578C6F}"/>
              </a:ext>
            </a:extLst>
          </p:cNvPr>
          <p:cNvSpPr/>
          <p:nvPr/>
        </p:nvSpPr>
        <p:spPr>
          <a:xfrm>
            <a:off x="9564715" y="3302779"/>
            <a:ext cx="369454" cy="36933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39" name="Arrow: Down 38">
            <a:extLst>
              <a:ext uri="{FF2B5EF4-FFF2-40B4-BE49-F238E27FC236}">
                <a16:creationId xmlns:a16="http://schemas.microsoft.com/office/drawing/2014/main" id="{78D48D15-70FB-4B07-8A65-306433114AC1}"/>
              </a:ext>
            </a:extLst>
          </p:cNvPr>
          <p:cNvSpPr/>
          <p:nvPr/>
        </p:nvSpPr>
        <p:spPr>
          <a:xfrm rot="12941565">
            <a:off x="8701526" y="2916362"/>
            <a:ext cx="189614" cy="369332"/>
          </a:xfrm>
          <a:prstGeom prst="down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9296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  – </a:t>
            </a:r>
            <a:r>
              <a:rPr lang="en-US" sz="4400" dirty="0"/>
              <a:t>Answer 2 Implementation </a:t>
            </a:r>
          </a:p>
        </p:txBody>
      </p:sp>
      <p:sp>
        <p:nvSpPr>
          <p:cNvPr id="3" name="Content Placeholder 2"/>
          <p:cNvSpPr>
            <a:spLocks noGrp="1"/>
          </p:cNvSpPr>
          <p:nvPr>
            <p:ph idx="1"/>
          </p:nvPr>
        </p:nvSpPr>
        <p:spPr>
          <a:xfrm>
            <a:off x="1097279" y="1845733"/>
            <a:ext cx="10288475" cy="4535402"/>
          </a:xfrm>
        </p:spPr>
        <p:txBody>
          <a:bodyPr>
            <a:normAutofit/>
          </a:bodyPr>
          <a:lstStyle/>
          <a:p>
            <a:pPr marL="201168" lvl="1" indent="0">
              <a:buNone/>
            </a:pPr>
            <a:r>
              <a:rPr lang="en-US" sz="2200" i="1" dirty="0" err="1"/>
              <a:t>FindAllKLargestElements</a:t>
            </a:r>
            <a:r>
              <a:rPr lang="en-US" sz="2200" i="1" dirty="0"/>
              <a:t>(k):</a:t>
            </a:r>
          </a:p>
          <a:p>
            <a:pPr marL="201168" lvl="1" indent="0">
              <a:buNone/>
            </a:pPr>
            <a:r>
              <a:rPr lang="en-US" sz="2200" i="1" dirty="0"/>
              <a:t>    Initialize array</a:t>
            </a:r>
          </a:p>
          <a:p>
            <a:pPr marL="384048" lvl="2" indent="0">
              <a:buNone/>
            </a:pPr>
            <a:r>
              <a:rPr lang="en-US" sz="2200" i="1" dirty="0"/>
              <a:t> put root in array</a:t>
            </a:r>
          </a:p>
          <a:p>
            <a:pPr marL="384048" lvl="2" indent="0">
              <a:buNone/>
            </a:pPr>
            <a:r>
              <a:rPr lang="en-US" sz="2200" i="1" dirty="0"/>
              <a:t> for i</a:t>
            </a:r>
            <a:r>
              <a:rPr lang="en-US" sz="2200" i="1" dirty="0">
                <a:sym typeface="Symbol" panose="05050102010706020507" pitchFamily="18" charset="2"/>
              </a:rPr>
              <a:t></a:t>
            </a:r>
            <a:r>
              <a:rPr lang="en-US" sz="2200" i="1" dirty="0"/>
              <a:t>2 to k:</a:t>
            </a:r>
          </a:p>
          <a:p>
            <a:pPr marL="384048" lvl="2" indent="0">
              <a:buNone/>
            </a:pPr>
            <a:r>
              <a:rPr lang="en-US" sz="2200" i="1" dirty="0"/>
              <a:t>     max </a:t>
            </a:r>
            <a:r>
              <a:rPr lang="en-US" sz="2200" i="1" dirty="0">
                <a:sym typeface="Symbol" panose="05050102010706020507" pitchFamily="18" charset="2"/>
              </a:rPr>
              <a:t></a:t>
            </a:r>
            <a:r>
              <a:rPr lang="en-US" sz="2200" i="1" dirty="0"/>
              <a:t> maximum among all children of nodes in array which are not already in array</a:t>
            </a:r>
          </a:p>
          <a:p>
            <a:pPr marL="384048" lvl="2" indent="0">
              <a:buNone/>
            </a:pPr>
            <a:r>
              <a:rPr lang="en-US" sz="2200" i="1" dirty="0"/>
              <a:t>     add max to array</a:t>
            </a:r>
          </a:p>
          <a:p>
            <a:pPr marL="384048" lvl="2" indent="0">
              <a:buNone/>
            </a:pPr>
            <a:r>
              <a:rPr lang="en-US" sz="2200" i="1" dirty="0"/>
              <a:t> return array</a:t>
            </a:r>
          </a:p>
          <a:p>
            <a:pPr marL="384048" lvl="2" indent="0">
              <a:buNone/>
            </a:pPr>
            <a:endParaRPr lang="en-US" sz="1800" dirty="0"/>
          </a:p>
          <a:p>
            <a:pPr lvl="1"/>
            <a:r>
              <a:rPr lang="en-US" sz="2400" b="1" dirty="0"/>
              <a:t>Point to consider: </a:t>
            </a:r>
            <a:r>
              <a:rPr lang="en-US" sz="2400" dirty="0"/>
              <a:t>Suppose we’ve implemented the heap as an array.</a:t>
            </a:r>
          </a:p>
          <a:p>
            <a:pPr lvl="2"/>
            <a:r>
              <a:rPr lang="en-US" sz="2400" dirty="0"/>
              <a:t>How can we check efficiently if a node is already in the array?</a:t>
            </a:r>
            <a:endParaRPr lang="en-US" sz="1800" dirty="0"/>
          </a:p>
          <a:p>
            <a:pPr marL="749808" lvl="4" indent="0">
              <a:buNone/>
            </a:pPr>
            <a:endParaRPr lang="en-US" sz="18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spTree>
    <p:extLst>
      <p:ext uri="{BB962C8B-B14F-4D97-AF65-F5344CB8AC3E}">
        <p14:creationId xmlns:p14="http://schemas.microsoft.com/office/powerpoint/2010/main" val="132572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 – Time Complexity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3318" y="1845733"/>
                <a:ext cx="10288475" cy="4535402"/>
              </a:xfrm>
            </p:spPr>
            <p:txBody>
              <a:bodyPr>
                <a:normAutofit lnSpcReduction="10000"/>
              </a:bodyPr>
              <a:lstStyle/>
              <a:p>
                <a:pPr marL="201168" lvl="1" indent="0">
                  <a:buNone/>
                </a:pPr>
                <a:r>
                  <a:rPr lang="en-US" sz="2200" i="1" dirty="0"/>
                  <a:t>FindAllKLargestElements(k):</a:t>
                </a:r>
              </a:p>
              <a:p>
                <a:pPr marL="201168" lvl="1" indent="0">
                  <a:buNone/>
                </a:pPr>
                <a:r>
                  <a:rPr lang="en-US" sz="2200" i="1" dirty="0"/>
                  <a:t>    Initialize array</a:t>
                </a:r>
              </a:p>
              <a:p>
                <a:pPr marL="384048" lvl="2" indent="0">
                  <a:buNone/>
                </a:pPr>
                <a:r>
                  <a:rPr lang="en-US" sz="2200" i="1" dirty="0"/>
                  <a:t> put root in array</a:t>
                </a:r>
              </a:p>
              <a:p>
                <a:pPr marL="384048" lvl="2" indent="0">
                  <a:buNone/>
                </a:pPr>
                <a:r>
                  <a:rPr lang="en-US" sz="2200" i="1" dirty="0"/>
                  <a:t> for </a:t>
                </a:r>
                <a:r>
                  <a:rPr lang="en-US" sz="2200" i="1" dirty="0" err="1"/>
                  <a:t>i</a:t>
                </a:r>
                <a:r>
                  <a:rPr lang="en-US" sz="2200" i="1" dirty="0">
                    <a:sym typeface="Symbol" panose="05050102010706020507" pitchFamily="18" charset="2"/>
                  </a:rPr>
                  <a:t>  </a:t>
                </a:r>
                <a:r>
                  <a:rPr lang="en-US" sz="2200" i="1" dirty="0"/>
                  <a:t>2 to k:</a:t>
                </a:r>
              </a:p>
              <a:p>
                <a:pPr marL="384048" lvl="2" indent="0">
                  <a:buNone/>
                </a:pPr>
                <a:r>
                  <a:rPr lang="en-US" sz="2200" i="1" dirty="0"/>
                  <a:t>     max </a:t>
                </a:r>
                <a:r>
                  <a:rPr lang="en-US" sz="2200" i="1" dirty="0">
                    <a:sym typeface="Symbol" panose="05050102010706020507" pitchFamily="18" charset="2"/>
                  </a:rPr>
                  <a:t></a:t>
                </a:r>
                <a:r>
                  <a:rPr lang="en-US" sz="2200" i="1" dirty="0"/>
                  <a:t> maximum among all children of nodes in array which are not already in array</a:t>
                </a:r>
              </a:p>
              <a:p>
                <a:pPr marL="384048" lvl="2" indent="0">
                  <a:buNone/>
                </a:pPr>
                <a:r>
                  <a:rPr lang="en-US" sz="2200" i="1" dirty="0"/>
                  <a:t>     add max to array</a:t>
                </a:r>
              </a:p>
              <a:p>
                <a:pPr marL="384048" lvl="2" indent="0">
                  <a:buNone/>
                </a:pPr>
                <a:r>
                  <a:rPr lang="en-US" sz="2200" i="1" dirty="0"/>
                  <a:t> return array</a:t>
                </a:r>
                <a:endParaRPr lang="en-US" sz="1800" dirty="0"/>
              </a:p>
              <a:p>
                <a:pPr lvl="1"/>
                <a:r>
                  <a:rPr lang="en-US" sz="2400" dirty="0"/>
                  <a:t>What is the running time?</a:t>
                </a:r>
              </a:p>
              <a:p>
                <a:pPr lvl="2"/>
                <a:r>
                  <a:rPr lang="en-US" sz="2000" dirty="0"/>
                  <a:t>Initialize – k operations + 1 operation for the root placement.</a:t>
                </a:r>
              </a:p>
              <a:p>
                <a:pPr lvl="2"/>
                <a:r>
                  <a:rPr lang="en-US" sz="2000" dirty="0"/>
                  <a:t>At each iteration </a:t>
                </a:r>
                <a:r>
                  <a:rPr lang="en-US" sz="2000" dirty="0" err="1"/>
                  <a:t>i</a:t>
                </a:r>
                <a:r>
                  <a:rPr lang="en-US" sz="2000" dirty="0"/>
                  <a:t> – finding the maximum among </a:t>
                </a:r>
                <a14:m>
                  <m:oMath xmlns:m="http://schemas.openxmlformats.org/officeDocument/2006/math">
                    <m:r>
                      <a:rPr lang="en-US" sz="2000" b="0" i="1" smtClean="0">
                        <a:latin typeface="Cambria Math" panose="02040503050406030204" pitchFamily="18" charset="0"/>
                      </a:rPr>
                      <m:t>2</m:t>
                    </m:r>
                    <m:r>
                      <a:rPr lang="en-US" sz="2000" b="0" i="1" smtClean="0">
                        <a:latin typeface="Cambria Math" panose="02040503050406030204" pitchFamily="18" charset="0"/>
                      </a:rPr>
                      <m:t>𝑖</m:t>
                    </m:r>
                  </m:oMath>
                </a14:m>
                <a:r>
                  <a:rPr lang="en-US" sz="2000" dirty="0"/>
                  <a:t> candidates takes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oMath>
                </a14:m>
                <a:r>
                  <a:rPr lang="en-US" sz="2000" dirty="0"/>
                  <a:t> operations.</a:t>
                </a:r>
              </a:p>
              <a:p>
                <a:pPr lvl="2"/>
                <a:r>
                  <a:rPr lang="en-US" sz="2000" dirty="0"/>
                  <a:t>Total: </a:t>
                </a:r>
                <a14:m>
                  <m:oMath xmlns:m="http://schemas.openxmlformats.org/officeDocument/2006/math">
                    <m:r>
                      <m:rPr>
                        <m:sty m:val="p"/>
                      </m:rPr>
                      <a:rPr lang="en-US" sz="2000" b="0" i="0" smtClean="0">
                        <a:latin typeface="Cambria Math" panose="02040503050406030204" pitchFamily="18" charset="0"/>
                      </a:rPr>
                      <m:t>O</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𝑘</m:t>
                        </m:r>
                      </m:e>
                    </m:d>
                    <m:r>
                      <a:rPr lang="en-US" sz="2000" b="0" i="0" smtClean="0">
                        <a:latin typeface="Cambria Math" panose="02040503050406030204" pitchFamily="18" charset="0"/>
                      </a:rPr>
                      <m:t>+ </m:t>
                    </m:r>
                    <m:nary>
                      <m:naryPr>
                        <m:chr m:val="∑"/>
                        <m:limLoc m:val="subSup"/>
                        <m:ctrlPr>
                          <a:rPr lang="en-US" sz="2000" i="1" smtClean="0">
                            <a:latin typeface="Cambria Math" panose="02040503050406030204" pitchFamily="18" charset="0"/>
                          </a:rPr>
                        </m:ctrlPr>
                      </m:naryPr>
                      <m:sub>
                        <m:r>
                          <m:rPr>
                            <m:brk m:alnAt="25"/>
                          </m:rPr>
                          <a:rPr lang="en-US" sz="2000" b="0" i="1" smtClean="0">
                            <a:latin typeface="Cambria Math" panose="02040503050406030204" pitchFamily="18" charset="0"/>
                          </a:rPr>
                          <m:t>𝑖</m:t>
                        </m:r>
                        <m:r>
                          <a:rPr lang="en-US" sz="2000" b="0" i="1" smtClean="0">
                            <a:latin typeface="Cambria Math" panose="02040503050406030204" pitchFamily="18" charset="0"/>
                          </a:rPr>
                          <m:t>=</m:t>
                        </m:r>
                        <m:r>
                          <m:rPr>
                            <m:brk m:alnAt="25"/>
                          </m:rPr>
                          <a:rPr lang="en-US" sz="2000" b="0" i="1" smtClean="0">
                            <a:latin typeface="Cambria Math" panose="02040503050406030204" pitchFamily="18" charset="0"/>
                          </a:rPr>
                          <m:t>2</m:t>
                        </m:r>
                      </m:sub>
                      <m:sup>
                        <m:r>
                          <a:rPr lang="en-US" sz="2000" b="0" i="1" smtClean="0">
                            <a:latin typeface="Cambria Math" panose="02040503050406030204" pitchFamily="18" charset="0"/>
                          </a:rPr>
                          <m:t>𝑘</m:t>
                        </m:r>
                      </m:sup>
                      <m:e>
                        <m:r>
                          <a:rPr lang="en-US" sz="2000" b="0" i="1" smtClean="0">
                            <a:latin typeface="Cambria Math" panose="02040503050406030204" pitchFamily="18" charset="0"/>
                          </a:rPr>
                          <m:t>𝑖</m:t>
                        </m:r>
                      </m:e>
                    </m:nary>
                    <m:r>
                      <a:rPr lang="en-US" sz="2000" b="0" i="1" smtClean="0">
                        <a:latin typeface="Cambria Math" panose="02040503050406030204" pitchFamily="18" charset="0"/>
                      </a:rPr>
                      <m:t>=</m:t>
                    </m:r>
                    <m:r>
                      <a:rPr lang="en-US" sz="2000" b="0" i="1" smtClean="0">
                        <a:latin typeface="Cambria Math" panose="02040503050406030204" pitchFamily="18" charset="0"/>
                      </a:rPr>
                      <m:t>𝑂</m:t>
                    </m:r>
                    <m:r>
                      <a:rPr lang="en-US" sz="2000" b="0" i="1" smtClean="0">
                        <a:latin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𝑘</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oMath>
                </a14:m>
                <a:endParaRPr lang="en-US" sz="2000" dirty="0"/>
              </a:p>
              <a:p>
                <a:pPr lvl="2"/>
                <a:r>
                  <a:rPr lang="en-US" sz="2000" dirty="0"/>
                  <a:t>Note: this is independent of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endParaRPr lang="en-US" sz="2000" dirty="0"/>
              </a:p>
              <a:p>
                <a:pPr lvl="2"/>
                <a:endParaRPr lang="en-US" sz="2000" dirty="0"/>
              </a:p>
              <a:p>
                <a:pPr lvl="2"/>
                <a:endParaRPr lang="en-US" sz="2000" dirty="0"/>
              </a:p>
              <a:p>
                <a:pPr marL="749808" lvl="4" indent="0">
                  <a:buNone/>
                </a:pPr>
                <a:endParaRPr lang="en-US" sz="18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3318" y="1845733"/>
                <a:ext cx="10288475" cy="4535402"/>
              </a:xfrm>
              <a:blipFill>
                <a:blip r:embed="rId3"/>
                <a:stretch>
                  <a:fillRect t="-2285" r="-1659"/>
                </a:stretch>
              </a:blipFill>
            </p:spPr>
            <p:txBody>
              <a:bodyPr/>
              <a:lstStyle/>
              <a:p>
                <a:r>
                  <a:rPr lang="he-IL">
                    <a:noFill/>
                  </a:rPr>
                  <a:t> </a:t>
                </a:r>
              </a:p>
            </p:txBody>
          </p:sp>
        </mc:Fallback>
      </mc:AlternateContent>
    </p:spTree>
    <p:extLst>
      <p:ext uri="{BB962C8B-B14F-4D97-AF65-F5344CB8AC3E}">
        <p14:creationId xmlns:p14="http://schemas.microsoft.com/office/powerpoint/2010/main" val="7320464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 – </a:t>
            </a:r>
            <a:r>
              <a:rPr lang="en-US" sz="4000" dirty="0"/>
              <a:t>Improvement of the solution</a:t>
            </a:r>
          </a:p>
        </p:txBody>
      </p:sp>
      <p:sp>
        <p:nvSpPr>
          <p:cNvPr id="3" name="Content Placeholder 2"/>
          <p:cNvSpPr>
            <a:spLocks noGrp="1"/>
          </p:cNvSpPr>
          <p:nvPr>
            <p:ph idx="1"/>
          </p:nvPr>
        </p:nvSpPr>
        <p:spPr>
          <a:xfrm>
            <a:off x="1097279" y="1845733"/>
            <a:ext cx="10460312" cy="4535402"/>
          </a:xfrm>
        </p:spPr>
        <p:txBody>
          <a:bodyPr>
            <a:normAutofit/>
          </a:bodyPr>
          <a:lstStyle/>
          <a:p>
            <a:pPr marL="384048" lvl="2" indent="0">
              <a:buNone/>
            </a:pPr>
            <a:endParaRPr lang="en-US" sz="1800" dirty="0"/>
          </a:p>
          <a:p>
            <a:pPr lvl="1"/>
            <a:r>
              <a:rPr lang="en-US" sz="2400" dirty="0"/>
              <a:t>Can we improve on the construction above?</a:t>
            </a:r>
          </a:p>
          <a:p>
            <a:pPr lvl="2"/>
            <a:endParaRPr lang="en-US" sz="2000" dirty="0"/>
          </a:p>
          <a:p>
            <a:pPr marL="749808" lvl="4" indent="0">
              <a:buNone/>
            </a:pPr>
            <a:endParaRPr lang="en-US" sz="18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p:spTree>
    <p:extLst>
      <p:ext uri="{BB962C8B-B14F-4D97-AF65-F5344CB8AC3E}">
        <p14:creationId xmlns:p14="http://schemas.microsoft.com/office/powerpoint/2010/main" val="31264156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2.3 - </a:t>
            </a:r>
            <a:r>
              <a:rPr lang="en-US" sz="4000" dirty="0"/>
              <a:t>Improvement of the solution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79" y="1845733"/>
                <a:ext cx="10460312" cy="4535402"/>
              </a:xfrm>
            </p:spPr>
            <p:txBody>
              <a:bodyPr>
                <a:normAutofit/>
              </a:bodyPr>
              <a:lstStyle/>
              <a:p>
                <a:pPr marL="384048" lvl="2" indent="0">
                  <a:buNone/>
                </a:pPr>
                <a:endParaRPr lang="en-US" sz="1800" dirty="0"/>
              </a:p>
              <a:p>
                <a:pPr lvl="1"/>
                <a:r>
                  <a:rPr lang="en-US" sz="2400" dirty="0"/>
                  <a:t>Can we improve on the construction above?</a:t>
                </a:r>
              </a:p>
              <a:p>
                <a:pPr lvl="1"/>
                <a:r>
                  <a:rPr lang="en-US" sz="2400" dirty="0"/>
                  <a:t>Yes – We will keep the </a:t>
                </a:r>
                <a:r>
                  <a:rPr lang="en-US" sz="2400" b="1" dirty="0"/>
                  <a:t>candidates</a:t>
                </a:r>
                <a:r>
                  <a:rPr lang="en-US" sz="2400" dirty="0"/>
                  <a:t> in an additional binary heap.</a:t>
                </a:r>
              </a:p>
              <a:p>
                <a:pPr lvl="1"/>
                <a:r>
                  <a:rPr lang="en-US" sz="2400" dirty="0"/>
                  <a:t>Init: Initialize an empty heap, </a:t>
                </a:r>
                <a14:m>
                  <m:oMath xmlns:m="http://schemas.openxmlformats.org/officeDocument/2006/math">
                    <m:r>
                      <a:rPr lang="en-US" sz="2400" i="1" dirty="0" smtClean="0">
                        <a:latin typeface="Cambria Math" panose="02040503050406030204" pitchFamily="18" charset="0"/>
                      </a:rPr>
                      <m:t>𝐵</m:t>
                    </m:r>
                  </m:oMath>
                </a14:m>
                <a:r>
                  <a:rPr lang="en-US" sz="2400" dirty="0"/>
                  <a:t>, contains only the root.</a:t>
                </a:r>
              </a:p>
              <a:p>
                <a:pPr lvl="1"/>
                <a:r>
                  <a:rPr lang="en-US" sz="2400" dirty="0"/>
                  <a:t> At each iteration </a:t>
                </a:r>
                <a14:m>
                  <m:oMath xmlns:m="http://schemas.openxmlformats.org/officeDocument/2006/math">
                    <m:r>
                      <a:rPr lang="en-US" sz="2400" i="1" dirty="0" smtClean="0">
                        <a:latin typeface="Cambria Math" panose="02040503050406030204" pitchFamily="18" charset="0"/>
                      </a:rPr>
                      <m:t>𝑖</m:t>
                    </m:r>
                  </m:oMath>
                </a14:m>
                <a:r>
                  <a:rPr lang="en-US" sz="2400" dirty="0"/>
                  <a:t>: (perform the operations on heap B) </a:t>
                </a:r>
              </a:p>
              <a:p>
                <a:pPr lvl="2"/>
                <a14:m>
                  <m:oMath xmlns:m="http://schemas.openxmlformats.org/officeDocument/2006/math">
                    <m:r>
                      <a:rPr lang="en-US" sz="2400" i="1" dirty="0" smtClean="0">
                        <a:latin typeface="Cambria Math" panose="02040503050406030204" pitchFamily="18" charset="0"/>
                      </a:rPr>
                      <m:t>𝑀</m:t>
                    </m:r>
                  </m:oMath>
                </a14:m>
                <a:r>
                  <a:rPr lang="en-US" sz="2400" dirty="0"/>
                  <a:t> is a max</a:t>
                </a:r>
              </a:p>
              <a:p>
                <a:pPr lvl="2"/>
                <a:r>
                  <a:rPr lang="en-US" sz="2400" b="0" i="1" dirty="0" err="1"/>
                  <a:t>FindMax</a:t>
                </a:r>
                <a:r>
                  <a:rPr lang="en-US" sz="2400" b="0" i="1" dirty="0"/>
                  <a:t> </a:t>
                </a:r>
                <a:r>
                  <a:rPr lang="en-US" sz="2400" b="0" dirty="0"/>
                  <a:t>(add to output), </a:t>
                </a:r>
                <a:r>
                  <a:rPr lang="en-US" sz="2400" b="0" i="1" dirty="0" err="1"/>
                  <a:t>DeleteMax</a:t>
                </a:r>
                <a:r>
                  <a:rPr lang="en-US" sz="2400" b="0" dirty="0"/>
                  <a:t>, </a:t>
                </a:r>
                <a:r>
                  <a:rPr lang="en-US" sz="2400" b="0" i="1" dirty="0"/>
                  <a:t>Insert </a:t>
                </a:r>
                <a:r>
                  <a:rPr lang="en-US" sz="2400" b="0" dirty="0"/>
                  <a:t>to </a:t>
                </a:r>
                <a14:m>
                  <m:oMath xmlns:m="http://schemas.openxmlformats.org/officeDocument/2006/math">
                    <m:r>
                      <a:rPr lang="en-US" sz="2400" b="0" i="1" dirty="0" smtClean="0">
                        <a:latin typeface="Cambria Math" panose="02040503050406030204" pitchFamily="18" charset="0"/>
                      </a:rPr>
                      <m:t>𝐵</m:t>
                    </m:r>
                  </m:oMath>
                </a14:m>
                <a:r>
                  <a:rPr lang="en-US" sz="2400" b="0" dirty="0"/>
                  <a:t> the two children </a:t>
                </a:r>
                <a:r>
                  <a:rPr lang="en-US" sz="2400" dirty="0"/>
                  <a:t>of </a:t>
                </a:r>
                <a14:m>
                  <m:oMath xmlns:m="http://schemas.openxmlformats.org/officeDocument/2006/math">
                    <m:r>
                      <a:rPr lang="en-US" sz="2400" i="1" dirty="0" smtClean="0">
                        <a:latin typeface="Cambria Math" panose="02040503050406030204" pitchFamily="18" charset="0"/>
                      </a:rPr>
                      <m:t>𝑀</m:t>
                    </m:r>
                  </m:oMath>
                </a14:m>
                <a:r>
                  <a:rPr lang="en-US" sz="2400" dirty="0"/>
                  <a:t>.</a:t>
                </a:r>
              </a:p>
              <a:p>
                <a:pPr lvl="2"/>
                <a:r>
                  <a:rPr lang="en-US" sz="2400" b="0" dirty="0"/>
                  <a:t>The number of elements (candidate to be max) in </a:t>
                </a:r>
                <a14:m>
                  <m:oMath xmlns:m="http://schemas.openxmlformats.org/officeDocument/2006/math">
                    <m:r>
                      <a:rPr lang="en-US" sz="2400" b="0" i="1" dirty="0" smtClean="0">
                        <a:latin typeface="Cambria Math" panose="02040503050406030204" pitchFamily="18" charset="0"/>
                      </a:rPr>
                      <m:t>𝐵</m:t>
                    </m:r>
                  </m:oMath>
                </a14:m>
                <a:r>
                  <a:rPr lang="en-US" sz="2400" b="0" dirty="0"/>
                  <a:t> before iteration </a:t>
                </a:r>
                <a14:m>
                  <m:oMath xmlns:m="http://schemas.openxmlformats.org/officeDocument/2006/math">
                    <m:r>
                      <a:rPr lang="en-US" sz="2400" b="0" i="1" dirty="0" smtClean="0">
                        <a:latin typeface="Cambria Math" panose="02040503050406030204" pitchFamily="18" charset="0"/>
                      </a:rPr>
                      <m:t>𝑖</m:t>
                    </m:r>
                  </m:oMath>
                </a14:m>
                <a:r>
                  <a:rPr lang="en-US" sz="2400" b="0" dirty="0"/>
                  <a:t> is </a:t>
                </a:r>
                <a14:m>
                  <m:oMath xmlns:m="http://schemas.openxmlformats.org/officeDocument/2006/math">
                    <m:r>
                      <a:rPr lang="en-US" sz="2400" b="0" i="1" dirty="0" smtClean="0">
                        <a:latin typeface="Cambria Math" panose="02040503050406030204" pitchFamily="18" charset="0"/>
                      </a:rPr>
                      <m:t>𝑖</m:t>
                    </m:r>
                  </m:oMath>
                </a14:m>
                <a:r>
                  <a:rPr lang="en-US" sz="2400" b="0" dirty="0"/>
                  <a:t>.</a:t>
                </a:r>
              </a:p>
              <a:p>
                <a:pPr lvl="2"/>
                <a14:m>
                  <m:oMath xmlns:m="http://schemas.openxmlformats.org/officeDocument/2006/math">
                    <m:r>
                      <m:rPr>
                        <m:sty m:val="p"/>
                      </m:rPr>
                      <a:rPr lang="en-US" sz="2400" b="0" i="0" smtClean="0">
                        <a:latin typeface="Cambria Math" panose="02040503050406030204" pitchFamily="18" charset="0"/>
                      </a:rPr>
                      <m:t>Cost</m:t>
                    </m:r>
                  </m:oMath>
                </a14:m>
                <a:r>
                  <a:rPr lang="en-US" sz="2400" dirty="0"/>
                  <a:t> of iteration </a:t>
                </a:r>
                <a14:m>
                  <m:oMath xmlns:m="http://schemas.openxmlformats.org/officeDocument/2006/math">
                    <m:r>
                      <a:rPr lang="en-US" sz="2400" b="0" i="1" smtClean="0">
                        <a:latin typeface="Cambria Math" panose="02040503050406030204" pitchFamily="18" charset="0"/>
                      </a:rPr>
                      <m:t>𝑖</m:t>
                    </m:r>
                  </m:oMath>
                </a14:m>
                <a:r>
                  <a:rPr lang="en-US" sz="2400" dirty="0"/>
                  <a:t> is O(</a:t>
                </a:r>
                <a14:m>
                  <m:oMath xmlns:m="http://schemas.openxmlformats.org/officeDocument/2006/math">
                    <m:r>
                      <m:rPr>
                        <m:sty m:val="p"/>
                      </m:rPr>
                      <a:rPr lang="en-US" sz="2400" b="0" i="0" smtClean="0">
                        <a:latin typeface="Cambria Math" panose="02040503050406030204" pitchFamily="18" charset="0"/>
                      </a:rPr>
                      <m:t>log</m:t>
                    </m:r>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0" smtClean="0">
                        <a:latin typeface="Cambria Math" panose="02040503050406030204" pitchFamily="18" charset="0"/>
                      </a:rPr>
                      <m:t> −</m:t>
                    </m:r>
                    <m:r>
                      <a:rPr lang="en-US" sz="2400" b="0" i="0" smtClean="0">
                        <a:latin typeface="Cambria Math" panose="02040503050406030204" pitchFamily="18" charset="0"/>
                      </a:rPr>
                      <m:t>3</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heap</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operations</m:t>
                    </m:r>
                    <m:r>
                      <a:rPr lang="en-US" sz="2400" b="0" i="0" smtClean="0">
                        <a:latin typeface="Cambria Math" panose="02040503050406030204" pitchFamily="18" charset="0"/>
                      </a:rPr>
                      <m:t>.</m:t>
                    </m:r>
                  </m:oMath>
                </a14:m>
                <a:endParaRPr lang="en-US" sz="2400" dirty="0"/>
              </a:p>
              <a:p>
                <a:r>
                  <a:rPr lang="en-US" sz="2600" dirty="0"/>
                  <a:t>Total cost: O(k)</a:t>
                </a:r>
                <a14:m>
                  <m:oMath xmlns:m="http://schemas.openxmlformats.org/officeDocument/2006/math">
                    <m:r>
                      <a:rPr lang="en-US" sz="2600" i="1">
                        <a:latin typeface="Cambria Math" panose="02040503050406030204" pitchFamily="18" charset="0"/>
                      </a:rPr>
                      <m:t>+</m:t>
                    </m:r>
                    <m:nary>
                      <m:naryPr>
                        <m:chr m:val="∑"/>
                        <m:limLoc m:val="subSup"/>
                        <m:ctrlPr>
                          <a:rPr lang="en-US" sz="2600" i="1">
                            <a:latin typeface="Cambria Math" panose="02040503050406030204" pitchFamily="18" charset="0"/>
                          </a:rPr>
                        </m:ctrlPr>
                      </m:naryPr>
                      <m:sub>
                        <m:r>
                          <m:rPr>
                            <m:brk m:alnAt="25"/>
                          </m:rPr>
                          <a:rPr lang="en-US" sz="2600" i="1">
                            <a:latin typeface="Cambria Math" panose="02040503050406030204" pitchFamily="18" charset="0"/>
                          </a:rPr>
                          <m:t>𝑖</m:t>
                        </m:r>
                        <m:r>
                          <a:rPr lang="en-US" sz="2600" i="1">
                            <a:latin typeface="Cambria Math" panose="02040503050406030204" pitchFamily="18" charset="0"/>
                          </a:rPr>
                          <m:t>=</m:t>
                        </m:r>
                        <m:r>
                          <m:rPr>
                            <m:brk m:alnAt="25"/>
                          </m:rPr>
                          <a:rPr lang="en-US" sz="2600" i="1">
                            <a:latin typeface="Cambria Math" panose="02040503050406030204" pitchFamily="18" charset="0"/>
                          </a:rPr>
                          <m:t>2</m:t>
                        </m:r>
                      </m:sub>
                      <m:sup>
                        <m:r>
                          <a:rPr lang="en-US" sz="2600" i="1">
                            <a:latin typeface="Cambria Math" panose="02040503050406030204" pitchFamily="18" charset="0"/>
                          </a:rPr>
                          <m:t>𝑘</m:t>
                        </m:r>
                      </m:sup>
                      <m:e>
                        <m:r>
                          <m:rPr>
                            <m:sty m:val="p"/>
                          </m:rPr>
                          <a:rPr lang="en-US" sz="2600" b="0" i="0" smtClean="0">
                            <a:latin typeface="Cambria Math" panose="02040503050406030204" pitchFamily="18" charset="0"/>
                          </a:rPr>
                          <m:t>O</m:t>
                        </m:r>
                        <m:r>
                          <a:rPr lang="en-US" sz="2600" b="0" i="0" smtClean="0">
                            <a:latin typeface="Cambria Math" panose="02040503050406030204" pitchFamily="18" charset="0"/>
                          </a:rPr>
                          <m:t>(</m:t>
                        </m:r>
                        <m:func>
                          <m:funcPr>
                            <m:ctrlPr>
                              <a:rPr lang="en-US" sz="2600" b="0" i="1">
                                <a:latin typeface="Cambria Math" panose="02040503050406030204" pitchFamily="18" charset="0"/>
                              </a:rPr>
                            </m:ctrlPr>
                          </m:funcPr>
                          <m:fName>
                            <m:r>
                              <m:rPr>
                                <m:sty m:val="p"/>
                              </m:rPr>
                              <a:rPr lang="en-US" sz="2600">
                                <a:latin typeface="Cambria Math" panose="02040503050406030204" pitchFamily="18" charset="0"/>
                              </a:rPr>
                              <m:t>log</m:t>
                            </m:r>
                          </m:fName>
                          <m:e>
                            <m:d>
                              <m:dPr>
                                <m:ctrlPr>
                                  <a:rPr lang="en-US" sz="2600" i="1">
                                    <a:latin typeface="Cambria Math" panose="02040503050406030204" pitchFamily="18" charset="0"/>
                                  </a:rPr>
                                </m:ctrlPr>
                              </m:dPr>
                              <m:e>
                                <m:r>
                                  <a:rPr lang="en-US" sz="2600" i="1">
                                    <a:latin typeface="Cambria Math" panose="02040503050406030204" pitchFamily="18" charset="0"/>
                                  </a:rPr>
                                  <m:t>𝑖</m:t>
                                </m:r>
                              </m:e>
                            </m:d>
                          </m:e>
                        </m:func>
                        <m:r>
                          <a:rPr lang="en-US" sz="2600" b="0" i="1" smtClean="0">
                            <a:latin typeface="Cambria Math" panose="02040503050406030204" pitchFamily="18" charset="0"/>
                          </a:rPr>
                          <m:t>)</m:t>
                        </m:r>
                      </m:e>
                    </m:nary>
                    <m:r>
                      <a:rPr lang="en-US" sz="2600" i="1">
                        <a:latin typeface="Cambria Math" panose="02040503050406030204" pitchFamily="18" charset="0"/>
                      </a:rPr>
                      <m:t>≤</m:t>
                    </m:r>
                    <m:r>
                      <m:rPr>
                        <m:nor/>
                      </m:rPr>
                      <a:rPr lang="en-US" sz="2600" dirty="0"/>
                      <m:t>O</m:t>
                    </m:r>
                    <m:r>
                      <m:rPr>
                        <m:nor/>
                      </m:rPr>
                      <a:rPr lang="en-US" sz="2600" dirty="0"/>
                      <m:t>(</m:t>
                    </m:r>
                    <m:r>
                      <m:rPr>
                        <m:nor/>
                      </m:rPr>
                      <a:rPr lang="en-US" sz="2600" dirty="0"/>
                      <m:t>k</m:t>
                    </m:r>
                    <m:r>
                      <m:rPr>
                        <m:nor/>
                      </m:rPr>
                      <a:rPr lang="en-US" sz="2600" dirty="0"/>
                      <m:t>)</m:t>
                    </m:r>
                    <m:r>
                      <a:rPr lang="en-US" sz="2600" i="1">
                        <a:latin typeface="Cambria Math" panose="02040503050406030204" pitchFamily="18" charset="0"/>
                      </a:rPr>
                      <m:t>+</m:t>
                    </m:r>
                    <m:nary>
                      <m:naryPr>
                        <m:chr m:val="∑"/>
                        <m:limLoc m:val="subSup"/>
                        <m:ctrlPr>
                          <a:rPr lang="en-US" sz="2600" i="1">
                            <a:latin typeface="Cambria Math" panose="02040503050406030204" pitchFamily="18" charset="0"/>
                          </a:rPr>
                        </m:ctrlPr>
                      </m:naryPr>
                      <m:sub>
                        <m:r>
                          <m:rPr>
                            <m:brk m:alnAt="25"/>
                          </m:rPr>
                          <a:rPr lang="en-US" sz="2600" i="1">
                            <a:latin typeface="Cambria Math" panose="02040503050406030204" pitchFamily="18" charset="0"/>
                          </a:rPr>
                          <m:t>𝑖</m:t>
                        </m:r>
                        <m:r>
                          <a:rPr lang="en-US" sz="2600" i="1">
                            <a:latin typeface="Cambria Math" panose="02040503050406030204" pitchFamily="18" charset="0"/>
                          </a:rPr>
                          <m:t>=</m:t>
                        </m:r>
                        <m:r>
                          <m:rPr>
                            <m:brk m:alnAt="25"/>
                          </m:rPr>
                          <a:rPr lang="en-US" sz="2600" i="1">
                            <a:latin typeface="Cambria Math" panose="02040503050406030204" pitchFamily="18" charset="0"/>
                          </a:rPr>
                          <m:t>2</m:t>
                        </m:r>
                      </m:sub>
                      <m:sup>
                        <m:r>
                          <a:rPr lang="en-US" sz="2600" i="1">
                            <a:latin typeface="Cambria Math" panose="02040503050406030204" pitchFamily="18" charset="0"/>
                          </a:rPr>
                          <m:t>𝑘</m:t>
                        </m:r>
                      </m:sup>
                      <m:e>
                        <m:func>
                          <m:funcPr>
                            <m:ctrlPr>
                              <a:rPr lang="en-US" sz="2600" i="1">
                                <a:latin typeface="Cambria Math" panose="02040503050406030204" pitchFamily="18" charset="0"/>
                              </a:rPr>
                            </m:ctrlPr>
                          </m:funcPr>
                          <m:fName>
                            <m:r>
                              <m:rPr>
                                <m:sty m:val="p"/>
                              </m:rPr>
                              <a:rPr lang="en-US" sz="2600" b="0" i="0" smtClean="0">
                                <a:latin typeface="Cambria Math" panose="02040503050406030204" pitchFamily="18" charset="0"/>
                              </a:rPr>
                              <m:t>O</m:t>
                            </m:r>
                            <m:r>
                              <a:rPr lang="en-US" sz="2600" b="0" i="0" smtClean="0">
                                <a:latin typeface="Cambria Math" panose="02040503050406030204" pitchFamily="18" charset="0"/>
                              </a:rPr>
                              <m:t>(</m:t>
                            </m:r>
                            <m:r>
                              <m:rPr>
                                <m:sty m:val="p"/>
                              </m:rPr>
                              <a:rPr lang="en-US" sz="2600">
                                <a:latin typeface="Cambria Math" panose="02040503050406030204" pitchFamily="18" charset="0"/>
                              </a:rPr>
                              <m:t>log</m:t>
                            </m:r>
                          </m:fName>
                          <m:e>
                            <m:d>
                              <m:dPr>
                                <m:ctrlPr>
                                  <a:rPr lang="en-US" sz="2600" i="1">
                                    <a:latin typeface="Cambria Math" panose="02040503050406030204" pitchFamily="18" charset="0"/>
                                  </a:rPr>
                                </m:ctrlPr>
                              </m:dPr>
                              <m:e>
                                <m:r>
                                  <a:rPr lang="en-US" sz="2600" b="0" i="1" smtClean="0">
                                    <a:latin typeface="Cambria Math" panose="02040503050406030204" pitchFamily="18" charset="0"/>
                                  </a:rPr>
                                  <m:t>𝑘</m:t>
                                </m:r>
                              </m:e>
                            </m:d>
                            <m:r>
                              <a:rPr lang="en-US" sz="2600" b="0" i="1" smtClean="0">
                                <a:latin typeface="Cambria Math" panose="02040503050406030204" pitchFamily="18" charset="0"/>
                              </a:rPr>
                              <m:t>)</m:t>
                            </m:r>
                          </m:e>
                        </m:func>
                      </m:e>
                    </m:nary>
                    <m:r>
                      <a:rPr lang="en-US" sz="2600" b="0" i="1" smtClean="0">
                        <a:latin typeface="Cambria Math" panose="02040503050406030204" pitchFamily="18" charset="0"/>
                      </a:rPr>
                      <m:t>=</m:t>
                    </m:r>
                    <m:r>
                      <a:rPr lang="en-US" sz="2600" b="0" i="1" smtClean="0">
                        <a:latin typeface="Cambria Math" panose="02040503050406030204" pitchFamily="18" charset="0"/>
                      </a:rPr>
                      <m:t>𝑂</m:t>
                    </m:r>
                    <m:r>
                      <a:rPr lang="en-US" sz="2600" b="0" i="1" smtClean="0">
                        <a:latin typeface="Cambria Math" panose="02040503050406030204" pitchFamily="18" charset="0"/>
                      </a:rPr>
                      <m:t>(</m:t>
                    </m:r>
                    <m:r>
                      <a:rPr lang="en-US" sz="2600" i="1">
                        <a:latin typeface="Cambria Math" panose="02040503050406030204" pitchFamily="18" charset="0"/>
                      </a:rPr>
                      <m:t>𝑘</m:t>
                    </m:r>
                    <m:r>
                      <a:rPr lang="en-US" sz="2600" i="1" smtClean="0">
                        <a:latin typeface="Cambria Math" panose="02040503050406030204" pitchFamily="18" charset="0"/>
                        <a:ea typeface="Cambria Math" panose="02040503050406030204" pitchFamily="18" charset="0"/>
                      </a:rPr>
                      <m:t>∙</m:t>
                    </m:r>
                    <m:r>
                      <m:rPr>
                        <m:sty m:val="p"/>
                      </m:rPr>
                      <a:rPr lang="en-US" sz="2600" i="0">
                        <a:latin typeface="Cambria Math" panose="02040503050406030204" pitchFamily="18" charset="0"/>
                      </a:rPr>
                      <m:t>log</m:t>
                    </m:r>
                    <m:r>
                      <a:rPr lang="en-US" sz="2600" i="1">
                        <a:latin typeface="Cambria Math" panose="02040503050406030204" pitchFamily="18" charset="0"/>
                      </a:rPr>
                      <m:t>(</m:t>
                    </m:r>
                    <m:r>
                      <a:rPr lang="en-US" sz="2600" i="1">
                        <a:latin typeface="Cambria Math" panose="02040503050406030204" pitchFamily="18" charset="0"/>
                      </a:rPr>
                      <m:t>𝑘</m:t>
                    </m:r>
                    <m:r>
                      <a:rPr lang="en-US" sz="2600" i="1">
                        <a:latin typeface="Cambria Math" panose="02040503050406030204" pitchFamily="18" charset="0"/>
                      </a:rPr>
                      <m:t>)</m:t>
                    </m:r>
                  </m:oMath>
                </a14:m>
                <a:r>
                  <a:rPr lang="en-US" sz="2600" dirty="0"/>
                  <a:t>)</a:t>
                </a:r>
              </a:p>
              <a:p>
                <a:pPr lvl="1"/>
                <a:endParaRPr lang="en-US" sz="2400" dirty="0"/>
              </a:p>
              <a:p>
                <a:pPr lvl="2"/>
                <a:endParaRPr lang="en-US" sz="2000" dirty="0"/>
              </a:p>
              <a:p>
                <a:pPr marL="749808" lvl="4" indent="0">
                  <a:buNone/>
                </a:pPr>
                <a:endParaRPr lang="en-US" sz="1800"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79" y="1845733"/>
                <a:ext cx="10460312" cy="4535402"/>
              </a:xfrm>
              <a:blipFill>
                <a:blip r:embed="rId3"/>
                <a:stretch>
                  <a:fillRect l="-1091" b="-13687"/>
                </a:stretch>
              </a:blipFill>
            </p:spPr>
            <p:txBody>
              <a:bodyPr/>
              <a:lstStyle/>
              <a:p>
                <a:r>
                  <a:rPr lang="en-IL">
                    <a:noFill/>
                  </a:rPr>
                  <a:t> </a:t>
                </a:r>
              </a:p>
            </p:txBody>
          </p:sp>
        </mc:Fallback>
      </mc:AlternateContent>
    </p:spTree>
    <p:extLst>
      <p:ext uri="{BB962C8B-B14F-4D97-AF65-F5344CB8AC3E}">
        <p14:creationId xmlns:p14="http://schemas.microsoft.com/office/powerpoint/2010/main" val="41643240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 (ADT) - Reminder</a:t>
            </a:r>
          </a:p>
        </p:txBody>
      </p:sp>
      <p:sp>
        <p:nvSpPr>
          <p:cNvPr id="3" name="Content Placeholder 2"/>
          <p:cNvSpPr>
            <a:spLocks noGrp="1"/>
          </p:cNvSpPr>
          <p:nvPr>
            <p:ph idx="1"/>
          </p:nvPr>
        </p:nvSpPr>
        <p:spPr/>
        <p:txBody>
          <a:bodyPr>
            <a:normAutofit/>
          </a:bodyPr>
          <a:lstStyle/>
          <a:p>
            <a:pPr lvl="1"/>
            <a:r>
              <a:rPr lang="en-US" sz="2400" dirty="0"/>
              <a:t>Linear order: insert at one end of </a:t>
            </a:r>
            <a:r>
              <a:rPr lang="en-US" sz="2400" i="1" dirty="0"/>
              <a:t>List</a:t>
            </a:r>
            <a:r>
              <a:rPr lang="en-US" sz="2400" dirty="0"/>
              <a:t>, remove at the other end.</a:t>
            </a:r>
          </a:p>
          <a:p>
            <a:pPr lvl="1"/>
            <a:r>
              <a:rPr lang="en-US" sz="2400" dirty="0"/>
              <a:t>Queues are “FIFO” – first in, first out.</a:t>
            </a:r>
          </a:p>
          <a:p>
            <a:pPr lvl="1"/>
            <a:r>
              <a:rPr lang="en-US" sz="2400" dirty="0"/>
              <a:t>A queue ensures “fairness”.</a:t>
            </a:r>
          </a:p>
          <a:p>
            <a:pPr lvl="1"/>
            <a:r>
              <a:rPr lang="en-US" sz="2400" dirty="0"/>
              <a:t>Two main operations:</a:t>
            </a:r>
          </a:p>
          <a:p>
            <a:pPr lvl="2"/>
            <a:r>
              <a:rPr lang="en-US" sz="2000" dirty="0"/>
              <a:t>Enqueue, which adds an element to the one end of </a:t>
            </a:r>
            <a:r>
              <a:rPr lang="en-US" sz="2000" i="1" dirty="0"/>
              <a:t>List</a:t>
            </a:r>
            <a:r>
              <a:rPr lang="en-US" sz="2000" dirty="0"/>
              <a:t>, and</a:t>
            </a:r>
          </a:p>
          <a:p>
            <a:pPr lvl="2"/>
            <a:r>
              <a:rPr lang="en-US" sz="2000" dirty="0"/>
              <a:t>Dequeue, which removes the element at the other end.</a:t>
            </a:r>
            <a:endParaRPr lang="en-US" sz="2400" dirty="0"/>
          </a:p>
        </p:txBody>
      </p:sp>
    </p:spTree>
    <p:extLst>
      <p:ext uri="{BB962C8B-B14F-4D97-AF65-F5344CB8AC3E}">
        <p14:creationId xmlns:p14="http://schemas.microsoft.com/office/powerpoint/2010/main" val="275821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(ADT) - Reminder</a:t>
            </a:r>
          </a:p>
        </p:txBody>
      </p:sp>
      <p:sp>
        <p:nvSpPr>
          <p:cNvPr id="3" name="Content Placeholder 2"/>
          <p:cNvSpPr>
            <a:spLocks noGrp="1"/>
          </p:cNvSpPr>
          <p:nvPr>
            <p:ph idx="1"/>
          </p:nvPr>
        </p:nvSpPr>
        <p:spPr/>
        <p:txBody>
          <a:bodyPr>
            <a:normAutofit/>
          </a:bodyPr>
          <a:lstStyle/>
          <a:p>
            <a:pPr lvl="1"/>
            <a:r>
              <a:rPr lang="en-US" sz="2400" dirty="0"/>
              <a:t>Linear order: the push and pop operations occur only at one end of </a:t>
            </a:r>
            <a:r>
              <a:rPr lang="en-US" sz="2400" i="1" dirty="0"/>
              <a:t>List</a:t>
            </a:r>
            <a:r>
              <a:rPr lang="en-US" sz="2400" dirty="0"/>
              <a:t>.</a:t>
            </a:r>
          </a:p>
          <a:p>
            <a:pPr lvl="1"/>
            <a:r>
              <a:rPr lang="en-US" sz="2400"/>
              <a:t>Stacks </a:t>
            </a:r>
            <a:r>
              <a:rPr lang="en-US" sz="2400" dirty="0"/>
              <a:t>are “LIFO” – last in, first out.</a:t>
            </a:r>
          </a:p>
          <a:p>
            <a:pPr lvl="1"/>
            <a:r>
              <a:rPr lang="en-US" sz="2400" dirty="0"/>
              <a:t>Two main operations:</a:t>
            </a:r>
          </a:p>
          <a:p>
            <a:pPr lvl="2"/>
            <a:r>
              <a:rPr lang="en-US" sz="2000" dirty="0"/>
              <a:t>Push, which adds an element to the </a:t>
            </a:r>
            <a:r>
              <a:rPr lang="en-US" sz="2000" i="1" dirty="0"/>
              <a:t>List</a:t>
            </a:r>
            <a:r>
              <a:rPr lang="en-US" sz="2000" dirty="0"/>
              <a:t>, and</a:t>
            </a:r>
          </a:p>
          <a:p>
            <a:pPr lvl="2"/>
            <a:r>
              <a:rPr lang="en-US" sz="2000" dirty="0"/>
              <a:t>Pop, which removes the most recently added element that was not yet removed.</a:t>
            </a:r>
          </a:p>
        </p:txBody>
      </p:sp>
    </p:spTree>
    <p:extLst>
      <p:ext uri="{BB962C8B-B14F-4D97-AF65-F5344CB8AC3E}">
        <p14:creationId xmlns:p14="http://schemas.microsoft.com/office/powerpoint/2010/main" val="332117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 If time permits</a:t>
            </a:r>
          </a:p>
        </p:txBody>
      </p:sp>
      <p:sp>
        <p:nvSpPr>
          <p:cNvPr id="3" name="Content Placeholder 2"/>
          <p:cNvSpPr>
            <a:spLocks noGrp="1"/>
          </p:cNvSpPr>
          <p:nvPr>
            <p:ph idx="1"/>
          </p:nvPr>
        </p:nvSpPr>
        <p:spPr/>
        <p:txBody>
          <a:bodyPr>
            <a:normAutofit/>
          </a:bodyPr>
          <a:lstStyle/>
          <a:p>
            <a:pPr lvl="1"/>
            <a:r>
              <a:rPr lang="en-US" sz="2400" dirty="0"/>
              <a:t>Suggest a way to implement a queue using two stacks.</a:t>
            </a:r>
          </a:p>
          <a:p>
            <a:pPr lvl="1"/>
            <a:r>
              <a:rPr lang="en-US" sz="2400" dirty="0"/>
              <a:t>You may only use the basic stack operations.</a:t>
            </a:r>
          </a:p>
          <a:p>
            <a:pPr lvl="1"/>
            <a:r>
              <a:rPr lang="en-US" sz="2400" dirty="0"/>
              <a:t>Try to keep runtime to a minimum.</a:t>
            </a:r>
          </a:p>
        </p:txBody>
      </p:sp>
    </p:spTree>
    <p:extLst>
      <p:ext uri="{BB962C8B-B14F-4D97-AF65-F5344CB8AC3E}">
        <p14:creationId xmlns:p14="http://schemas.microsoft.com/office/powerpoint/2010/main" val="55561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3 -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dirty="0"/>
                  <a:t>We will use two stacks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oMath>
                </a14:m>
                <a:r>
                  <a:rPr lang="en-US" sz="2400" dirty="0"/>
                  <a:t>.</a:t>
                </a:r>
              </a:p>
              <a:p>
                <a:pPr lvl="1"/>
                <a:r>
                  <a:rPr lang="en-US" sz="2400" dirty="0"/>
                  <a:t>Items are always pushed to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 (using push operation).</a:t>
                </a:r>
              </a:p>
              <a:p>
                <a:pPr lvl="1"/>
                <a:r>
                  <a:rPr lang="en-US" sz="2400" dirty="0"/>
                  <a:t>Items are removed from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oMath>
                </a14:m>
                <a:r>
                  <a:rPr lang="en-US" sz="2400" dirty="0"/>
                  <a:t> (pop operation). </a:t>
                </a:r>
              </a:p>
              <a:p>
                <a:pPr lvl="1"/>
                <a:r>
                  <a:rPr lang="en-US" sz="2400" dirty="0"/>
                  <a:t>If</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oMath>
                </a14:m>
                <a:r>
                  <a:rPr lang="en-US" sz="2400" dirty="0"/>
                  <a:t> is empty – move all the elements in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 to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oMath>
                </a14:m>
                <a:r>
                  <a:rPr lang="en-US" sz="2400" dirty="0"/>
                  <a:t>by pop and push, and then pop an element from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oMath>
                </a14:m>
                <a:endParaRPr lang="en-US" sz="2400" dirty="0"/>
              </a:p>
              <a:p>
                <a:pPr marL="201168" lvl="1" indent="0">
                  <a:buNone/>
                </a:pPr>
                <a:r>
                  <a:rPr lang="en-US" sz="2400" dirty="0"/>
                  <a:t> </a:t>
                </a:r>
              </a:p>
              <a:p>
                <a:pPr marL="201168" lvl="1" indent="0">
                  <a:buNone/>
                </a:pPr>
                <a:r>
                  <a:rPr lang="en-US" sz="2400" dirty="0"/>
                  <a:t>Notice that popping  and pushing the elements reverses their order.</a:t>
                </a:r>
              </a:p>
              <a:p>
                <a:pPr marL="201168" lvl="1" indent="0">
                  <a:buNone/>
                </a:pPr>
                <a:endParaRPr lang="en-US" sz="2400" dirty="0"/>
              </a:p>
              <a:p>
                <a:pPr marL="201168" lvl="1"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01" r="-252"/>
                </a:stretch>
              </a:blipFill>
            </p:spPr>
            <p:txBody>
              <a:bodyPr/>
              <a:lstStyle/>
              <a:p>
                <a:r>
                  <a:rPr lang="en-IL">
                    <a:noFill/>
                  </a:rPr>
                  <a:t> </a:t>
                </a:r>
              </a:p>
            </p:txBody>
          </p:sp>
        </mc:Fallback>
      </mc:AlternateContent>
    </p:spTree>
    <p:extLst>
      <p:ext uri="{BB962C8B-B14F-4D97-AF65-F5344CB8AC3E}">
        <p14:creationId xmlns:p14="http://schemas.microsoft.com/office/powerpoint/2010/main" val="1303499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lvl="1"/>
            <a:r>
              <a:rPr lang="en-US" sz="2400" dirty="0"/>
              <a:t>Enqueue(5)</a:t>
            </a:r>
          </a:p>
          <a:p>
            <a:pPr lvl="1"/>
            <a:r>
              <a:rPr lang="en-US" sz="2400" dirty="0"/>
              <a:t>Enqueue(2)</a:t>
            </a:r>
          </a:p>
          <a:p>
            <a:pPr lvl="1"/>
            <a:r>
              <a:rPr lang="en-US" sz="2400" dirty="0"/>
              <a:t>Enqueue(3)</a:t>
            </a:r>
          </a:p>
          <a:p>
            <a:pPr marL="201168" lvl="1" indent="0">
              <a:buNone/>
            </a:pPr>
            <a:r>
              <a:rPr lang="en-US" sz="2000" dirty="0"/>
              <a:t>After performing the above three enqueue operations, the queue would look like this:</a:t>
            </a:r>
          </a:p>
        </p:txBody>
      </p:sp>
      <p:graphicFrame>
        <p:nvGraphicFramePr>
          <p:cNvPr id="8" name="Table 8">
            <a:extLst>
              <a:ext uri="{FF2B5EF4-FFF2-40B4-BE49-F238E27FC236}">
                <a16:creationId xmlns:a16="http://schemas.microsoft.com/office/drawing/2014/main" id="{0B6A793F-4539-7C8C-9F92-FBEF35B76775}"/>
              </a:ext>
            </a:extLst>
          </p:cNvPr>
          <p:cNvGraphicFramePr>
            <a:graphicFrameLocks noGrp="1"/>
          </p:cNvGraphicFramePr>
          <p:nvPr>
            <p:extLst>
              <p:ext uri="{D42A27DB-BD31-4B8C-83A1-F6EECF244321}">
                <p14:modId xmlns:p14="http://schemas.microsoft.com/office/powerpoint/2010/main" val="1286629458"/>
              </p:ext>
            </p:extLst>
          </p:nvPr>
        </p:nvGraphicFramePr>
        <p:xfrm>
          <a:off x="3202109" y="3476074"/>
          <a:ext cx="1650307" cy="2405212"/>
        </p:xfrm>
        <a:graphic>
          <a:graphicData uri="http://schemas.openxmlformats.org/drawingml/2006/table">
            <a:tbl>
              <a:tblPr firstRow="1" bandRow="1">
                <a:tableStyleId>{2D5ABB26-0587-4C30-8999-92F81FD0307C}</a:tableStyleId>
              </a:tblPr>
              <a:tblGrid>
                <a:gridCol w="1650307">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p:graphicFrame>
        <p:nvGraphicFramePr>
          <p:cNvPr id="9" name="Table 8">
            <a:extLst>
              <a:ext uri="{FF2B5EF4-FFF2-40B4-BE49-F238E27FC236}">
                <a16:creationId xmlns:a16="http://schemas.microsoft.com/office/drawing/2014/main" id="{96F85FA3-5B3B-BB23-DAAD-42C332322432}"/>
              </a:ext>
            </a:extLst>
          </p:cNvPr>
          <p:cNvGraphicFramePr>
            <a:graphicFrameLocks noGrp="1"/>
          </p:cNvGraphicFramePr>
          <p:nvPr>
            <p:extLst>
              <p:ext uri="{D42A27DB-BD31-4B8C-83A1-F6EECF244321}">
                <p14:modId xmlns:p14="http://schemas.microsoft.com/office/powerpoint/2010/main" val="381505912"/>
              </p:ext>
            </p:extLst>
          </p:nvPr>
        </p:nvGraphicFramePr>
        <p:xfrm>
          <a:off x="6393059" y="3476074"/>
          <a:ext cx="1650308" cy="2405212"/>
        </p:xfrm>
        <a:graphic>
          <a:graphicData uri="http://schemas.openxmlformats.org/drawingml/2006/table">
            <a:tbl>
              <a:tblPr firstRow="1" bandRow="1">
                <a:tableStyleId>{2D5ABB26-0587-4C30-8999-92F81FD0307C}</a:tableStyleId>
              </a:tblPr>
              <a:tblGrid>
                <a:gridCol w="1650308">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4AA282-DF97-9CB0-A502-6A2B9A5B1310}"/>
                  </a:ext>
                </a:extLst>
              </p:cNvPr>
              <p:cNvSpPr txBox="1"/>
              <p:nvPr/>
            </p:nvSpPr>
            <p:spPr>
              <a:xfrm>
                <a:off x="3880871" y="5965031"/>
                <a:ext cx="451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m:oMathPara>
                </a14:m>
                <a:endParaRPr lang="en-IL" dirty="0"/>
              </a:p>
            </p:txBody>
          </p:sp>
        </mc:Choice>
        <mc:Fallback xmlns="">
          <p:sp>
            <p:nvSpPr>
              <p:cNvPr id="10" name="TextBox 9">
                <a:extLst>
                  <a:ext uri="{FF2B5EF4-FFF2-40B4-BE49-F238E27FC236}">
                    <a16:creationId xmlns:a16="http://schemas.microsoft.com/office/drawing/2014/main" id="{9C4AA282-DF97-9CB0-A502-6A2B9A5B1310}"/>
                  </a:ext>
                </a:extLst>
              </p:cNvPr>
              <p:cNvSpPr txBox="1">
                <a:spLocks noRot="1" noChangeAspect="1" noMove="1" noResize="1" noEditPoints="1" noAdjustHandles="1" noChangeArrowheads="1" noChangeShapeType="1" noTextEdit="1"/>
              </p:cNvSpPr>
              <p:nvPr/>
            </p:nvSpPr>
            <p:spPr>
              <a:xfrm>
                <a:off x="3880871" y="5965031"/>
                <a:ext cx="451277"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6C7F1F-B162-792A-1F3A-802475461278}"/>
                  </a:ext>
                </a:extLst>
              </p:cNvPr>
              <p:cNvSpPr txBox="1"/>
              <p:nvPr/>
            </p:nvSpPr>
            <p:spPr>
              <a:xfrm>
                <a:off x="6989913" y="5977468"/>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1" name="TextBox 10">
                <a:extLst>
                  <a:ext uri="{FF2B5EF4-FFF2-40B4-BE49-F238E27FC236}">
                    <a16:creationId xmlns:a16="http://schemas.microsoft.com/office/drawing/2014/main" id="{046C7F1F-B162-792A-1F3A-802475461278}"/>
                  </a:ext>
                </a:extLst>
              </p:cNvPr>
              <p:cNvSpPr txBox="1">
                <a:spLocks noRot="1" noChangeAspect="1" noMove="1" noResize="1" noEditPoints="1" noAdjustHandles="1" noChangeArrowheads="1" noChangeShapeType="1" noTextEdit="1"/>
              </p:cNvSpPr>
              <p:nvPr/>
            </p:nvSpPr>
            <p:spPr>
              <a:xfrm>
                <a:off x="6989913" y="5977468"/>
                <a:ext cx="456599" cy="369332"/>
              </a:xfrm>
              <a:prstGeom prst="rect">
                <a:avLst/>
              </a:prstGeom>
              <a:blipFill>
                <a:blip r:embed="rId3"/>
                <a:stretch>
                  <a:fillRect/>
                </a:stretch>
              </a:blipFill>
            </p:spPr>
            <p:txBody>
              <a:bodyPr/>
              <a:lstStyle/>
              <a:p>
                <a:r>
                  <a:rPr lang="en-IL">
                    <a:noFill/>
                  </a:rPr>
                  <a:t> </a:t>
                </a:r>
              </a:p>
            </p:txBody>
          </p:sp>
        </mc:Fallback>
      </mc:AlternateContent>
    </p:spTree>
    <p:extLst>
      <p:ext uri="{BB962C8B-B14F-4D97-AF65-F5344CB8AC3E}">
        <p14:creationId xmlns:p14="http://schemas.microsoft.com/office/powerpoint/2010/main" val="36260191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lvl="1"/>
            <a:r>
              <a:rPr lang="en-US" sz="2400" dirty="0"/>
              <a:t>Dequeue()</a:t>
            </a:r>
          </a:p>
          <a:p>
            <a:pPr marL="201168" lvl="1" indent="0">
              <a:buNone/>
            </a:pPr>
            <a:r>
              <a:rPr lang="en-US" sz="2000" dirty="0"/>
              <a:t>After performing the above dequeue operation, the queue would look like this:</a:t>
            </a:r>
          </a:p>
        </p:txBody>
      </p:sp>
      <p:graphicFrame>
        <p:nvGraphicFramePr>
          <p:cNvPr id="8" name="Table 8">
            <a:extLst>
              <a:ext uri="{FF2B5EF4-FFF2-40B4-BE49-F238E27FC236}">
                <a16:creationId xmlns:a16="http://schemas.microsoft.com/office/drawing/2014/main" id="{0B6A793F-4539-7C8C-9F92-FBEF35B76775}"/>
              </a:ext>
            </a:extLst>
          </p:cNvPr>
          <p:cNvGraphicFramePr>
            <a:graphicFrameLocks noGrp="1"/>
          </p:cNvGraphicFramePr>
          <p:nvPr>
            <p:extLst>
              <p:ext uri="{D42A27DB-BD31-4B8C-83A1-F6EECF244321}">
                <p14:modId xmlns:p14="http://schemas.microsoft.com/office/powerpoint/2010/main" val="137758578"/>
              </p:ext>
            </p:extLst>
          </p:nvPr>
        </p:nvGraphicFramePr>
        <p:xfrm>
          <a:off x="1188607" y="3572256"/>
          <a:ext cx="1686351" cy="2405212"/>
        </p:xfrm>
        <a:graphic>
          <a:graphicData uri="http://schemas.openxmlformats.org/drawingml/2006/table">
            <a:tbl>
              <a:tblPr firstRow="1" bandRow="1">
                <a:tableStyleId>{2D5ABB26-0587-4C30-8999-92F81FD0307C}</a:tableStyleId>
              </a:tblPr>
              <a:tblGrid>
                <a:gridCol w="1686351">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p:graphicFrame>
        <p:nvGraphicFramePr>
          <p:cNvPr id="9" name="Table 8">
            <a:extLst>
              <a:ext uri="{FF2B5EF4-FFF2-40B4-BE49-F238E27FC236}">
                <a16:creationId xmlns:a16="http://schemas.microsoft.com/office/drawing/2014/main" id="{96F85FA3-5B3B-BB23-DAAD-42C332322432}"/>
              </a:ext>
            </a:extLst>
          </p:cNvPr>
          <p:cNvGraphicFramePr>
            <a:graphicFrameLocks noGrp="1"/>
          </p:cNvGraphicFramePr>
          <p:nvPr>
            <p:extLst>
              <p:ext uri="{D42A27DB-BD31-4B8C-83A1-F6EECF244321}">
                <p14:modId xmlns:p14="http://schemas.microsoft.com/office/powerpoint/2010/main" val="523184536"/>
              </p:ext>
            </p:extLst>
          </p:nvPr>
        </p:nvGraphicFramePr>
        <p:xfrm>
          <a:off x="4710623" y="3601814"/>
          <a:ext cx="1686352" cy="2405212"/>
        </p:xfrm>
        <a:graphic>
          <a:graphicData uri="http://schemas.openxmlformats.org/drawingml/2006/table">
            <a:tbl>
              <a:tblPr firstRow="1" bandRow="1">
                <a:tableStyleId>{2D5ABB26-0587-4C30-8999-92F81FD0307C}</a:tableStyleId>
              </a:tblPr>
              <a:tblGrid>
                <a:gridCol w="1686352">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4AA282-DF97-9CB0-A502-6A2B9A5B1310}"/>
                  </a:ext>
                </a:extLst>
              </p:cNvPr>
              <p:cNvSpPr txBox="1"/>
              <p:nvPr/>
            </p:nvSpPr>
            <p:spPr>
              <a:xfrm>
                <a:off x="1806143" y="5977468"/>
                <a:ext cx="451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m:oMathPara>
                </a14:m>
                <a:endParaRPr lang="en-IL" dirty="0"/>
              </a:p>
            </p:txBody>
          </p:sp>
        </mc:Choice>
        <mc:Fallback xmlns="">
          <p:sp>
            <p:nvSpPr>
              <p:cNvPr id="10" name="TextBox 9">
                <a:extLst>
                  <a:ext uri="{FF2B5EF4-FFF2-40B4-BE49-F238E27FC236}">
                    <a16:creationId xmlns:a16="http://schemas.microsoft.com/office/drawing/2014/main" id="{9C4AA282-DF97-9CB0-A502-6A2B9A5B1310}"/>
                  </a:ext>
                </a:extLst>
              </p:cNvPr>
              <p:cNvSpPr txBox="1">
                <a:spLocks noRot="1" noChangeAspect="1" noMove="1" noResize="1" noEditPoints="1" noAdjustHandles="1" noChangeArrowheads="1" noChangeShapeType="1" noTextEdit="1"/>
              </p:cNvSpPr>
              <p:nvPr/>
            </p:nvSpPr>
            <p:spPr>
              <a:xfrm>
                <a:off x="1806143" y="5977468"/>
                <a:ext cx="451277"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6C7F1F-B162-792A-1F3A-802475461278}"/>
                  </a:ext>
                </a:extLst>
              </p:cNvPr>
              <p:cNvSpPr txBox="1"/>
              <p:nvPr/>
            </p:nvSpPr>
            <p:spPr>
              <a:xfrm>
                <a:off x="5325499" y="6007026"/>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1" name="TextBox 10">
                <a:extLst>
                  <a:ext uri="{FF2B5EF4-FFF2-40B4-BE49-F238E27FC236}">
                    <a16:creationId xmlns:a16="http://schemas.microsoft.com/office/drawing/2014/main" id="{046C7F1F-B162-792A-1F3A-802475461278}"/>
                  </a:ext>
                </a:extLst>
              </p:cNvPr>
              <p:cNvSpPr txBox="1">
                <a:spLocks noRot="1" noChangeAspect="1" noMove="1" noResize="1" noEditPoints="1" noAdjustHandles="1" noChangeArrowheads="1" noChangeShapeType="1" noTextEdit="1"/>
              </p:cNvSpPr>
              <p:nvPr/>
            </p:nvSpPr>
            <p:spPr>
              <a:xfrm>
                <a:off x="5325499" y="6007026"/>
                <a:ext cx="456599" cy="369332"/>
              </a:xfrm>
              <a:prstGeom prst="rect">
                <a:avLst/>
              </a:prstGeom>
              <a:blipFill>
                <a:blip r:embed="rId3"/>
                <a:stretch>
                  <a:fillRect/>
                </a:stretch>
              </a:blipFill>
            </p:spPr>
            <p:txBody>
              <a:bodyPr/>
              <a:lstStyle/>
              <a:p>
                <a:r>
                  <a:rPr lang="en-IL">
                    <a:noFill/>
                  </a:rPr>
                  <a:t> </a:t>
                </a:r>
              </a:p>
            </p:txBody>
          </p:sp>
        </mc:Fallback>
      </mc:AlternateContent>
      <p:sp>
        <p:nvSpPr>
          <p:cNvPr id="4" name="Right Arrow 3">
            <a:extLst>
              <a:ext uri="{FF2B5EF4-FFF2-40B4-BE49-F238E27FC236}">
                <a16:creationId xmlns:a16="http://schemas.microsoft.com/office/drawing/2014/main" id="{A846A970-0386-984A-897F-00071630BF0D}"/>
              </a:ext>
            </a:extLst>
          </p:cNvPr>
          <p:cNvSpPr/>
          <p:nvPr/>
        </p:nvSpPr>
        <p:spPr>
          <a:xfrm>
            <a:off x="3133344" y="5010912"/>
            <a:ext cx="13289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aphicFrame>
        <p:nvGraphicFramePr>
          <p:cNvPr id="6" name="Table 5">
            <a:extLst>
              <a:ext uri="{FF2B5EF4-FFF2-40B4-BE49-F238E27FC236}">
                <a16:creationId xmlns:a16="http://schemas.microsoft.com/office/drawing/2014/main" id="{769A046A-BA08-2744-CF50-4BFB26B16495}"/>
              </a:ext>
            </a:extLst>
          </p:cNvPr>
          <p:cNvGraphicFramePr>
            <a:graphicFrameLocks noGrp="1"/>
          </p:cNvGraphicFramePr>
          <p:nvPr>
            <p:extLst>
              <p:ext uri="{D42A27DB-BD31-4B8C-83A1-F6EECF244321}">
                <p14:modId xmlns:p14="http://schemas.microsoft.com/office/powerpoint/2010/main" val="3520952510"/>
              </p:ext>
            </p:extLst>
          </p:nvPr>
        </p:nvGraphicFramePr>
        <p:xfrm>
          <a:off x="8269902" y="3601814"/>
          <a:ext cx="1686352" cy="2405212"/>
        </p:xfrm>
        <a:graphic>
          <a:graphicData uri="http://schemas.openxmlformats.org/drawingml/2006/table">
            <a:tbl>
              <a:tblPr firstRow="1" bandRow="1">
                <a:tableStyleId>{2D5ABB26-0587-4C30-8999-92F81FD0307C}</a:tableStyleId>
              </a:tblPr>
              <a:tblGrid>
                <a:gridCol w="1686352">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99A53F-F4C4-7084-6092-74B26C29A33E}"/>
                  </a:ext>
                </a:extLst>
              </p:cNvPr>
              <p:cNvSpPr txBox="1"/>
              <p:nvPr/>
            </p:nvSpPr>
            <p:spPr>
              <a:xfrm>
                <a:off x="8884778" y="6007026"/>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7" name="TextBox 6">
                <a:extLst>
                  <a:ext uri="{FF2B5EF4-FFF2-40B4-BE49-F238E27FC236}">
                    <a16:creationId xmlns:a16="http://schemas.microsoft.com/office/drawing/2014/main" id="{B099A53F-F4C4-7084-6092-74B26C29A33E}"/>
                  </a:ext>
                </a:extLst>
              </p:cNvPr>
              <p:cNvSpPr txBox="1">
                <a:spLocks noRot="1" noChangeAspect="1" noMove="1" noResize="1" noEditPoints="1" noAdjustHandles="1" noChangeArrowheads="1" noChangeShapeType="1" noTextEdit="1"/>
              </p:cNvSpPr>
              <p:nvPr/>
            </p:nvSpPr>
            <p:spPr>
              <a:xfrm>
                <a:off x="8884778" y="6007026"/>
                <a:ext cx="456599" cy="369332"/>
              </a:xfrm>
              <a:prstGeom prst="rect">
                <a:avLst/>
              </a:prstGeom>
              <a:blipFill>
                <a:blip r:embed="rId4"/>
                <a:stretch>
                  <a:fillRect/>
                </a:stretch>
              </a:blipFill>
            </p:spPr>
            <p:txBody>
              <a:bodyPr/>
              <a:lstStyle/>
              <a:p>
                <a:r>
                  <a:rPr lang="en-IL">
                    <a:noFill/>
                  </a:rPr>
                  <a:t> </a:t>
                </a:r>
              </a:p>
            </p:txBody>
          </p:sp>
        </mc:Fallback>
      </mc:AlternateContent>
      <p:cxnSp>
        <p:nvCxnSpPr>
          <p:cNvPr id="13" name="Curved Connector 12">
            <a:extLst>
              <a:ext uri="{FF2B5EF4-FFF2-40B4-BE49-F238E27FC236}">
                <a16:creationId xmlns:a16="http://schemas.microsoft.com/office/drawing/2014/main" id="{EF3045ED-A124-90CD-6009-AFC9D11EF3D2}"/>
              </a:ext>
            </a:extLst>
          </p:cNvPr>
          <p:cNvCxnSpPr>
            <a:cxnSpLocks/>
          </p:cNvCxnSpPr>
          <p:nvPr/>
        </p:nvCxnSpPr>
        <p:spPr>
          <a:xfrm>
            <a:off x="6755624" y="4804420"/>
            <a:ext cx="1315480" cy="42594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A460CEA7-12EC-8AC0-ADF6-254B7F336315}"/>
                  </a:ext>
                </a:extLst>
              </p14:cNvPr>
              <p14:cNvContentPartPr/>
              <p14:nvPr/>
            </p14:nvContentPartPr>
            <p14:xfrm>
              <a:off x="5284080" y="3195067"/>
              <a:ext cx="1246680" cy="1812600"/>
            </p14:xfrm>
          </p:contentPart>
        </mc:Choice>
        <mc:Fallback xmlns="">
          <p:pic>
            <p:nvPicPr>
              <p:cNvPr id="16" name="Ink 15">
                <a:extLst>
                  <a:ext uri="{FF2B5EF4-FFF2-40B4-BE49-F238E27FC236}">
                    <a16:creationId xmlns:a16="http://schemas.microsoft.com/office/drawing/2014/main" id="{A460CEA7-12EC-8AC0-ADF6-254B7F336315}"/>
                  </a:ext>
                </a:extLst>
              </p:cNvPr>
              <p:cNvPicPr/>
              <p:nvPr/>
            </p:nvPicPr>
            <p:blipFill>
              <a:blip r:embed="rId6"/>
              <a:stretch>
                <a:fillRect/>
              </a:stretch>
            </p:blipFill>
            <p:spPr>
              <a:xfrm>
                <a:off x="5275080" y="3186067"/>
                <a:ext cx="1264320" cy="1830240"/>
              </a:xfrm>
              <a:prstGeom prst="rect">
                <a:avLst/>
              </a:prstGeom>
            </p:spPr>
          </p:pic>
        </mc:Fallback>
      </mc:AlternateContent>
      <p:sp>
        <p:nvSpPr>
          <p:cNvPr id="17" name="TextBox 16">
            <a:extLst>
              <a:ext uri="{FF2B5EF4-FFF2-40B4-BE49-F238E27FC236}">
                <a16:creationId xmlns:a16="http://schemas.microsoft.com/office/drawing/2014/main" id="{4F7BDAE5-B3EE-038D-A321-11832C12696A}"/>
              </a:ext>
            </a:extLst>
          </p:cNvPr>
          <p:cNvSpPr txBox="1"/>
          <p:nvPr/>
        </p:nvSpPr>
        <p:spPr>
          <a:xfrm>
            <a:off x="6530760" y="2844800"/>
            <a:ext cx="683392" cy="369332"/>
          </a:xfrm>
          <a:prstGeom prst="rect">
            <a:avLst/>
          </a:prstGeom>
          <a:noFill/>
        </p:spPr>
        <p:txBody>
          <a:bodyPr wrap="none" rtlCol="0">
            <a:spAutoFit/>
          </a:bodyPr>
          <a:lstStyle/>
          <a:p>
            <a:r>
              <a:rPr lang="en-US" dirty="0"/>
              <a:t>P</a:t>
            </a:r>
            <a:r>
              <a:rPr lang="en-IL" dirty="0"/>
              <a:t>op()</a:t>
            </a:r>
          </a:p>
        </p:txBody>
      </p:sp>
    </p:spTree>
    <p:extLst>
      <p:ext uri="{BB962C8B-B14F-4D97-AF65-F5344CB8AC3E}">
        <p14:creationId xmlns:p14="http://schemas.microsoft.com/office/powerpoint/2010/main" val="395677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lvl="1"/>
            <a:r>
              <a:rPr lang="en-US" sz="2400" dirty="0"/>
              <a:t>Enqueue(6)</a:t>
            </a:r>
          </a:p>
          <a:p>
            <a:pPr lvl="1"/>
            <a:r>
              <a:rPr lang="en-US" sz="2400" dirty="0"/>
              <a:t>Enqueue(4)</a:t>
            </a:r>
          </a:p>
          <a:p>
            <a:pPr marL="201168" lvl="1" indent="0">
              <a:buNone/>
            </a:pPr>
            <a:r>
              <a:rPr lang="en-US" sz="2000" dirty="0"/>
              <a:t>After performing the above enqueue operations, the queue would look like this:</a:t>
            </a:r>
          </a:p>
        </p:txBody>
      </p:sp>
      <p:graphicFrame>
        <p:nvGraphicFramePr>
          <p:cNvPr id="8" name="Table 8">
            <a:extLst>
              <a:ext uri="{FF2B5EF4-FFF2-40B4-BE49-F238E27FC236}">
                <a16:creationId xmlns:a16="http://schemas.microsoft.com/office/drawing/2014/main" id="{0B6A793F-4539-7C8C-9F92-FBEF35B76775}"/>
              </a:ext>
            </a:extLst>
          </p:cNvPr>
          <p:cNvGraphicFramePr>
            <a:graphicFrameLocks noGrp="1"/>
          </p:cNvGraphicFramePr>
          <p:nvPr>
            <p:extLst>
              <p:ext uri="{D42A27DB-BD31-4B8C-83A1-F6EECF244321}">
                <p14:modId xmlns:p14="http://schemas.microsoft.com/office/powerpoint/2010/main" val="1497460252"/>
              </p:ext>
            </p:extLst>
          </p:nvPr>
        </p:nvGraphicFramePr>
        <p:xfrm>
          <a:off x="3421275" y="3463882"/>
          <a:ext cx="1659785" cy="2405212"/>
        </p:xfrm>
        <a:graphic>
          <a:graphicData uri="http://schemas.openxmlformats.org/drawingml/2006/table">
            <a:tbl>
              <a:tblPr firstRow="1" bandRow="1">
                <a:tableStyleId>{2D5ABB26-0587-4C30-8999-92F81FD0307C}</a:tableStyleId>
              </a:tblPr>
              <a:tblGrid>
                <a:gridCol w="1659785">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p:graphicFrame>
        <p:nvGraphicFramePr>
          <p:cNvPr id="9" name="Table 8">
            <a:extLst>
              <a:ext uri="{FF2B5EF4-FFF2-40B4-BE49-F238E27FC236}">
                <a16:creationId xmlns:a16="http://schemas.microsoft.com/office/drawing/2014/main" id="{96F85FA3-5B3B-BB23-DAAD-42C332322432}"/>
              </a:ext>
            </a:extLst>
          </p:cNvPr>
          <p:cNvGraphicFramePr>
            <a:graphicFrameLocks noGrp="1"/>
          </p:cNvGraphicFramePr>
          <p:nvPr>
            <p:extLst>
              <p:ext uri="{D42A27DB-BD31-4B8C-83A1-F6EECF244321}">
                <p14:modId xmlns:p14="http://schemas.microsoft.com/office/powerpoint/2010/main" val="1466948949"/>
              </p:ext>
            </p:extLst>
          </p:nvPr>
        </p:nvGraphicFramePr>
        <p:xfrm>
          <a:off x="7110942" y="3478661"/>
          <a:ext cx="1659785" cy="2405212"/>
        </p:xfrm>
        <a:graphic>
          <a:graphicData uri="http://schemas.openxmlformats.org/drawingml/2006/table">
            <a:tbl>
              <a:tblPr firstRow="1" bandRow="1">
                <a:tableStyleId>{2D5ABB26-0587-4C30-8999-92F81FD0307C}</a:tableStyleId>
              </a:tblPr>
              <a:tblGrid>
                <a:gridCol w="1659785">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4AA282-DF97-9CB0-A502-6A2B9A5B1310}"/>
                  </a:ext>
                </a:extLst>
              </p:cNvPr>
              <p:cNvSpPr txBox="1"/>
              <p:nvPr/>
            </p:nvSpPr>
            <p:spPr>
              <a:xfrm>
                <a:off x="4025528" y="5898652"/>
                <a:ext cx="451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m:oMathPara>
                </a14:m>
                <a:endParaRPr lang="en-IL" dirty="0"/>
              </a:p>
            </p:txBody>
          </p:sp>
        </mc:Choice>
        <mc:Fallback xmlns="">
          <p:sp>
            <p:nvSpPr>
              <p:cNvPr id="10" name="TextBox 9">
                <a:extLst>
                  <a:ext uri="{FF2B5EF4-FFF2-40B4-BE49-F238E27FC236}">
                    <a16:creationId xmlns:a16="http://schemas.microsoft.com/office/drawing/2014/main" id="{9C4AA282-DF97-9CB0-A502-6A2B9A5B1310}"/>
                  </a:ext>
                </a:extLst>
              </p:cNvPr>
              <p:cNvSpPr txBox="1">
                <a:spLocks noRot="1" noChangeAspect="1" noMove="1" noResize="1" noEditPoints="1" noAdjustHandles="1" noChangeArrowheads="1" noChangeShapeType="1" noTextEdit="1"/>
              </p:cNvSpPr>
              <p:nvPr/>
            </p:nvSpPr>
            <p:spPr>
              <a:xfrm>
                <a:off x="4025528" y="5898652"/>
                <a:ext cx="451277" cy="3693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6C7F1F-B162-792A-1F3A-802475461278}"/>
                  </a:ext>
                </a:extLst>
              </p:cNvPr>
              <p:cNvSpPr txBox="1"/>
              <p:nvPr/>
            </p:nvSpPr>
            <p:spPr>
              <a:xfrm>
                <a:off x="7712534" y="5898652"/>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1" name="TextBox 10">
                <a:extLst>
                  <a:ext uri="{FF2B5EF4-FFF2-40B4-BE49-F238E27FC236}">
                    <a16:creationId xmlns:a16="http://schemas.microsoft.com/office/drawing/2014/main" id="{046C7F1F-B162-792A-1F3A-802475461278}"/>
                  </a:ext>
                </a:extLst>
              </p:cNvPr>
              <p:cNvSpPr txBox="1">
                <a:spLocks noRot="1" noChangeAspect="1" noMove="1" noResize="1" noEditPoints="1" noAdjustHandles="1" noChangeArrowheads="1" noChangeShapeType="1" noTextEdit="1"/>
              </p:cNvSpPr>
              <p:nvPr/>
            </p:nvSpPr>
            <p:spPr>
              <a:xfrm>
                <a:off x="7712534" y="5898652"/>
                <a:ext cx="456599" cy="369332"/>
              </a:xfrm>
              <a:prstGeom prst="rect">
                <a:avLst/>
              </a:prstGeom>
              <a:blipFill>
                <a:blip r:embed="rId4"/>
                <a:stretch>
                  <a:fillRect/>
                </a:stretch>
              </a:blipFill>
            </p:spPr>
            <p:txBody>
              <a:bodyPr/>
              <a:lstStyle/>
              <a:p>
                <a:r>
                  <a:rPr lang="en-IL">
                    <a:noFill/>
                  </a:rPr>
                  <a:t> </a:t>
                </a:r>
              </a:p>
            </p:txBody>
          </p:sp>
        </mc:Fallback>
      </mc:AlternateContent>
    </p:spTree>
    <p:extLst>
      <p:ext uri="{BB962C8B-B14F-4D97-AF65-F5344CB8AC3E}">
        <p14:creationId xmlns:p14="http://schemas.microsoft.com/office/powerpoint/2010/main" val="68054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lvl="1"/>
            <a:r>
              <a:rPr lang="en-US" sz="2400" dirty="0"/>
              <a:t>Dequeue()</a:t>
            </a:r>
          </a:p>
          <a:p>
            <a:pPr lvl="1"/>
            <a:r>
              <a:rPr lang="en-US" sz="2400" dirty="0"/>
              <a:t>Dequeue()</a:t>
            </a:r>
          </a:p>
          <a:p>
            <a:pPr marL="201168" lvl="1" indent="0">
              <a:buNone/>
            </a:pPr>
            <a:r>
              <a:rPr lang="en-US" sz="2000" dirty="0"/>
              <a:t>After performing the above dequeue operations, the queue would look like this:</a:t>
            </a:r>
          </a:p>
        </p:txBody>
      </p:sp>
      <p:graphicFrame>
        <p:nvGraphicFramePr>
          <p:cNvPr id="8" name="Table 8">
            <a:extLst>
              <a:ext uri="{FF2B5EF4-FFF2-40B4-BE49-F238E27FC236}">
                <a16:creationId xmlns:a16="http://schemas.microsoft.com/office/drawing/2014/main" id="{0B6A793F-4539-7C8C-9F92-FBEF35B76775}"/>
              </a:ext>
            </a:extLst>
          </p:cNvPr>
          <p:cNvGraphicFramePr>
            <a:graphicFrameLocks noGrp="1"/>
          </p:cNvGraphicFramePr>
          <p:nvPr>
            <p:extLst>
              <p:ext uri="{D42A27DB-BD31-4B8C-83A1-F6EECF244321}">
                <p14:modId xmlns:p14="http://schemas.microsoft.com/office/powerpoint/2010/main" val="475600293"/>
              </p:ext>
            </p:extLst>
          </p:nvPr>
        </p:nvGraphicFramePr>
        <p:xfrm>
          <a:off x="1356568" y="3601814"/>
          <a:ext cx="1460711" cy="2405212"/>
        </p:xfrm>
        <a:graphic>
          <a:graphicData uri="http://schemas.openxmlformats.org/drawingml/2006/table">
            <a:tbl>
              <a:tblPr firstRow="1" bandRow="1">
                <a:tableStyleId>{2D5ABB26-0587-4C30-8999-92F81FD0307C}</a:tableStyleId>
              </a:tblPr>
              <a:tblGrid>
                <a:gridCol w="1460711">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p:graphicFrame>
        <p:nvGraphicFramePr>
          <p:cNvPr id="9" name="Table 8">
            <a:extLst>
              <a:ext uri="{FF2B5EF4-FFF2-40B4-BE49-F238E27FC236}">
                <a16:creationId xmlns:a16="http://schemas.microsoft.com/office/drawing/2014/main" id="{96F85FA3-5B3B-BB23-DAAD-42C332322432}"/>
              </a:ext>
            </a:extLst>
          </p:cNvPr>
          <p:cNvGraphicFramePr>
            <a:graphicFrameLocks noGrp="1"/>
          </p:cNvGraphicFramePr>
          <p:nvPr>
            <p:extLst>
              <p:ext uri="{D42A27DB-BD31-4B8C-83A1-F6EECF244321}">
                <p14:modId xmlns:p14="http://schemas.microsoft.com/office/powerpoint/2010/main" val="21613355"/>
              </p:ext>
            </p:extLst>
          </p:nvPr>
        </p:nvGraphicFramePr>
        <p:xfrm>
          <a:off x="4274101" y="3601814"/>
          <a:ext cx="1458050" cy="2405212"/>
        </p:xfrm>
        <a:graphic>
          <a:graphicData uri="http://schemas.openxmlformats.org/drawingml/2006/table">
            <a:tbl>
              <a:tblPr firstRow="1" bandRow="1">
                <a:tableStyleId>{2D5ABB26-0587-4C30-8999-92F81FD0307C}</a:tableStyleId>
              </a:tblPr>
              <a:tblGrid>
                <a:gridCol w="1458050">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4AA282-DF97-9CB0-A502-6A2B9A5B1310}"/>
                  </a:ext>
                </a:extLst>
              </p:cNvPr>
              <p:cNvSpPr txBox="1"/>
              <p:nvPr/>
            </p:nvSpPr>
            <p:spPr>
              <a:xfrm>
                <a:off x="2009326" y="6007026"/>
                <a:ext cx="451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m:oMathPara>
                </a14:m>
                <a:endParaRPr lang="en-IL" dirty="0"/>
              </a:p>
            </p:txBody>
          </p:sp>
        </mc:Choice>
        <mc:Fallback xmlns="">
          <p:sp>
            <p:nvSpPr>
              <p:cNvPr id="10" name="TextBox 9">
                <a:extLst>
                  <a:ext uri="{FF2B5EF4-FFF2-40B4-BE49-F238E27FC236}">
                    <a16:creationId xmlns:a16="http://schemas.microsoft.com/office/drawing/2014/main" id="{9C4AA282-DF97-9CB0-A502-6A2B9A5B1310}"/>
                  </a:ext>
                </a:extLst>
              </p:cNvPr>
              <p:cNvSpPr txBox="1">
                <a:spLocks noRot="1" noChangeAspect="1" noMove="1" noResize="1" noEditPoints="1" noAdjustHandles="1" noChangeArrowheads="1" noChangeShapeType="1" noTextEdit="1"/>
              </p:cNvSpPr>
              <p:nvPr/>
            </p:nvSpPr>
            <p:spPr>
              <a:xfrm>
                <a:off x="2009326" y="6007026"/>
                <a:ext cx="451277"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6C7F1F-B162-792A-1F3A-802475461278}"/>
                  </a:ext>
                </a:extLst>
              </p:cNvPr>
              <p:cNvSpPr txBox="1"/>
              <p:nvPr/>
            </p:nvSpPr>
            <p:spPr>
              <a:xfrm>
                <a:off x="4774826" y="6007026"/>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1" name="TextBox 10">
                <a:extLst>
                  <a:ext uri="{FF2B5EF4-FFF2-40B4-BE49-F238E27FC236}">
                    <a16:creationId xmlns:a16="http://schemas.microsoft.com/office/drawing/2014/main" id="{046C7F1F-B162-792A-1F3A-802475461278}"/>
                  </a:ext>
                </a:extLst>
              </p:cNvPr>
              <p:cNvSpPr txBox="1">
                <a:spLocks noRot="1" noChangeAspect="1" noMove="1" noResize="1" noEditPoints="1" noAdjustHandles="1" noChangeArrowheads="1" noChangeShapeType="1" noTextEdit="1"/>
              </p:cNvSpPr>
              <p:nvPr/>
            </p:nvSpPr>
            <p:spPr>
              <a:xfrm>
                <a:off x="4774826" y="6007026"/>
                <a:ext cx="456599" cy="369332"/>
              </a:xfrm>
              <a:prstGeom prst="rect">
                <a:avLst/>
              </a:prstGeom>
              <a:blipFill>
                <a:blip r:embed="rId3"/>
                <a:stretch>
                  <a:fillRect/>
                </a:stretch>
              </a:blipFill>
            </p:spPr>
            <p:txBody>
              <a:bodyPr/>
              <a:lstStyle/>
              <a:p>
                <a:r>
                  <a:rPr lang="en-IL">
                    <a:noFill/>
                  </a:rPr>
                  <a:t> </a:t>
                </a:r>
              </a:p>
            </p:txBody>
          </p:sp>
        </mc:Fallback>
      </mc:AlternateContent>
      <p:graphicFrame>
        <p:nvGraphicFramePr>
          <p:cNvPr id="4" name="Table 3">
            <a:extLst>
              <a:ext uri="{FF2B5EF4-FFF2-40B4-BE49-F238E27FC236}">
                <a16:creationId xmlns:a16="http://schemas.microsoft.com/office/drawing/2014/main" id="{0FB6FE31-E221-B0AF-F917-3836B65EA379}"/>
              </a:ext>
            </a:extLst>
          </p:cNvPr>
          <p:cNvGraphicFramePr>
            <a:graphicFrameLocks noGrp="1"/>
          </p:cNvGraphicFramePr>
          <p:nvPr>
            <p:extLst>
              <p:ext uri="{D42A27DB-BD31-4B8C-83A1-F6EECF244321}">
                <p14:modId xmlns:p14="http://schemas.microsoft.com/office/powerpoint/2010/main" val="4248934945"/>
              </p:ext>
            </p:extLst>
          </p:nvPr>
        </p:nvGraphicFramePr>
        <p:xfrm>
          <a:off x="6710926" y="3601814"/>
          <a:ext cx="1458050" cy="2405212"/>
        </p:xfrm>
        <a:graphic>
          <a:graphicData uri="http://schemas.openxmlformats.org/drawingml/2006/table">
            <a:tbl>
              <a:tblPr firstRow="1" bandRow="1">
                <a:tableStyleId>{2D5ABB26-0587-4C30-8999-92F81FD0307C}</a:tableStyleId>
              </a:tblPr>
              <a:tblGrid>
                <a:gridCol w="1458050">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E465964-F8A8-59AB-79A5-39AE539F5AEB}"/>
                  </a:ext>
                </a:extLst>
              </p:cNvPr>
              <p:cNvSpPr txBox="1"/>
              <p:nvPr/>
            </p:nvSpPr>
            <p:spPr>
              <a:xfrm>
                <a:off x="7211651" y="5986030"/>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5" name="TextBox 4">
                <a:extLst>
                  <a:ext uri="{FF2B5EF4-FFF2-40B4-BE49-F238E27FC236}">
                    <a16:creationId xmlns:a16="http://schemas.microsoft.com/office/drawing/2014/main" id="{CE465964-F8A8-59AB-79A5-39AE539F5AEB}"/>
                  </a:ext>
                </a:extLst>
              </p:cNvPr>
              <p:cNvSpPr txBox="1">
                <a:spLocks noRot="1" noChangeAspect="1" noMove="1" noResize="1" noEditPoints="1" noAdjustHandles="1" noChangeArrowheads="1" noChangeShapeType="1" noTextEdit="1"/>
              </p:cNvSpPr>
              <p:nvPr/>
            </p:nvSpPr>
            <p:spPr>
              <a:xfrm>
                <a:off x="7211651" y="5986030"/>
                <a:ext cx="456599" cy="369332"/>
              </a:xfrm>
              <a:prstGeom prst="rect">
                <a:avLst/>
              </a:prstGeom>
              <a:blipFill>
                <a:blip r:embed="rId4"/>
                <a:stretch>
                  <a:fillRect/>
                </a:stretch>
              </a:blipFill>
            </p:spPr>
            <p:txBody>
              <a:bodyPr/>
              <a:lstStyle/>
              <a:p>
                <a:r>
                  <a:rPr lang="en-IL">
                    <a:noFill/>
                  </a:rPr>
                  <a:t> </a:t>
                </a:r>
              </a:p>
            </p:txBody>
          </p:sp>
        </mc:Fallback>
      </mc:AlternateContent>
      <p:sp>
        <p:nvSpPr>
          <p:cNvPr id="12" name="Right Arrow 11">
            <a:extLst>
              <a:ext uri="{FF2B5EF4-FFF2-40B4-BE49-F238E27FC236}">
                <a16:creationId xmlns:a16="http://schemas.microsoft.com/office/drawing/2014/main" id="{A846A970-0386-984A-897F-00071630BF0D}"/>
              </a:ext>
            </a:extLst>
          </p:cNvPr>
          <p:cNvSpPr/>
          <p:nvPr/>
        </p:nvSpPr>
        <p:spPr>
          <a:xfrm>
            <a:off x="2881226" y="5015485"/>
            <a:ext cx="13289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L"/>
          </a:p>
        </p:txBody>
      </p:sp>
      <p:cxnSp>
        <p:nvCxnSpPr>
          <p:cNvPr id="14" name="Curved Connector 13">
            <a:extLst>
              <a:ext uri="{FF2B5EF4-FFF2-40B4-BE49-F238E27FC236}">
                <a16:creationId xmlns:a16="http://schemas.microsoft.com/office/drawing/2014/main" id="{B7BEC637-49EF-241A-5A4E-1E29FD18A87D}"/>
              </a:ext>
            </a:extLst>
          </p:cNvPr>
          <p:cNvCxnSpPr/>
          <p:nvPr/>
        </p:nvCxnSpPr>
        <p:spPr>
          <a:xfrm>
            <a:off x="5864352" y="5015485"/>
            <a:ext cx="646176" cy="2148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ACEC1B91-A4B8-67A8-C061-5F31E3687424}"/>
              </a:ext>
            </a:extLst>
          </p:cNvPr>
          <p:cNvCxnSpPr/>
          <p:nvPr/>
        </p:nvCxnSpPr>
        <p:spPr>
          <a:xfrm>
            <a:off x="8381566" y="5015484"/>
            <a:ext cx="646176" cy="2148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7CC1AFBB-5737-540E-EFC2-56FEAA97188A}"/>
              </a:ext>
            </a:extLst>
          </p:cNvPr>
          <p:cNvGraphicFramePr>
            <a:graphicFrameLocks noGrp="1"/>
          </p:cNvGraphicFramePr>
          <p:nvPr>
            <p:extLst>
              <p:ext uri="{D42A27DB-BD31-4B8C-83A1-F6EECF244321}">
                <p14:modId xmlns:p14="http://schemas.microsoft.com/office/powerpoint/2010/main" val="3469983321"/>
              </p:ext>
            </p:extLst>
          </p:nvPr>
        </p:nvGraphicFramePr>
        <p:xfrm>
          <a:off x="9362686" y="3580818"/>
          <a:ext cx="1458050" cy="2405212"/>
        </p:xfrm>
        <a:graphic>
          <a:graphicData uri="http://schemas.openxmlformats.org/drawingml/2006/table">
            <a:tbl>
              <a:tblPr firstRow="1" bandRow="1">
                <a:tableStyleId>{2D5ABB26-0587-4C30-8999-92F81FD0307C}</a:tableStyleId>
              </a:tblPr>
              <a:tblGrid>
                <a:gridCol w="1458050">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2954B0-298C-5447-BA18-3839E9CFDAA6}"/>
                  </a:ext>
                </a:extLst>
              </p:cNvPr>
              <p:cNvSpPr txBox="1"/>
              <p:nvPr/>
            </p:nvSpPr>
            <p:spPr>
              <a:xfrm>
                <a:off x="9863411" y="5975624"/>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7" name="TextBox 16">
                <a:extLst>
                  <a:ext uri="{FF2B5EF4-FFF2-40B4-BE49-F238E27FC236}">
                    <a16:creationId xmlns:a16="http://schemas.microsoft.com/office/drawing/2014/main" id="{7B2954B0-298C-5447-BA18-3839E9CFDAA6}"/>
                  </a:ext>
                </a:extLst>
              </p:cNvPr>
              <p:cNvSpPr txBox="1">
                <a:spLocks noRot="1" noChangeAspect="1" noMove="1" noResize="1" noEditPoints="1" noAdjustHandles="1" noChangeArrowheads="1" noChangeShapeType="1" noTextEdit="1"/>
              </p:cNvSpPr>
              <p:nvPr/>
            </p:nvSpPr>
            <p:spPr>
              <a:xfrm>
                <a:off x="9863411" y="5975624"/>
                <a:ext cx="456599" cy="369332"/>
              </a:xfrm>
              <a:prstGeom prst="rect">
                <a:avLst/>
              </a:prstGeom>
              <a:blipFill>
                <a:blip r:embed="rId5"/>
                <a:stretch>
                  <a:fillRect/>
                </a:stretch>
              </a:blipFill>
            </p:spPr>
            <p:txBody>
              <a:bodyPr/>
              <a:lstStyle/>
              <a:p>
                <a:r>
                  <a:rPr lang="en-IL">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925ECA8F-2B5E-444B-E64C-99F93C48D2DC}"/>
                  </a:ext>
                </a:extLst>
              </p14:cNvPr>
              <p14:cNvContentPartPr/>
              <p14:nvPr/>
            </p14:nvContentPartPr>
            <p14:xfrm>
              <a:off x="4797000" y="3366067"/>
              <a:ext cx="1023480" cy="2106000"/>
            </p14:xfrm>
          </p:contentPart>
        </mc:Choice>
        <mc:Fallback xmlns="">
          <p:pic>
            <p:nvPicPr>
              <p:cNvPr id="18" name="Ink 17">
                <a:extLst>
                  <a:ext uri="{FF2B5EF4-FFF2-40B4-BE49-F238E27FC236}">
                    <a16:creationId xmlns:a16="http://schemas.microsoft.com/office/drawing/2014/main" id="{925ECA8F-2B5E-444B-E64C-99F93C48D2DC}"/>
                  </a:ext>
                </a:extLst>
              </p:cNvPr>
              <p:cNvPicPr/>
              <p:nvPr/>
            </p:nvPicPr>
            <p:blipFill>
              <a:blip r:embed="rId7"/>
              <a:stretch>
                <a:fillRect/>
              </a:stretch>
            </p:blipFill>
            <p:spPr>
              <a:xfrm>
                <a:off x="4788360" y="3357427"/>
                <a:ext cx="1041120" cy="2123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1FFC0220-2CF3-B103-A4A4-81710504C958}"/>
                  </a:ext>
                </a:extLst>
              </p14:cNvPr>
              <p14:cNvContentPartPr/>
              <p14:nvPr/>
            </p14:nvContentPartPr>
            <p14:xfrm>
              <a:off x="7250760" y="3484867"/>
              <a:ext cx="1031040" cy="2436480"/>
            </p14:xfrm>
          </p:contentPart>
        </mc:Choice>
        <mc:Fallback xmlns="">
          <p:pic>
            <p:nvPicPr>
              <p:cNvPr id="19" name="Ink 18">
                <a:extLst>
                  <a:ext uri="{FF2B5EF4-FFF2-40B4-BE49-F238E27FC236}">
                    <a16:creationId xmlns:a16="http://schemas.microsoft.com/office/drawing/2014/main" id="{1FFC0220-2CF3-B103-A4A4-81710504C958}"/>
                  </a:ext>
                </a:extLst>
              </p:cNvPr>
              <p:cNvPicPr/>
              <p:nvPr/>
            </p:nvPicPr>
            <p:blipFill>
              <a:blip r:embed="rId9"/>
              <a:stretch>
                <a:fillRect/>
              </a:stretch>
            </p:blipFill>
            <p:spPr>
              <a:xfrm>
                <a:off x="7242120" y="3476227"/>
                <a:ext cx="1048680" cy="2454120"/>
              </a:xfrm>
              <a:prstGeom prst="rect">
                <a:avLst/>
              </a:prstGeom>
            </p:spPr>
          </p:pic>
        </mc:Fallback>
      </mc:AlternateContent>
      <p:sp>
        <p:nvSpPr>
          <p:cNvPr id="20" name="TextBox 19">
            <a:extLst>
              <a:ext uri="{FF2B5EF4-FFF2-40B4-BE49-F238E27FC236}">
                <a16:creationId xmlns:a16="http://schemas.microsoft.com/office/drawing/2014/main" id="{7881EB90-01F2-69C1-6D6C-7CC7E92CCE72}"/>
              </a:ext>
            </a:extLst>
          </p:cNvPr>
          <p:cNvSpPr txBox="1"/>
          <p:nvPr/>
        </p:nvSpPr>
        <p:spPr>
          <a:xfrm>
            <a:off x="5688130" y="2993629"/>
            <a:ext cx="683392" cy="369332"/>
          </a:xfrm>
          <a:prstGeom prst="rect">
            <a:avLst/>
          </a:prstGeom>
          <a:noFill/>
        </p:spPr>
        <p:txBody>
          <a:bodyPr wrap="none" rtlCol="0">
            <a:spAutoFit/>
          </a:bodyPr>
          <a:lstStyle/>
          <a:p>
            <a:r>
              <a:rPr lang="en-US" dirty="0"/>
              <a:t>P</a:t>
            </a:r>
            <a:r>
              <a:rPr lang="en-IL" dirty="0"/>
              <a:t>op()</a:t>
            </a:r>
          </a:p>
        </p:txBody>
      </p:sp>
      <p:sp>
        <p:nvSpPr>
          <p:cNvPr id="21" name="TextBox 20">
            <a:extLst>
              <a:ext uri="{FF2B5EF4-FFF2-40B4-BE49-F238E27FC236}">
                <a16:creationId xmlns:a16="http://schemas.microsoft.com/office/drawing/2014/main" id="{14DCF58D-4E3B-ADEB-E98A-33D759CA7864}"/>
              </a:ext>
            </a:extLst>
          </p:cNvPr>
          <p:cNvSpPr txBox="1"/>
          <p:nvPr/>
        </p:nvSpPr>
        <p:spPr>
          <a:xfrm>
            <a:off x="8002380" y="3029856"/>
            <a:ext cx="683392" cy="369332"/>
          </a:xfrm>
          <a:prstGeom prst="rect">
            <a:avLst/>
          </a:prstGeom>
          <a:noFill/>
        </p:spPr>
        <p:txBody>
          <a:bodyPr wrap="none" rtlCol="0">
            <a:spAutoFit/>
          </a:bodyPr>
          <a:lstStyle/>
          <a:p>
            <a:r>
              <a:rPr lang="en-US" dirty="0"/>
              <a:t>P</a:t>
            </a:r>
            <a:r>
              <a:rPr lang="en-IL" dirty="0"/>
              <a:t>op()</a:t>
            </a:r>
          </a:p>
        </p:txBody>
      </p:sp>
    </p:spTree>
    <p:extLst>
      <p:ext uri="{BB962C8B-B14F-4D97-AF65-F5344CB8AC3E}">
        <p14:creationId xmlns:p14="http://schemas.microsoft.com/office/powerpoint/2010/main" val="188265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lvl="1"/>
            <a:r>
              <a:rPr lang="en-US" sz="2400" dirty="0"/>
              <a:t>Dequeue()</a:t>
            </a:r>
          </a:p>
          <a:p>
            <a:pPr marL="201168" lvl="1" indent="0">
              <a:buNone/>
            </a:pPr>
            <a:r>
              <a:rPr lang="en-US" sz="2000" dirty="0"/>
              <a:t>After performing the above dequeue operation, the queue would look like this:</a:t>
            </a:r>
          </a:p>
        </p:txBody>
      </p:sp>
      <p:graphicFrame>
        <p:nvGraphicFramePr>
          <p:cNvPr id="8" name="Table 8">
            <a:extLst>
              <a:ext uri="{FF2B5EF4-FFF2-40B4-BE49-F238E27FC236}">
                <a16:creationId xmlns:a16="http://schemas.microsoft.com/office/drawing/2014/main" id="{0B6A793F-4539-7C8C-9F92-FBEF35B76775}"/>
              </a:ext>
            </a:extLst>
          </p:cNvPr>
          <p:cNvGraphicFramePr>
            <a:graphicFrameLocks noGrp="1"/>
          </p:cNvGraphicFramePr>
          <p:nvPr/>
        </p:nvGraphicFramePr>
        <p:xfrm>
          <a:off x="1188607" y="3572256"/>
          <a:ext cx="1686351" cy="2405212"/>
        </p:xfrm>
        <a:graphic>
          <a:graphicData uri="http://schemas.openxmlformats.org/drawingml/2006/table">
            <a:tbl>
              <a:tblPr firstRow="1" bandRow="1">
                <a:tableStyleId>{2D5ABB26-0587-4C30-8999-92F81FD0307C}</a:tableStyleId>
              </a:tblPr>
              <a:tblGrid>
                <a:gridCol w="1686351">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p:graphicFrame>
        <p:nvGraphicFramePr>
          <p:cNvPr id="9" name="Table 8">
            <a:extLst>
              <a:ext uri="{FF2B5EF4-FFF2-40B4-BE49-F238E27FC236}">
                <a16:creationId xmlns:a16="http://schemas.microsoft.com/office/drawing/2014/main" id="{96F85FA3-5B3B-BB23-DAAD-42C332322432}"/>
              </a:ext>
            </a:extLst>
          </p:cNvPr>
          <p:cNvGraphicFramePr>
            <a:graphicFrameLocks noGrp="1"/>
          </p:cNvGraphicFramePr>
          <p:nvPr>
            <p:extLst>
              <p:ext uri="{D42A27DB-BD31-4B8C-83A1-F6EECF244321}">
                <p14:modId xmlns:p14="http://schemas.microsoft.com/office/powerpoint/2010/main" val="2443006903"/>
              </p:ext>
            </p:extLst>
          </p:nvPr>
        </p:nvGraphicFramePr>
        <p:xfrm>
          <a:off x="4710623" y="3601814"/>
          <a:ext cx="1686352" cy="2405212"/>
        </p:xfrm>
        <a:graphic>
          <a:graphicData uri="http://schemas.openxmlformats.org/drawingml/2006/table">
            <a:tbl>
              <a:tblPr firstRow="1" bandRow="1">
                <a:tableStyleId>{2D5ABB26-0587-4C30-8999-92F81FD0307C}</a:tableStyleId>
              </a:tblPr>
              <a:tblGrid>
                <a:gridCol w="1686352">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r>
                        <a:rPr lang="en-IL"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4AA282-DF97-9CB0-A502-6A2B9A5B1310}"/>
                  </a:ext>
                </a:extLst>
              </p:cNvPr>
              <p:cNvSpPr txBox="1"/>
              <p:nvPr/>
            </p:nvSpPr>
            <p:spPr>
              <a:xfrm>
                <a:off x="1806143" y="5977468"/>
                <a:ext cx="451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m:oMathPara>
                </a14:m>
                <a:endParaRPr lang="en-IL" dirty="0"/>
              </a:p>
            </p:txBody>
          </p:sp>
        </mc:Choice>
        <mc:Fallback xmlns="">
          <p:sp>
            <p:nvSpPr>
              <p:cNvPr id="10" name="TextBox 9">
                <a:extLst>
                  <a:ext uri="{FF2B5EF4-FFF2-40B4-BE49-F238E27FC236}">
                    <a16:creationId xmlns:a16="http://schemas.microsoft.com/office/drawing/2014/main" id="{9C4AA282-DF97-9CB0-A502-6A2B9A5B1310}"/>
                  </a:ext>
                </a:extLst>
              </p:cNvPr>
              <p:cNvSpPr txBox="1">
                <a:spLocks noRot="1" noChangeAspect="1" noMove="1" noResize="1" noEditPoints="1" noAdjustHandles="1" noChangeArrowheads="1" noChangeShapeType="1" noTextEdit="1"/>
              </p:cNvSpPr>
              <p:nvPr/>
            </p:nvSpPr>
            <p:spPr>
              <a:xfrm>
                <a:off x="1806143" y="5977468"/>
                <a:ext cx="451277"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6C7F1F-B162-792A-1F3A-802475461278}"/>
                  </a:ext>
                </a:extLst>
              </p:cNvPr>
              <p:cNvSpPr txBox="1"/>
              <p:nvPr/>
            </p:nvSpPr>
            <p:spPr>
              <a:xfrm>
                <a:off x="5325499" y="6007026"/>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11" name="TextBox 10">
                <a:extLst>
                  <a:ext uri="{FF2B5EF4-FFF2-40B4-BE49-F238E27FC236}">
                    <a16:creationId xmlns:a16="http://schemas.microsoft.com/office/drawing/2014/main" id="{046C7F1F-B162-792A-1F3A-802475461278}"/>
                  </a:ext>
                </a:extLst>
              </p:cNvPr>
              <p:cNvSpPr txBox="1">
                <a:spLocks noRot="1" noChangeAspect="1" noMove="1" noResize="1" noEditPoints="1" noAdjustHandles="1" noChangeArrowheads="1" noChangeShapeType="1" noTextEdit="1"/>
              </p:cNvSpPr>
              <p:nvPr/>
            </p:nvSpPr>
            <p:spPr>
              <a:xfrm>
                <a:off x="5325499" y="6007026"/>
                <a:ext cx="456599" cy="369332"/>
              </a:xfrm>
              <a:prstGeom prst="rect">
                <a:avLst/>
              </a:prstGeom>
              <a:blipFill>
                <a:blip r:embed="rId3"/>
                <a:stretch>
                  <a:fillRect/>
                </a:stretch>
              </a:blipFill>
            </p:spPr>
            <p:txBody>
              <a:bodyPr/>
              <a:lstStyle/>
              <a:p>
                <a:r>
                  <a:rPr lang="en-IL">
                    <a:noFill/>
                  </a:rPr>
                  <a:t> </a:t>
                </a:r>
              </a:p>
            </p:txBody>
          </p:sp>
        </mc:Fallback>
      </mc:AlternateContent>
      <p:sp>
        <p:nvSpPr>
          <p:cNvPr id="4" name="Right Arrow 3">
            <a:extLst>
              <a:ext uri="{FF2B5EF4-FFF2-40B4-BE49-F238E27FC236}">
                <a16:creationId xmlns:a16="http://schemas.microsoft.com/office/drawing/2014/main" id="{A846A970-0386-984A-897F-00071630BF0D}"/>
              </a:ext>
            </a:extLst>
          </p:cNvPr>
          <p:cNvSpPr/>
          <p:nvPr/>
        </p:nvSpPr>
        <p:spPr>
          <a:xfrm>
            <a:off x="3133344" y="5010912"/>
            <a:ext cx="132892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aphicFrame>
        <p:nvGraphicFramePr>
          <p:cNvPr id="6" name="Table 5">
            <a:extLst>
              <a:ext uri="{FF2B5EF4-FFF2-40B4-BE49-F238E27FC236}">
                <a16:creationId xmlns:a16="http://schemas.microsoft.com/office/drawing/2014/main" id="{769A046A-BA08-2744-CF50-4BFB26B16495}"/>
              </a:ext>
            </a:extLst>
          </p:cNvPr>
          <p:cNvGraphicFramePr>
            <a:graphicFrameLocks noGrp="1"/>
          </p:cNvGraphicFramePr>
          <p:nvPr>
            <p:extLst>
              <p:ext uri="{D42A27DB-BD31-4B8C-83A1-F6EECF244321}">
                <p14:modId xmlns:p14="http://schemas.microsoft.com/office/powerpoint/2010/main" val="1890413238"/>
              </p:ext>
            </p:extLst>
          </p:nvPr>
        </p:nvGraphicFramePr>
        <p:xfrm>
          <a:off x="8269902" y="3601814"/>
          <a:ext cx="1686352" cy="2405212"/>
        </p:xfrm>
        <a:graphic>
          <a:graphicData uri="http://schemas.openxmlformats.org/drawingml/2006/table">
            <a:tbl>
              <a:tblPr firstRow="1" bandRow="1">
                <a:tableStyleId>{2D5ABB26-0587-4C30-8999-92F81FD0307C}</a:tableStyleId>
              </a:tblPr>
              <a:tblGrid>
                <a:gridCol w="1686352">
                  <a:extLst>
                    <a:ext uri="{9D8B030D-6E8A-4147-A177-3AD203B41FA5}">
                      <a16:colId xmlns:a16="http://schemas.microsoft.com/office/drawing/2014/main" val="3728555626"/>
                    </a:ext>
                  </a:extLst>
                </a:gridCol>
              </a:tblGrid>
              <a:tr h="475756">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830353"/>
                  </a:ext>
                </a:extLst>
              </a:tr>
              <a:tr h="482364">
                <a:tc>
                  <a:txBody>
                    <a:bodyPr/>
                    <a:lstStyle/>
                    <a:p>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9916"/>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494954"/>
                  </a:ext>
                </a:extLst>
              </a:tr>
              <a:tr h="482364">
                <a:tc>
                  <a:txBody>
                    <a:bodyPr/>
                    <a:lstStyle/>
                    <a:p>
                      <a:pPr algn="ct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740506"/>
                  </a:ext>
                </a:extLst>
              </a:tr>
              <a:tr h="482364">
                <a:tc>
                  <a:txBody>
                    <a:bodyPr/>
                    <a:lstStyle/>
                    <a:p>
                      <a:pPr algn="ctr"/>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980213"/>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99A53F-F4C4-7084-6092-74B26C29A33E}"/>
                  </a:ext>
                </a:extLst>
              </p:cNvPr>
              <p:cNvSpPr txBox="1"/>
              <p:nvPr/>
            </p:nvSpPr>
            <p:spPr>
              <a:xfrm>
                <a:off x="8884778" y="6007026"/>
                <a:ext cx="4565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m:oMathPara>
                </a14:m>
                <a:endParaRPr lang="en-IL" dirty="0"/>
              </a:p>
            </p:txBody>
          </p:sp>
        </mc:Choice>
        <mc:Fallback xmlns="">
          <p:sp>
            <p:nvSpPr>
              <p:cNvPr id="7" name="TextBox 6">
                <a:extLst>
                  <a:ext uri="{FF2B5EF4-FFF2-40B4-BE49-F238E27FC236}">
                    <a16:creationId xmlns:a16="http://schemas.microsoft.com/office/drawing/2014/main" id="{B099A53F-F4C4-7084-6092-74B26C29A33E}"/>
                  </a:ext>
                </a:extLst>
              </p:cNvPr>
              <p:cNvSpPr txBox="1">
                <a:spLocks noRot="1" noChangeAspect="1" noMove="1" noResize="1" noEditPoints="1" noAdjustHandles="1" noChangeArrowheads="1" noChangeShapeType="1" noTextEdit="1"/>
              </p:cNvSpPr>
              <p:nvPr/>
            </p:nvSpPr>
            <p:spPr>
              <a:xfrm>
                <a:off x="8884778" y="6007026"/>
                <a:ext cx="456599" cy="369332"/>
              </a:xfrm>
              <a:prstGeom prst="rect">
                <a:avLst/>
              </a:prstGeom>
              <a:blipFill>
                <a:blip r:embed="rId4"/>
                <a:stretch>
                  <a:fillRect/>
                </a:stretch>
              </a:blipFill>
            </p:spPr>
            <p:txBody>
              <a:bodyPr/>
              <a:lstStyle/>
              <a:p>
                <a:r>
                  <a:rPr lang="en-IL">
                    <a:noFill/>
                  </a:rPr>
                  <a:t> </a:t>
                </a:r>
              </a:p>
            </p:txBody>
          </p:sp>
        </mc:Fallback>
      </mc:AlternateContent>
      <p:cxnSp>
        <p:nvCxnSpPr>
          <p:cNvPr id="13" name="Curved Connector 12">
            <a:extLst>
              <a:ext uri="{FF2B5EF4-FFF2-40B4-BE49-F238E27FC236}">
                <a16:creationId xmlns:a16="http://schemas.microsoft.com/office/drawing/2014/main" id="{EF3045ED-A124-90CD-6009-AFC9D11EF3D2}"/>
              </a:ext>
            </a:extLst>
          </p:cNvPr>
          <p:cNvCxnSpPr>
            <a:cxnSpLocks/>
          </p:cNvCxnSpPr>
          <p:nvPr/>
        </p:nvCxnSpPr>
        <p:spPr>
          <a:xfrm>
            <a:off x="6755624" y="4804420"/>
            <a:ext cx="1315480" cy="42594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F2A3DF8B-C359-55E3-1A9E-311A5B9BDDA0}"/>
                  </a:ext>
                </a:extLst>
              </p14:cNvPr>
              <p14:cNvContentPartPr/>
              <p14:nvPr/>
            </p14:nvContentPartPr>
            <p14:xfrm>
              <a:off x="5371200" y="2974387"/>
              <a:ext cx="668520" cy="2491560"/>
            </p14:xfrm>
          </p:contentPart>
        </mc:Choice>
        <mc:Fallback xmlns="">
          <p:pic>
            <p:nvPicPr>
              <p:cNvPr id="12" name="Ink 11">
                <a:extLst>
                  <a:ext uri="{FF2B5EF4-FFF2-40B4-BE49-F238E27FC236}">
                    <a16:creationId xmlns:a16="http://schemas.microsoft.com/office/drawing/2014/main" id="{F2A3DF8B-C359-55E3-1A9E-311A5B9BDDA0}"/>
                  </a:ext>
                </a:extLst>
              </p:cNvPr>
              <p:cNvPicPr/>
              <p:nvPr/>
            </p:nvPicPr>
            <p:blipFill>
              <a:blip r:embed="rId6"/>
              <a:stretch>
                <a:fillRect/>
              </a:stretch>
            </p:blipFill>
            <p:spPr>
              <a:xfrm>
                <a:off x="5362560" y="2965747"/>
                <a:ext cx="686160" cy="2509200"/>
              </a:xfrm>
              <a:prstGeom prst="rect">
                <a:avLst/>
              </a:prstGeom>
            </p:spPr>
          </p:pic>
        </mc:Fallback>
      </mc:AlternateContent>
      <p:sp>
        <p:nvSpPr>
          <p:cNvPr id="14" name="TextBox 13">
            <a:extLst>
              <a:ext uri="{FF2B5EF4-FFF2-40B4-BE49-F238E27FC236}">
                <a16:creationId xmlns:a16="http://schemas.microsoft.com/office/drawing/2014/main" id="{E3450213-2AA1-AD66-F022-08FA154523EA}"/>
              </a:ext>
            </a:extLst>
          </p:cNvPr>
          <p:cNvSpPr txBox="1"/>
          <p:nvPr/>
        </p:nvSpPr>
        <p:spPr>
          <a:xfrm>
            <a:off x="5810586" y="2605055"/>
            <a:ext cx="683392" cy="369332"/>
          </a:xfrm>
          <a:prstGeom prst="rect">
            <a:avLst/>
          </a:prstGeom>
          <a:noFill/>
        </p:spPr>
        <p:txBody>
          <a:bodyPr wrap="none" rtlCol="0">
            <a:spAutoFit/>
          </a:bodyPr>
          <a:lstStyle/>
          <a:p>
            <a:r>
              <a:rPr lang="en-US" dirty="0"/>
              <a:t>P</a:t>
            </a:r>
            <a:r>
              <a:rPr lang="en-IL" dirty="0"/>
              <a:t>op()</a:t>
            </a:r>
          </a:p>
        </p:txBody>
      </p:sp>
    </p:spTree>
    <p:extLst>
      <p:ext uri="{BB962C8B-B14F-4D97-AF65-F5344CB8AC3E}">
        <p14:creationId xmlns:p14="http://schemas.microsoft.com/office/powerpoint/2010/main" val="423089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3 -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en-US" sz="2400" b="1" dirty="0">
                    <a:solidFill>
                      <a:srgbClr val="C00000"/>
                    </a:solidFill>
                  </a:rPr>
                  <a:t>enqueue</a:t>
                </a:r>
                <a:r>
                  <a:rPr lang="en-US" sz="2400" dirty="0">
                    <a:solidFill>
                      <a:srgbClr val="C00000"/>
                    </a:solidFill>
                  </a:rPr>
                  <a:t>(x):</a:t>
                </a:r>
              </a:p>
              <a:p>
                <a:pPr lvl="2"/>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.push(x)</a:t>
                </a:r>
              </a:p>
              <a:p>
                <a:pPr lvl="2"/>
                <a:endParaRPr lang="en-US" sz="2400" dirty="0"/>
              </a:p>
              <a:p>
                <a:pPr lvl="2"/>
                <a:endParaRPr lang="en-US" sz="2400" dirty="0"/>
              </a:p>
              <a:p>
                <a:pPr lvl="1"/>
                <a:r>
                  <a:rPr lang="en-US" sz="2400" b="1" dirty="0" err="1">
                    <a:solidFill>
                      <a:srgbClr val="C00000"/>
                    </a:solidFill>
                  </a:rPr>
                  <a:t>dequeue</a:t>
                </a:r>
                <a:r>
                  <a:rPr lang="en-US" sz="2400" dirty="0">
                    <a:solidFill>
                      <a:srgbClr val="C00000"/>
                    </a:solidFill>
                  </a:rPr>
                  <a:t>():</a:t>
                </a:r>
              </a:p>
              <a:p>
                <a:pPr lvl="2"/>
                <a:r>
                  <a:rPr lang="en-US" sz="2400" dirty="0"/>
                  <a:t>if</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oMath>
                </a14:m>
                <a:r>
                  <a:rPr lang="en-US" sz="2400" dirty="0"/>
                  <a:t>.</a:t>
                </a:r>
                <a:r>
                  <a:rPr lang="en-US" sz="2400" dirty="0" err="1"/>
                  <a:t>isEmpty</a:t>
                </a:r>
                <a:r>
                  <a:rPr lang="en-US" sz="2400" dirty="0"/>
                  <a:t>()):</a:t>
                </a:r>
              </a:p>
              <a:p>
                <a:pPr lvl="3"/>
                <a:r>
                  <a:rPr lang="en-US" sz="2400" dirty="0"/>
                  <a:t>while(</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m:t>
                        </m:r>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a:t>
                </a:r>
                <a:r>
                  <a:rPr lang="en-US" sz="2400" dirty="0" err="1"/>
                  <a:t>isEmpty</a:t>
                </a:r>
                <a:r>
                  <a:rPr lang="en-US" sz="2400" dirty="0"/>
                  <a:t>()):</a:t>
                </a:r>
              </a:p>
              <a:p>
                <a:pPr lvl="4"/>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oMath>
                </a14:m>
                <a:r>
                  <a:rPr lang="en-US" sz="2400" dirty="0"/>
                  <a:t>.push(</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1</m:t>
                        </m:r>
                      </m:sub>
                    </m:sSub>
                  </m:oMath>
                </a14:m>
                <a:r>
                  <a:rPr lang="en-US" sz="2400" dirty="0"/>
                  <a:t>.pop())</a:t>
                </a:r>
              </a:p>
              <a:p>
                <a:pPr lvl="2"/>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2</m:t>
                        </m:r>
                      </m:sub>
                    </m:sSub>
                  </m:oMath>
                </a14:m>
                <a:r>
                  <a:rPr lang="en-US" sz="2400" dirty="0"/>
                  <a:t>.pop()</a:t>
                </a:r>
              </a:p>
              <a:p>
                <a:pPr marL="201168" lvl="1" indent="0">
                  <a:buNone/>
                </a:pPr>
                <a:endParaRPr lang="en-US" sz="2400" dirty="0"/>
              </a:p>
              <a:p>
                <a:pPr marL="201168" lvl="1"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73"/>
                </a:stretch>
              </a:blipFill>
            </p:spPr>
            <p:txBody>
              <a:bodyPr/>
              <a:lstStyle/>
              <a:p>
                <a:r>
                  <a:rPr lang="en-US">
                    <a:noFill/>
                  </a:rPr>
                  <a:t> </a:t>
                </a:r>
              </a:p>
            </p:txBody>
          </p:sp>
        </mc:Fallback>
      </mc:AlternateContent>
      <p:sp>
        <p:nvSpPr>
          <p:cNvPr id="4" name="TextBox 3"/>
          <p:cNvSpPr txBox="1"/>
          <p:nvPr/>
        </p:nvSpPr>
        <p:spPr>
          <a:xfrm>
            <a:off x="5830529" y="2113935"/>
            <a:ext cx="5535561" cy="3416320"/>
          </a:xfrm>
          <a:prstGeom prst="rect">
            <a:avLst/>
          </a:prstGeom>
          <a:noFill/>
        </p:spPr>
        <p:txBody>
          <a:bodyPr wrap="square" rtlCol="1">
            <a:spAutoFit/>
          </a:bodyPr>
          <a:lstStyle/>
          <a:p>
            <a:r>
              <a:rPr lang="en-US" sz="2400" dirty="0">
                <a:solidFill>
                  <a:srgbClr val="C00000"/>
                </a:solidFill>
              </a:rPr>
              <a:t>Time complexity:</a:t>
            </a:r>
          </a:p>
          <a:p>
            <a:r>
              <a:rPr lang="en-US" sz="2400" u="sng" dirty="0"/>
              <a:t>Enqueue</a:t>
            </a:r>
            <a:r>
              <a:rPr lang="en-US" sz="2400" dirty="0"/>
              <a:t>: </a:t>
            </a:r>
          </a:p>
          <a:p>
            <a:r>
              <a:rPr lang="en-US" sz="2400" dirty="0"/>
              <a:t>	O(1)</a:t>
            </a:r>
          </a:p>
          <a:p>
            <a:r>
              <a:rPr lang="en-US" sz="2400" u="sng" dirty="0"/>
              <a:t>Dequeue</a:t>
            </a:r>
            <a:r>
              <a:rPr lang="en-US" sz="2400" dirty="0"/>
              <a:t>: </a:t>
            </a:r>
          </a:p>
          <a:p>
            <a:r>
              <a:rPr lang="en-US" sz="2400" dirty="0"/>
              <a:t>The while loop may have many iterations, however, every element is moved from S</a:t>
            </a:r>
            <a:r>
              <a:rPr lang="en-US" sz="2400" baseline="-25000" dirty="0"/>
              <a:t>1</a:t>
            </a:r>
            <a:r>
              <a:rPr lang="en-US" sz="2400" dirty="0"/>
              <a:t> to S</a:t>
            </a:r>
            <a:r>
              <a:rPr lang="en-US" sz="2400" baseline="-25000" dirty="0"/>
              <a:t>2</a:t>
            </a:r>
            <a:r>
              <a:rPr lang="en-US" sz="2400" dirty="0"/>
              <a:t> at most once during the whole operation of the data structure, therefore, the amortized cost of dequeue is O(1).</a:t>
            </a:r>
            <a:endParaRPr lang="he-IL" sz="2400" dirty="0"/>
          </a:p>
        </p:txBody>
      </p:sp>
    </p:spTree>
    <p:extLst>
      <p:ext uri="{BB962C8B-B14F-4D97-AF65-F5344CB8AC3E}">
        <p14:creationId xmlns:p14="http://schemas.microsoft.com/office/powerpoint/2010/main" val="140332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13389</TotalTime>
  <Words>6898</Words>
  <Application>Microsoft Office PowerPoint</Application>
  <PresentationFormat>Widescreen</PresentationFormat>
  <Paragraphs>1726</Paragraphs>
  <Slides>87</Slides>
  <Notes>33</Notes>
  <HiddenSlides>15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87</vt:i4>
      </vt:variant>
    </vt:vector>
  </HeadingPairs>
  <TitlesOfParts>
    <vt:vector size="96" baseType="lpstr">
      <vt:lpstr>Arial</vt:lpstr>
      <vt:lpstr>Calibri</vt:lpstr>
      <vt:lpstr>Calibri Light</vt:lpstr>
      <vt:lpstr>Cambria Math</vt:lpstr>
      <vt:lpstr>Courier New</vt:lpstr>
      <vt:lpstr>Symbol</vt:lpstr>
      <vt:lpstr>-webkit-standard</vt:lpstr>
      <vt:lpstr>Wingdings</vt:lpstr>
      <vt:lpstr>Retrospect</vt:lpstr>
      <vt:lpstr>Data structures </vt:lpstr>
      <vt:lpstr>Amortized analysis</vt:lpstr>
      <vt:lpstr>Binary Representation of Integers</vt:lpstr>
      <vt:lpstr>Binary counter</vt:lpstr>
      <vt:lpstr>Binary counter – amortized analysis</vt:lpstr>
      <vt:lpstr>Priority Queue (ADT)</vt:lpstr>
      <vt:lpstr>Binary Tree</vt:lpstr>
      <vt:lpstr>Definitions - Reminder</vt:lpstr>
      <vt:lpstr>Binary Heap</vt:lpstr>
      <vt:lpstr>Binary Heap</vt:lpstr>
      <vt:lpstr>Question 1</vt:lpstr>
      <vt:lpstr>Question 1 – Solution</vt:lpstr>
      <vt:lpstr>Question 1 – Solution (Full expansion of even l)</vt:lpstr>
      <vt:lpstr>Question 1 – Solution II</vt:lpstr>
      <vt:lpstr>Question 1 – Solution II</vt:lpstr>
      <vt:lpstr>Question 1 – Solution II</vt:lpstr>
      <vt:lpstr>Heap – Array Implementation </vt:lpstr>
      <vt:lpstr>Max heap implementation</vt:lpstr>
      <vt:lpstr>Percolate up and down</vt:lpstr>
      <vt:lpstr>Percolate down</vt:lpstr>
      <vt:lpstr>Common operations (max heap)</vt:lpstr>
      <vt:lpstr>Add an Element - Example</vt:lpstr>
      <vt:lpstr>Add an Element - Example</vt:lpstr>
      <vt:lpstr>Add an Element - Example</vt:lpstr>
      <vt:lpstr>Add an Element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Extract Maximum - Example</vt:lpstr>
      <vt:lpstr>Common operations</vt:lpstr>
      <vt:lpstr>BuildHeap - Example</vt:lpstr>
      <vt:lpstr>BuildHeap - Example</vt:lpstr>
      <vt:lpstr>BuildHeap - Example</vt:lpstr>
      <vt:lpstr>BuildHeap - Example</vt:lpstr>
      <vt:lpstr>BuildHeap - Example</vt:lpstr>
      <vt:lpstr>BuildHeap - Example</vt:lpstr>
      <vt:lpstr>Question 2.1</vt:lpstr>
      <vt:lpstr>Question 2.1</vt:lpstr>
      <vt:lpstr>Question 2.2</vt:lpstr>
      <vt:lpstr>Question 2.2</vt:lpstr>
      <vt:lpstr>Question 2.3</vt:lpstr>
      <vt:lpstr>Question 2.3</vt:lpstr>
      <vt:lpstr>Question 2.3</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Solution 2</vt:lpstr>
      <vt:lpstr>Question 2.3  – Answer 2 Implementation </vt:lpstr>
      <vt:lpstr>Question 2.3 – Time Complexity Analysis</vt:lpstr>
      <vt:lpstr>Question 2.3 – Improvement of the solution</vt:lpstr>
      <vt:lpstr>Question 2.3 - Improvement of the solution </vt:lpstr>
      <vt:lpstr>Queue (ADT) - Reminder</vt:lpstr>
      <vt:lpstr>Stack (ADT) - Reminder</vt:lpstr>
      <vt:lpstr>Question 3- If time permits</vt:lpstr>
      <vt:lpstr>Question 3 - Solution</vt:lpstr>
      <vt:lpstr>Example</vt:lpstr>
      <vt:lpstr>Example</vt:lpstr>
      <vt:lpstr>Example</vt:lpstr>
      <vt:lpstr>Example</vt:lpstr>
      <vt:lpstr>Example</vt:lpstr>
      <vt:lpstr>Question 3 -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אדם יערי</dc:creator>
  <cp:lastModifiedBy>Itamar Dikstein</cp:lastModifiedBy>
  <cp:revision>276</cp:revision>
  <dcterms:created xsi:type="dcterms:W3CDTF">2017-03-12T14:05:05Z</dcterms:created>
  <dcterms:modified xsi:type="dcterms:W3CDTF">2026-03-23T17:39:30Z</dcterms:modified>
</cp:coreProperties>
</file>